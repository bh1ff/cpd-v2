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84848"/>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63898" y="6784848"/>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7796" y="6784848"/>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logo.png"/>
          <p:cNvPicPr>
            <a:picLocks noChangeAspect="1"/>
          </p:cNvPicPr>
          <p:nvPr/>
        </p:nvPicPr>
        <p:blipFill>
          <a:blip r:embed="rId2"/>
          <a:stretch>
            <a:fillRect/>
          </a:stretch>
        </p:blipFill>
        <p:spPr>
          <a:xfrm>
            <a:off x="457200" y="365760"/>
            <a:ext cx="1967643" cy="457200"/>
          </a:xfrm>
          <a:prstGeom prst="rect">
            <a:avLst/>
          </a:prstGeom>
        </p:spPr>
      </p:pic>
      <p:sp>
        <p:nvSpPr>
          <p:cNvPr id="9" name="TextBox 8"/>
          <p:cNvSpPr txBox="1"/>
          <p:nvPr/>
        </p:nvSpPr>
        <p:spPr>
          <a:xfrm>
            <a:off x="731520" y="1463040"/>
            <a:ext cx="10058400" cy="457200"/>
          </a:xfrm>
          <a:prstGeom prst="rect">
            <a:avLst/>
          </a:prstGeom>
          <a:noFill/>
        </p:spPr>
        <p:txBody>
          <a:bodyPr wrap="square" lIns="0" rIns="0">
            <a:spAutoFit/>
          </a:bodyPr>
          <a:lstStyle/>
          <a:p>
            <a:pPr algn="l">
              <a:defRPr sz="1400" b="1">
                <a:solidFill>
                  <a:srgbClr val="00D4DB"/>
                </a:solidFill>
                <a:latin typeface="Calibri"/>
              </a:defRPr>
            </a:pPr>
            <a:r>
              <a:t>Session 5 of 6  ·  Digital Youth Work CPD</a:t>
            </a:r>
          </a:p>
        </p:txBody>
      </p:sp>
      <p:sp>
        <p:nvSpPr>
          <p:cNvPr id="10" name="TextBox 9"/>
          <p:cNvSpPr txBox="1"/>
          <p:nvPr/>
        </p:nvSpPr>
        <p:spPr>
          <a:xfrm>
            <a:off x="731520" y="2103120"/>
            <a:ext cx="10515600" cy="2286000"/>
          </a:xfrm>
          <a:prstGeom prst="rect">
            <a:avLst/>
          </a:prstGeom>
          <a:noFill/>
        </p:spPr>
        <p:txBody>
          <a:bodyPr wrap="square" lIns="0" rIns="0">
            <a:spAutoFit/>
          </a:bodyPr>
          <a:lstStyle/>
          <a:p>
            <a:pPr algn="l">
              <a:defRPr sz="5200" b="1">
                <a:solidFill>
                  <a:srgbClr val="FFFFFF"/>
                </a:solidFill>
                <a:latin typeface="Calibri"/>
              </a:defRPr>
            </a:pPr>
            <a:r>
              <a:t>Where Are Young People Online?</a:t>
            </a:r>
          </a:p>
        </p:txBody>
      </p:sp>
      <p:sp>
        <p:nvSpPr>
          <p:cNvPr id="11" name="TextBox 10"/>
          <p:cNvSpPr txBox="1"/>
          <p:nvPr/>
        </p:nvSpPr>
        <p:spPr>
          <a:xfrm>
            <a:off x="731520" y="4389120"/>
            <a:ext cx="10058400" cy="1371600"/>
          </a:xfrm>
          <a:prstGeom prst="rect">
            <a:avLst/>
          </a:prstGeom>
          <a:noFill/>
        </p:spPr>
        <p:txBody>
          <a:bodyPr wrap="square" lIns="0" rIns="0">
            <a:spAutoFit/>
          </a:bodyPr>
          <a:lstStyle/>
          <a:p>
            <a:pPr algn="l">
              <a:defRPr sz="1700" b="0">
                <a:solidFill>
                  <a:srgbClr val="B8B8D0"/>
                </a:solidFill>
                <a:latin typeface="Calibri"/>
              </a:defRPr>
            </a:pPr>
            <a:r>
              <a:t>Practitioners locate where power, profit, and agency actually sit in the digital spaces young people use — and recognise the gap between corporate control and young people's real, everyday capacity to act.</a:t>
            </a:r>
          </a:p>
        </p:txBody>
      </p:sp>
      <p:pic>
        <p:nvPicPr>
          <p:cNvPr id="12" name="Picture 11" descr="mascot.png"/>
          <p:cNvPicPr>
            <a:picLocks noChangeAspect="1"/>
          </p:cNvPicPr>
          <p:nvPr/>
        </p:nvPicPr>
        <p:blipFill>
          <a:blip r:embed="rId3"/>
          <a:stretch>
            <a:fillRect/>
          </a:stretch>
        </p:blipFill>
        <p:spPr>
          <a:xfrm>
            <a:off x="10332720" y="4846320"/>
            <a:ext cx="1187037" cy="1463040"/>
          </a:xfrm>
          <a:prstGeom prst="rect">
            <a:avLst/>
          </a:prstGeom>
        </p:spPr>
      </p:pic>
      <p:sp>
        <p:nvSpPr>
          <p:cNvPr id="13" name="TextBox 12"/>
          <p:cNvSpPr txBox="1"/>
          <p:nvPr/>
        </p:nvSpPr>
        <p:spPr>
          <a:xfrm>
            <a:off x="731520" y="6217920"/>
            <a:ext cx="5486400" cy="274320"/>
          </a:xfrm>
          <a:prstGeom prst="rect">
            <a:avLst/>
          </a:prstGeom>
          <a:noFill/>
        </p:spPr>
        <p:txBody>
          <a:bodyPr wrap="square" lIns="0" rIns="0">
            <a:spAutoFit/>
          </a:bodyPr>
          <a:lstStyle/>
          <a:p>
            <a:pPr algn="l">
              <a:defRPr sz="1100" b="1">
                <a:solidFill>
                  <a:srgbClr val="7B7B96"/>
                </a:solidFill>
                <a:latin typeface="Calibri"/>
              </a:defRPr>
            </a:pPr>
            <a:r>
              <a:t>Robocode × LIA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4063898" cy="73152"/>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063898" y="0"/>
            <a:ext cx="4063898" cy="73152"/>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7796" y="0"/>
            <a:ext cx="4063898"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11480"/>
            <a:ext cx="5486400" cy="365760"/>
          </a:xfrm>
          <a:prstGeom prst="rect">
            <a:avLst/>
          </a:prstGeom>
          <a:noFill/>
        </p:spPr>
        <p:txBody>
          <a:bodyPr wrap="square" lIns="0" rIns="0">
            <a:spAutoFit/>
          </a:bodyPr>
          <a:lstStyle/>
          <a:p>
            <a:pPr algn="l">
              <a:defRPr sz="1300" b="1">
                <a:solidFill>
                  <a:srgbClr val="7B61FF"/>
                </a:solidFill>
                <a:latin typeface="Calibri"/>
              </a:defRPr>
            </a:pPr>
            <a:r>
              <a:t>LEARNING OBJECTIVES</a:t>
            </a:r>
          </a:p>
        </p:txBody>
      </p:sp>
      <p:sp>
        <p:nvSpPr>
          <p:cNvPr id="6" name="TextBox 5"/>
          <p:cNvSpPr txBox="1"/>
          <p:nvPr/>
        </p:nvSpPr>
        <p:spPr>
          <a:xfrm>
            <a:off x="731520" y="914400"/>
            <a:ext cx="10058400" cy="640080"/>
          </a:xfrm>
          <a:prstGeom prst="rect">
            <a:avLst/>
          </a:prstGeom>
          <a:noFill/>
        </p:spPr>
        <p:txBody>
          <a:bodyPr wrap="square" lIns="0" rIns="0">
            <a:spAutoFit/>
          </a:bodyPr>
          <a:lstStyle/>
          <a:p>
            <a:pPr algn="l">
              <a:defRPr sz="3200" b="1">
                <a:solidFill>
                  <a:srgbClr val="FFFFFF"/>
                </a:solidFill>
                <a:latin typeface="Calibri"/>
              </a:defRPr>
            </a:pPr>
            <a:r>
              <a:t>What we're here to do</a:t>
            </a:r>
          </a:p>
        </p:txBody>
      </p:sp>
      <p:sp>
        <p:nvSpPr>
          <p:cNvPr id="7" name="TextBox 6"/>
          <p:cNvSpPr txBox="1"/>
          <p:nvPr/>
        </p:nvSpPr>
        <p:spPr>
          <a:xfrm>
            <a:off x="731520" y="2011680"/>
            <a:ext cx="4572000" cy="365760"/>
          </a:xfrm>
          <a:prstGeom prst="rect">
            <a:avLst/>
          </a:prstGeom>
          <a:noFill/>
        </p:spPr>
        <p:txBody>
          <a:bodyPr wrap="square" lIns="0" rIns="0">
            <a:spAutoFit/>
          </a:bodyPr>
          <a:lstStyle/>
          <a:p>
            <a:pPr algn="l">
              <a:defRPr sz="1200" b="1">
                <a:solidFill>
                  <a:srgbClr val="00D4DB"/>
                </a:solidFill>
                <a:latin typeface="Calibri"/>
              </a:defRPr>
            </a:pPr>
            <a:r>
              <a:t>AIM</a:t>
            </a:r>
          </a:p>
        </p:txBody>
      </p:sp>
      <p:sp>
        <p:nvSpPr>
          <p:cNvPr id="8" name="TextBox 7"/>
          <p:cNvSpPr txBox="1"/>
          <p:nvPr/>
        </p:nvSpPr>
        <p:spPr>
          <a:xfrm>
            <a:off x="731520" y="2331720"/>
            <a:ext cx="10515600" cy="1188720"/>
          </a:xfrm>
          <a:prstGeom prst="rect">
            <a:avLst/>
          </a:prstGeom>
          <a:noFill/>
        </p:spPr>
        <p:txBody>
          <a:bodyPr wrap="square" lIns="0" rIns="0">
            <a:spAutoFit/>
          </a:bodyPr>
          <a:lstStyle/>
          <a:p>
            <a:pPr algn="l">
              <a:defRPr sz="1400" b="0">
                <a:solidFill>
                  <a:srgbClr val="B8B8D0"/>
                </a:solidFill>
                <a:latin typeface="Calibri"/>
              </a:defRPr>
            </a:pPr>
            <a:r>
              <a:t>Practitioners locate where power, profit, and agency actually sit in the digital spaces young people use — and recognise the gap between corporate control and young people's real, everyday capacity to act.</a:t>
            </a:r>
          </a:p>
        </p:txBody>
      </p:sp>
      <p:sp>
        <p:nvSpPr>
          <p:cNvPr id="9" name="TextBox 8"/>
          <p:cNvSpPr txBox="1"/>
          <p:nvPr/>
        </p:nvSpPr>
        <p:spPr>
          <a:xfrm>
            <a:off x="731520" y="3566160"/>
            <a:ext cx="4572000" cy="365760"/>
          </a:xfrm>
          <a:prstGeom prst="rect">
            <a:avLst/>
          </a:prstGeom>
          <a:noFill/>
        </p:spPr>
        <p:txBody>
          <a:bodyPr wrap="square" lIns="0" rIns="0">
            <a:spAutoFit/>
          </a:bodyPr>
          <a:lstStyle/>
          <a:p>
            <a:pPr algn="l">
              <a:defRPr sz="1200" b="1">
                <a:solidFill>
                  <a:srgbClr val="00D4DB"/>
                </a:solidFill>
                <a:latin typeface="Calibri"/>
              </a:defRPr>
            </a:pPr>
            <a:r>
              <a:t>OBJECTIVES</a:t>
            </a:r>
          </a:p>
        </p:txBody>
      </p:sp>
      <p:sp>
        <p:nvSpPr>
          <p:cNvPr id="10" name="TextBox 9"/>
          <p:cNvSpPr txBox="1"/>
          <p:nvPr/>
        </p:nvSpPr>
        <p:spPr>
          <a:xfrm>
            <a:off x="731520" y="3886200"/>
            <a:ext cx="10515600" cy="2286000"/>
          </a:xfrm>
          <a:prstGeom prst="rect">
            <a:avLst/>
          </a:prstGeom>
          <a:noFill/>
        </p:spPr>
        <p:txBody>
          <a:bodyPr wrap="square" lIns="0">
            <a:spAutoFit/>
          </a:bodyPr>
          <a:lstStyle/>
          <a:p>
            <a:pPr>
              <a:spcAft>
                <a:spcPts val="800"/>
              </a:spcAft>
              <a:defRPr sz="1300">
                <a:solidFill>
                  <a:srgbClr val="FFFFFF"/>
                </a:solidFill>
                <a:latin typeface="Calibri"/>
              </a:defRPr>
            </a:pPr>
            <a:r>
              <a:t>•  Conduct a live audit of a real platform using 5 structured criteria</a:t>
            </a:r>
          </a:p>
          <a:p>
            <a:pPr>
              <a:spcAft>
                <a:spcPts val="800"/>
              </a:spcAft>
              <a:defRPr sz="1300">
                <a:solidFill>
                  <a:srgbClr val="FFFFFF"/>
                </a:solidFill>
                <a:latin typeface="Calibri"/>
              </a:defRPr>
            </a:pPr>
            <a:r>
              <a:t>•  Trace the corporate ownership, revenue model, and algorithmic logic of a platform young people use</a:t>
            </a:r>
          </a:p>
          <a:p>
            <a:pPr>
              <a:spcAft>
                <a:spcPts val="800"/>
              </a:spcAft>
              <a:defRPr sz="1300">
                <a:solidFill>
                  <a:srgbClr val="FFFFFF"/>
                </a:solidFill>
                <a:latin typeface="Calibri"/>
              </a:defRPr>
            </a:pPr>
            <a:r>
              <a:t>•  Identify where young people exercise agency within corporate-controlled spaces (and where they can't)</a:t>
            </a:r>
          </a:p>
          <a:p>
            <a:pPr>
              <a:spcAft>
                <a:spcPts val="800"/>
              </a:spcAft>
              <a:defRPr sz="1300">
                <a:solidFill>
                  <a:srgbClr val="FFFFFF"/>
                </a:solidFill>
                <a:latin typeface="Calibri"/>
              </a:defRPr>
            </a:pPr>
            <a:r>
              <a:t>•  Predict the second-order effects of changing one platform rule</a:t>
            </a:r>
          </a:p>
        </p:txBody>
      </p:sp>
      <p:sp>
        <p:nvSpPr>
          <p:cNvPr id="11" name="TextBox 10"/>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D4DB"/>
                </a:solidFill>
                <a:latin typeface="Calibri"/>
              </a:defRPr>
            </a:pPr>
            <a:r>
              <a:t>DISCOVER</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0 – 15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"Who holds power in the digital spaces young people use — and where does a young person's agency actually live?"</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When a young person opens TikTok, Instagram, Snapchat or Discord, most of the important decisions have already been made for them — by a corporation, a moderation policy, and an algorithm. But young people aren't just subjects of that control. They find workarounds, alternate spaces, new uses. This session locates both sides.</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Power Word Cloud</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Word cloud: 'Who holds power online?' Submit the first answer that comes to mind. Show the cloud. Expect: platform, algorithm, user, moderator. Less obvious: investor, advertiser, designer, lawmaker, no one.</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DISCOVER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Who Profits?</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Ranking poll: when a young person spends an hour on TikTok, who profits most? The young person · the platform · the advertisers · the content creators · the parent company · the shareholders. Submit. Show results. Discuss where the room splits.</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DISCOVER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Where Are Your Young People?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Multiple choice: which platforms do YOUR young people actually use most? Show results. Compare to where YOU are. The gap between the two lists is where your practice has a blind spot.</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DISCOVER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Name the Parent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In pairs. 90 seconds: name the parent company of these five platforms — Instagram, WhatsApp, TikTok, YouTube, Snapchat. Shout out your answers. How many did you get right? (Instagram + WhatsApp = Meta · TikTok = ByteDance · YouTube = Alphabet / Google · Snapchat = Snap Inc.) The invisible owners matter.</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DISCOVER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D4DB"/>
                </a:solidFill>
                <a:latin typeface="Calibri"/>
              </a:defRPr>
            </a:pPr>
            <a:r>
              <a:t>DISCOVER</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First Act of Agency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Sticky note: one time a young person you know did something on a platform the platform didn't want them to do — made a second account, broke a rule to stay connected, found a workaround, left entirely. Stick it on the wall. Walk the wall. Agency shows up in small, specific things.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DISCOVER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E91E8C"/>
                </a:solidFill>
                <a:latin typeface="Calibri"/>
              </a:defRPr>
            </a:pPr>
            <a:r>
              <a:t>ACTIVITY</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 – 75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Activity</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6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Live Platform Audit</a:t>
            </a:r>
          </a:p>
          <a:p>
            <a:pPr>
              <a:spcAft>
                <a:spcPts val="800"/>
              </a:spcAft>
              <a:defRPr sz="1600">
                <a:solidFill>
                  <a:srgbClr val="FFFFFF"/>
                </a:solidFill>
                <a:latin typeface="Calibri"/>
              </a:defRPr>
            </a:pPr>
            <a:r>
              <a:t>→  Follow the Money</a:t>
            </a:r>
          </a:p>
          <a:p>
            <a:pPr>
              <a:spcAft>
                <a:spcPts val="800"/>
              </a:spcAft>
              <a:defRPr sz="1600">
                <a:solidFill>
                  <a:srgbClr val="FFFFFF"/>
                </a:solidFill>
                <a:latin typeface="Calibri"/>
              </a:defRPr>
            </a:pPr>
            <a:r>
              <a:t>→  Audit Presentations</a:t>
            </a:r>
          </a:p>
          <a:p>
            <a:pPr>
              <a:spcAft>
                <a:spcPts val="800"/>
              </a:spcAft>
              <a:defRPr sz="1600">
                <a:solidFill>
                  <a:srgbClr val="FFFFFF"/>
                </a:solidFill>
                <a:latin typeface="Calibri"/>
              </a:defRPr>
            </a:pPr>
            <a:r>
              <a:t>→  Try Being 14</a:t>
            </a:r>
          </a:p>
          <a:p>
            <a:pPr>
              <a:spcAft>
                <a:spcPts val="800"/>
              </a:spcAft>
              <a:defRPr sz="1600">
                <a:solidFill>
                  <a:srgbClr val="FFFFFF"/>
                </a:solidFill>
                <a:latin typeface="Calibri"/>
              </a:defRPr>
            </a:pPr>
            <a:r>
              <a:t>→  Find the Workaround</a:t>
            </a:r>
          </a:p>
          <a:p>
            <a:pPr>
              <a:spcAft>
                <a:spcPts val="800"/>
              </a:spcAft>
              <a:defRPr sz="1600">
                <a:solidFill>
                  <a:srgbClr val="FFFFFF"/>
                </a:solidFill>
                <a:latin typeface="Calibri"/>
              </a:defRPr>
            </a:pPr>
            <a:r>
              <a:t>→  Adult Worry vs Young Person Reality</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Live Platform Audit</a:t>
            </a:r>
          </a:p>
        </p:txBody>
      </p:sp>
      <p:sp>
        <p:nvSpPr>
          <p:cNvPr id="5" name="TextBox 4"/>
          <p:cNvSpPr txBox="1"/>
          <p:nvPr/>
        </p:nvSpPr>
        <p:spPr>
          <a:xfrm>
            <a:off x="731520" y="1623060"/>
            <a:ext cx="10515600" cy="2011680"/>
          </a:xfrm>
          <a:prstGeom prst="rect">
            <a:avLst/>
          </a:prstGeom>
          <a:noFill/>
        </p:spPr>
        <p:txBody>
          <a:bodyPr wrap="square" lIns="0" rIns="0">
            <a:spAutoFit/>
          </a:bodyPr>
          <a:lstStyle/>
          <a:p>
            <a:pPr algn="l">
              <a:defRPr sz="1900" b="0">
                <a:solidFill>
                  <a:srgbClr val="FFFFFF"/>
                </a:solidFill>
                <a:latin typeface="Calibri"/>
              </a:defRPr>
            </a:pPr>
            <a:r>
              <a:rPr dirty="0"/>
              <a:t>In groups of 2–3, pick a platform your young people actually use. Audit it LIVE on your phones (not from memory) against the 5 criteria on screen. Rate each 1–5. Write specific evidence — screenshots, number of taps, names of settings. Opinions don't count here.</a:t>
            </a:r>
          </a:p>
        </p:txBody>
      </p:sp>
      <p:sp>
        <p:nvSpPr>
          <p:cNvPr id="6" name="TextBox 5"/>
          <p:cNvSpPr txBox="1"/>
          <p:nvPr/>
        </p:nvSpPr>
        <p:spPr>
          <a:xfrm>
            <a:off x="731520" y="2788920"/>
            <a:ext cx="10515600" cy="320040"/>
          </a:xfrm>
          <a:prstGeom prst="rect">
            <a:avLst/>
          </a:prstGeom>
          <a:noFill/>
        </p:spPr>
        <p:txBody>
          <a:bodyPr wrap="square" lIns="0" rIns="0">
            <a:spAutoFit/>
          </a:bodyPr>
          <a:lstStyle/>
          <a:p>
            <a:pPr algn="l">
              <a:defRPr sz="1100" b="1">
                <a:solidFill>
                  <a:srgbClr val="E91E8C"/>
                </a:solidFill>
                <a:latin typeface="Calibri"/>
              </a:defRPr>
            </a:pPr>
            <a:r>
              <a:rPr dirty="0"/>
              <a:t>PROMPTS</a:t>
            </a:r>
          </a:p>
        </p:txBody>
      </p:sp>
      <p:sp>
        <p:nvSpPr>
          <p:cNvPr id="7" name="TextBox 6"/>
          <p:cNvSpPr txBox="1"/>
          <p:nvPr/>
        </p:nvSpPr>
        <p:spPr>
          <a:xfrm>
            <a:off x="731520" y="310896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1. Identity Control — Can users be anonymous? Change names? Fully delete a profile?</a:t>
            </a:r>
          </a:p>
          <a:p>
            <a:pPr>
              <a:spcAft>
                <a:spcPts val="800"/>
              </a:spcAft>
              <a:defRPr sz="1300">
                <a:solidFill>
                  <a:srgbClr val="B8B8D0"/>
                </a:solidFill>
                <a:latin typeface="Calibri"/>
              </a:defRPr>
            </a:pPr>
            <a:r>
              <a:t>•  2. Reporting Friction — How many taps to report harm? Actually try it. Time it.</a:t>
            </a:r>
          </a:p>
          <a:p>
            <a:pPr>
              <a:spcAft>
                <a:spcPts val="800"/>
              </a:spcAft>
              <a:defRPr sz="1300">
                <a:solidFill>
                  <a:srgbClr val="B8B8D0"/>
                </a:solidFill>
                <a:latin typeface="Calibri"/>
              </a:defRPr>
            </a:pPr>
            <a:r>
              <a:t>•  3. Content Persistence — Can users delete posts? Can others screenshot? Try.</a:t>
            </a:r>
          </a:p>
          <a:p>
            <a:pPr>
              <a:spcAft>
                <a:spcPts val="800"/>
              </a:spcAft>
              <a:defRPr sz="1300">
                <a:solidFill>
                  <a:srgbClr val="B8B8D0"/>
                </a:solidFill>
                <a:latin typeface="Calibri"/>
              </a:defRPr>
            </a:pPr>
            <a:r>
              <a:t>•  4. Algorithmic Visibility — Who decides what gets seen? Can users control it? Where are the settings (if any)?</a:t>
            </a:r>
          </a:p>
          <a:p>
            <a:pPr>
              <a:spcAft>
                <a:spcPts val="800"/>
              </a:spcAft>
              <a:defRPr sz="1300">
                <a:solidFill>
                  <a:srgbClr val="B8B8D0"/>
                </a:solidFill>
                <a:latin typeface="Calibri"/>
              </a:defRPr>
            </a:pPr>
            <a:r>
              <a:t>•  5. Exit Cost — How hard is it to leave? What data do you lose? Can you export anything?</a:t>
            </a:r>
          </a:p>
        </p:txBody>
      </p:sp>
      <p:pic>
        <p:nvPicPr>
          <p:cNvPr id="8" name="Picture 7" descr="logo.png"/>
          <p:cNvPicPr>
            <a:picLocks noChangeAspect="1"/>
          </p:cNvPicPr>
          <p:nvPr/>
        </p:nvPicPr>
        <p:blipFill>
          <a:blip r:embed="rId2"/>
          <a:stretch>
            <a:fillRect/>
          </a:stretch>
        </p:blipFill>
        <p:spPr>
          <a:xfrm>
            <a:off x="10515600" y="6355080"/>
            <a:ext cx="1180586" cy="2743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Follow the Money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Stay on the same platform. On your phone, find: who owns it (parent company) · how it makes money (ads, subscriptions, data sales, in-app purchases) · last year's revenue (rough — the figure exists online). Write it on the whiteboard next to your audit. The ownership and revenue model predicts most of what you just rated.</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Audit Presentations</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Each group presents in 90 seconds: platform name · who owns it · worst score + evidence · best score + evidence · one thing that surprised them. No slides, no prep beyond what's on the whiteboard.</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Try Being 14</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On the platform you just audited: try to find the privacy settings. Try to report a specific piece of content. Try to delete your whole account. Time each task. Now imagine you're 14, stressed, at 11pm on a school night. Still easy?</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Find the Workaround</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3 minutes: name a specific way young people get around something the platform wants them to do — second accounts, fake birthdays, close-friends-only stories, VPNs, screen-time bypasses, whatever. Write them on stickies and cluster them on the wall. That cluster IS agency.</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E91E8C"/>
                </a:solidFill>
                <a:latin typeface="Calibri"/>
              </a:defRPr>
            </a:pPr>
            <a:r>
              <a:t>ACTIVITY</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Adult Worry vs Young Person Reality</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Two columns on the whiteboard. Left: 'What adults worry about online' (everyone contributes). Right: 'What young people actually tell you about' (everyone contributes). Look at the gap. The gap is where this session's real work sits.</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ACTIVITY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7B61FF"/>
                </a:solidFill>
                <a:latin typeface="Calibri"/>
              </a:defRPr>
            </a:pPr>
            <a:r>
              <a:t>KEY IDEAS</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75 – 95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Corporation Control and Young People's Agency</a:t>
            </a:r>
          </a:p>
        </p:txBody>
      </p:sp>
      <p:sp>
        <p:nvSpPr>
          <p:cNvPr id="6" name="TextBox 5"/>
          <p:cNvSpPr txBox="1"/>
          <p:nvPr/>
        </p:nvSpPr>
        <p:spPr>
          <a:xfrm>
            <a:off x="731520" y="3200400"/>
            <a:ext cx="10515600" cy="3200400"/>
          </a:xfrm>
          <a:prstGeom prst="rect">
            <a:avLst/>
          </a:prstGeom>
          <a:noFill/>
        </p:spPr>
        <p:txBody>
          <a:bodyPr wrap="square" lIns="0">
            <a:spAutoFit/>
          </a:bodyPr>
          <a:lstStyle/>
          <a:p>
            <a:pPr>
              <a:spcAft>
                <a:spcPts val="800"/>
              </a:spcAft>
              <a:defRPr sz="1700">
                <a:solidFill>
                  <a:srgbClr val="FFFFFF"/>
                </a:solidFill>
                <a:latin typeface="Calibri"/>
              </a:defRPr>
            </a:pPr>
            <a:r>
              <a:t>•  Digital spaces are corporate property, not public space — the design serves shareholders before users</a:t>
            </a:r>
          </a:p>
          <a:p>
            <a:pPr>
              <a:spcAft>
                <a:spcPts val="800"/>
              </a:spcAft>
              <a:defRPr sz="1700">
                <a:solidFill>
                  <a:srgbClr val="FFFFFF"/>
                </a:solidFill>
                <a:latin typeface="Calibri"/>
              </a:defRPr>
            </a:pPr>
            <a:r>
              <a:t>•  Power shows up where you can't see it: ownership, revenue models, algorithms, terms of service</a:t>
            </a:r>
          </a:p>
          <a:p>
            <a:pPr>
              <a:spcAft>
                <a:spcPts val="800"/>
              </a:spcAft>
              <a:defRPr sz="1700">
                <a:solidFill>
                  <a:srgbClr val="FFFFFF"/>
                </a:solidFill>
                <a:latin typeface="Calibri"/>
              </a:defRPr>
            </a:pPr>
            <a:r>
              <a:t>•  The user is not the customer. On ad-supported platforms, young people are the product being sold</a:t>
            </a:r>
          </a:p>
          <a:p>
            <a:pPr>
              <a:spcAft>
                <a:spcPts val="800"/>
              </a:spcAft>
              <a:defRPr sz="1700">
                <a:solidFill>
                  <a:srgbClr val="FFFFFF"/>
                </a:solidFill>
                <a:latin typeface="Calibri"/>
              </a:defRPr>
            </a:pPr>
            <a:r>
              <a:t>•  Agency isn't absence of control — it's what young people do INSIDE the constraints: workarounds, second accounts, new uses, leaving</a:t>
            </a:r>
          </a:p>
          <a:p>
            <a:pPr>
              <a:spcAft>
                <a:spcPts val="800"/>
              </a:spcAft>
              <a:defRPr sz="1700">
                <a:solidFill>
                  <a:srgbClr val="FFFFFF"/>
                </a:solidFill>
                <a:latin typeface="Calibri"/>
              </a:defRPr>
            </a:pPr>
            <a:r>
              <a:t>•  Corporate control and user agency both exist at once. The question is where, and how much, for whom</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Control vs Agency</a:t>
            </a:r>
          </a:p>
        </p:txBody>
      </p:sp>
      <p:sp>
        <p:nvSpPr>
          <p:cNvPr id="5" name="TextBox 4"/>
          <p:cNvSpPr txBox="1"/>
          <p:nvPr/>
        </p:nvSpPr>
        <p:spPr>
          <a:xfrm>
            <a:off x="731520" y="16459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103120"/>
            <a:ext cx="10515600" cy="2011680"/>
          </a:xfrm>
          <a:prstGeom prst="rect">
            <a:avLst/>
          </a:prstGeom>
          <a:noFill/>
        </p:spPr>
        <p:txBody>
          <a:bodyPr wrap="square" lIns="0" rIns="0">
            <a:spAutoFit/>
          </a:bodyPr>
          <a:lstStyle/>
          <a:p>
            <a:pPr algn="l">
              <a:defRPr sz="1900" b="0">
                <a:solidFill>
                  <a:srgbClr val="FFFFFF"/>
                </a:solidFill>
                <a:latin typeface="Calibri"/>
              </a:defRPr>
            </a:pPr>
            <a:r>
              <a:rPr dirty="0"/>
              <a:t>Eight platform </a:t>
            </a:r>
            <a:r>
              <a:rPr dirty="0" err="1"/>
              <a:t>behaviours</a:t>
            </a:r>
            <a:r>
              <a:rPr dirty="0"/>
              <a:t> appear on screen one at a time. For each, vote: is this CORPORATE CONTROL (the platform shaping the young person's options) or USER AGENCY (the young person shaping their own experience within the platform)? Some are both — vote the stronger side. The blurry votes are the real discussion.</a:t>
            </a:r>
          </a:p>
        </p:txBody>
      </p:sp>
      <p:sp>
        <p:nvSpPr>
          <p:cNvPr id="7" name="TextBox 6"/>
          <p:cNvSpPr txBox="1"/>
          <p:nvPr/>
        </p:nvSpPr>
        <p:spPr>
          <a:xfrm>
            <a:off x="731520" y="3520440"/>
            <a:ext cx="10515600" cy="320040"/>
          </a:xfrm>
          <a:prstGeom prst="rect">
            <a:avLst/>
          </a:prstGeom>
          <a:noFill/>
        </p:spPr>
        <p:txBody>
          <a:bodyPr wrap="square" lIns="0" rIns="0">
            <a:spAutoFit/>
          </a:bodyPr>
          <a:lstStyle/>
          <a:p>
            <a:pPr algn="l">
              <a:defRPr sz="1100" b="1">
                <a:solidFill>
                  <a:srgbClr val="7B61FF"/>
                </a:solidFill>
                <a:latin typeface="Calibri"/>
              </a:defRPr>
            </a:pPr>
            <a:r>
              <a:t>PROMPTS</a:t>
            </a:r>
          </a:p>
        </p:txBody>
      </p:sp>
      <p:sp>
        <p:nvSpPr>
          <p:cNvPr id="8" name="TextBox 7"/>
          <p:cNvSpPr txBox="1"/>
          <p:nvPr/>
        </p:nvSpPr>
        <p:spPr>
          <a:xfrm>
            <a:off x="731520" y="38404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rPr dirty="0"/>
              <a:t>•  The algorithm deciding which 20 videos to show next on TikTok</a:t>
            </a:r>
          </a:p>
          <a:p>
            <a:pPr>
              <a:spcAft>
                <a:spcPts val="800"/>
              </a:spcAft>
              <a:defRPr sz="1300">
                <a:solidFill>
                  <a:srgbClr val="B8B8D0"/>
                </a:solidFill>
                <a:latin typeface="Calibri"/>
              </a:defRPr>
            </a:pPr>
            <a:r>
              <a:rPr dirty="0"/>
              <a:t>•  A young person creating a second 'finsta' account for close friends</a:t>
            </a:r>
          </a:p>
          <a:p>
            <a:pPr>
              <a:spcAft>
                <a:spcPts val="800"/>
              </a:spcAft>
              <a:defRPr sz="1300">
                <a:solidFill>
                  <a:srgbClr val="B8B8D0"/>
                </a:solidFill>
                <a:latin typeface="Calibri"/>
              </a:defRPr>
            </a:pPr>
            <a:r>
              <a:rPr dirty="0"/>
              <a:t>•  Default privacy settings being 'public' unless you change them</a:t>
            </a:r>
          </a:p>
          <a:p>
            <a:pPr>
              <a:spcAft>
                <a:spcPts val="800"/>
              </a:spcAft>
              <a:defRPr sz="1300">
                <a:solidFill>
                  <a:srgbClr val="B8B8D0"/>
                </a:solidFill>
                <a:latin typeface="Calibri"/>
              </a:defRPr>
            </a:pPr>
            <a:r>
              <a:rPr dirty="0"/>
              <a:t>•  A young person blocking their parents across every app</a:t>
            </a:r>
          </a:p>
          <a:p>
            <a:pPr>
              <a:spcAft>
                <a:spcPts val="800"/>
              </a:spcAft>
              <a:defRPr sz="1300">
                <a:solidFill>
                  <a:srgbClr val="B8B8D0"/>
                </a:solidFill>
                <a:latin typeface="Calibri"/>
              </a:defRPr>
            </a:pPr>
            <a:r>
              <a:rPr dirty="0"/>
              <a:t>•  Platform removing a hashtag that was being used to </a:t>
            </a:r>
            <a:r>
              <a:rPr dirty="0" err="1"/>
              <a:t>organise</a:t>
            </a:r>
            <a:r>
              <a:rPr dirty="0"/>
              <a:t> protest</a:t>
            </a:r>
          </a:p>
          <a:p>
            <a:pPr>
              <a:spcAft>
                <a:spcPts val="800"/>
              </a:spcAft>
              <a:defRPr sz="1300">
                <a:solidFill>
                  <a:srgbClr val="B8B8D0"/>
                </a:solidFill>
                <a:latin typeface="Calibri"/>
              </a:defRPr>
            </a:pPr>
            <a:r>
              <a:rPr dirty="0"/>
              <a:t>•  A young person switching to WhatsApp because Instagram feels performative</a:t>
            </a:r>
          </a:p>
          <a:p>
            <a:pPr>
              <a:spcAft>
                <a:spcPts val="800"/>
              </a:spcAft>
              <a:defRPr sz="1300">
                <a:solidFill>
                  <a:srgbClr val="B8B8D0"/>
                </a:solidFill>
                <a:latin typeface="Calibri"/>
              </a:defRPr>
            </a:pPr>
            <a:r>
              <a:rPr dirty="0"/>
              <a:t>•  The Terms of Service you clicked 'accept' on without reading</a:t>
            </a:r>
          </a:p>
          <a:p>
            <a:pPr>
              <a:spcAft>
                <a:spcPts val="800"/>
              </a:spcAft>
              <a:defRPr sz="1300">
                <a:solidFill>
                  <a:srgbClr val="B8B8D0"/>
                </a:solidFill>
                <a:latin typeface="Calibri"/>
              </a:defRPr>
            </a:pPr>
            <a:r>
              <a:rPr dirty="0"/>
              <a:t>•  A young person deleting an app for a week to see how they feel</a:t>
            </a:r>
          </a:p>
        </p:txBody>
      </p:sp>
      <p:pic>
        <p:nvPicPr>
          <p:cNvPr id="9" name="Picture 8" descr="logo.png"/>
          <p:cNvPicPr>
            <a:picLocks noChangeAspect="1"/>
          </p:cNvPicPr>
          <p:nvPr/>
        </p:nvPicPr>
        <p:blipFill>
          <a:blip r:embed="rId2"/>
          <a:stretch>
            <a:fillRect/>
          </a:stretch>
        </p:blipFill>
        <p:spPr>
          <a:xfrm>
            <a:off x="10515600" y="6355080"/>
            <a:ext cx="1180586" cy="274320"/>
          </a:xfrm>
          <a:prstGeom prst="rect">
            <a:avLst/>
          </a:prstGeom>
        </p:spPr>
      </p:pic>
      <p:sp>
        <p:nvSpPr>
          <p:cNvPr id="10" name="TextBox 9"/>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KEY IDEAS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Who Owns the Space?</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Whiteboard: for each platform you know your young people use, write the parent company next to it. Then add one decision that company has made in the last year that affected young people (content moderation changes, new feature, data policy shift, layoffs of trust-and-safety teams). Share back: what pattern do you see?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KEY IDEAS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Agency Isn't Binary</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Scale poll 1–5 for each: how much agency does the average 14-year-old have on this platform? TikTok · Instagram · Snapchat · Discord · WhatsApp · YouTube. Submit. Show results. Discuss: where does agency come from — the platform's design, or the young person's resourcefulness?</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KEY IDEAS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7B61FF"/>
                </a:solidFill>
                <a:latin typeface="Calibri"/>
              </a:defRPr>
            </a:pPr>
            <a:r>
              <a:t>KEY IDEAS</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Adult Instinct Trap</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In pairs: name one adult instinct about young people and platforms that, if acted on, REDUCES agency instead of protecting safety. 60 seconds each. Share back one each. The room should have a list of 10–15 instincts to watch for in its own practice.</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KEY IDEAS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FFB800"/>
                </a:solidFill>
                <a:latin typeface="Calibri"/>
              </a:defRPr>
            </a:pPr>
            <a:r>
              <a:t>DISCUSSION</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95 – 150 min</a:t>
            </a:r>
          </a:p>
        </p:txBody>
      </p:sp>
      <p:sp>
        <p:nvSpPr>
          <p:cNvPr id="5" name="TextBox 4"/>
          <p:cNvSpPr txBox="1"/>
          <p:nvPr/>
        </p:nvSpPr>
        <p:spPr>
          <a:xfrm>
            <a:off x="731520" y="1828800"/>
            <a:ext cx="10515600" cy="1371600"/>
          </a:xfrm>
          <a:prstGeom prst="rect">
            <a:avLst/>
          </a:prstGeom>
          <a:noFill/>
        </p:spPr>
        <p:txBody>
          <a:bodyPr wrap="square" lIns="0" rIns="0">
            <a:spAutoFit/>
          </a:bodyPr>
          <a:lstStyle/>
          <a:p>
            <a:pPr algn="l">
              <a:defRPr sz="3800" b="1">
                <a:solidFill>
                  <a:srgbClr val="FFFFFF"/>
                </a:solidFill>
                <a:latin typeface="Calibri"/>
              </a:defRPr>
            </a:pPr>
            <a:r>
              <a:t>Discussion</a:t>
            </a:r>
          </a:p>
        </p:txBody>
      </p:sp>
      <p:sp>
        <p:nvSpPr>
          <p:cNvPr id="6" name="TextBox 5"/>
          <p:cNvSpPr txBox="1"/>
          <p:nvPr/>
        </p:nvSpPr>
        <p:spPr>
          <a:xfrm>
            <a:off x="731520" y="2926080"/>
            <a:ext cx="10515600" cy="457200"/>
          </a:xfrm>
          <a:prstGeom prst="rect">
            <a:avLst/>
          </a:prstGeom>
          <a:noFill/>
        </p:spPr>
        <p:txBody>
          <a:bodyPr wrap="square" lIns="0" rIns="0">
            <a:spAutoFit/>
          </a:bodyPr>
          <a:lstStyle/>
          <a:p>
            <a:pPr algn="l">
              <a:defRPr sz="1400" b="0">
                <a:solidFill>
                  <a:srgbClr val="B8B8D0"/>
                </a:solidFill>
                <a:latin typeface="Calibri"/>
              </a:defRPr>
            </a:pPr>
            <a:r>
              <a:t>5 activities in this block:</a:t>
            </a:r>
          </a:p>
        </p:txBody>
      </p:sp>
      <p:sp>
        <p:nvSpPr>
          <p:cNvPr id="7" name="TextBox 6"/>
          <p:cNvSpPr txBox="1"/>
          <p:nvPr/>
        </p:nvSpPr>
        <p:spPr>
          <a:xfrm>
            <a:off x="731520" y="3383280"/>
            <a:ext cx="10515600" cy="3017520"/>
          </a:xfrm>
          <a:prstGeom prst="rect">
            <a:avLst/>
          </a:prstGeom>
          <a:noFill/>
        </p:spPr>
        <p:txBody>
          <a:bodyPr wrap="square" lIns="0">
            <a:spAutoFit/>
          </a:bodyPr>
          <a:lstStyle/>
          <a:p>
            <a:pPr>
              <a:spcAft>
                <a:spcPts val="800"/>
              </a:spcAft>
              <a:defRPr sz="1600">
                <a:solidFill>
                  <a:srgbClr val="FFFFFF"/>
                </a:solidFill>
                <a:latin typeface="Calibri"/>
              </a:defRPr>
            </a:pPr>
            <a:r>
              <a:t>→  Redesign One Rule</a:t>
            </a:r>
          </a:p>
          <a:p>
            <a:pPr>
              <a:spcAft>
                <a:spcPts val="800"/>
              </a:spcAft>
              <a:defRPr sz="1600">
                <a:solidFill>
                  <a:srgbClr val="FFFFFF"/>
                </a:solidFill>
                <a:latin typeface="Calibri"/>
              </a:defRPr>
            </a:pPr>
            <a:r>
              <a:t>→  Second-Order Effects</a:t>
            </a:r>
          </a:p>
          <a:p>
            <a:pPr>
              <a:spcAft>
                <a:spcPts val="800"/>
              </a:spcAft>
              <a:defRPr sz="1600">
                <a:solidFill>
                  <a:srgbClr val="FFFFFF"/>
                </a:solidFill>
                <a:latin typeface="Calibri"/>
              </a:defRPr>
            </a:pPr>
            <a:r>
              <a:t>→  Corporate Control Fishbowl</a:t>
            </a:r>
          </a:p>
          <a:p>
            <a:pPr>
              <a:spcAft>
                <a:spcPts val="800"/>
              </a:spcAft>
              <a:defRPr sz="1600">
                <a:solidFill>
                  <a:srgbClr val="FFFFFF"/>
                </a:solidFill>
                <a:latin typeface="Calibri"/>
              </a:defRPr>
            </a:pPr>
            <a:r>
              <a:t>→  The Platform Verdict</a:t>
            </a:r>
          </a:p>
          <a:p>
            <a:pPr>
              <a:spcAft>
                <a:spcPts val="800"/>
              </a:spcAft>
              <a:defRPr sz="1600">
                <a:solidFill>
                  <a:srgbClr val="FFFFFF"/>
                </a:solidFill>
                <a:latin typeface="Calibri"/>
              </a:defRPr>
            </a:pPr>
            <a:r>
              <a:t>→  Where Young People Are Winning</a:t>
            </a:r>
          </a:p>
        </p:txBody>
      </p:sp>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Redesign One Rule</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Padlet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Each group picks ONE feature from their audited platform and redesigns it. Examples: all content auto-deletes after 24 hours · reporting is one tap · chronological feed only · full anonymity as default · no algorithmic recommendations. Post to Padlet: what improves, what gets worse, who benefits, who loses. Stay concrete — no 'the platform should care more'.</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DISCUSSION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Second-Order Effects</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Each group presents their redesign in 90 seconds. Other groups challenge with one question each: 'What about...?' · 'Who gets harmed by this change?' · 'How would young people work around it?' Every design change has consequences the designer didn't plan for.</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DISCUSSION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Corporate Control Fishbowl</a:t>
            </a:r>
          </a:p>
        </p:txBody>
      </p:sp>
      <p:sp>
        <p:nvSpPr>
          <p:cNvPr id="5" name="TextBox 4"/>
          <p:cNvSpPr txBox="1"/>
          <p:nvPr/>
        </p:nvSpPr>
        <p:spPr>
          <a:xfrm>
            <a:off x="731520" y="2103120"/>
            <a:ext cx="10515600" cy="2011680"/>
          </a:xfrm>
          <a:prstGeom prst="rect">
            <a:avLst/>
          </a:prstGeom>
          <a:noFill/>
        </p:spPr>
        <p:txBody>
          <a:bodyPr wrap="square" lIns="0" rIns="0">
            <a:spAutoFit/>
          </a:bodyPr>
          <a:lstStyle/>
          <a:p>
            <a:pPr algn="l">
              <a:defRPr sz="1900" b="0">
                <a:solidFill>
                  <a:srgbClr val="FFFFFF"/>
                </a:solidFill>
                <a:latin typeface="Calibri"/>
              </a:defRPr>
            </a:pPr>
            <a:r>
              <a:t>4 chairs in the middle of the room. Volunteers sit and discuss. Anyone can tap a shoulder to swap in. Everyone else listens in silence. Use the primers — pick whichever hits hardest, or move through them as the conversation opens up.</a:t>
            </a:r>
          </a:p>
        </p:txBody>
      </p:sp>
      <p:sp>
        <p:nvSpPr>
          <p:cNvPr id="6" name="TextBox 5"/>
          <p:cNvSpPr txBox="1"/>
          <p:nvPr/>
        </p:nvSpPr>
        <p:spPr>
          <a:xfrm>
            <a:off x="731520" y="4206240"/>
            <a:ext cx="10515600" cy="320040"/>
          </a:xfrm>
          <a:prstGeom prst="rect">
            <a:avLst/>
          </a:prstGeom>
          <a:noFill/>
        </p:spPr>
        <p:txBody>
          <a:bodyPr wrap="square" lIns="0" rIns="0">
            <a:spAutoFit/>
          </a:bodyPr>
          <a:lstStyle/>
          <a:p>
            <a:pPr algn="l">
              <a:defRPr sz="1100" b="1">
                <a:solidFill>
                  <a:srgbClr val="FFB800"/>
                </a:solidFill>
                <a:latin typeface="Calibri"/>
              </a:defRPr>
            </a:pPr>
            <a:r>
              <a:t>PROMPTS</a:t>
            </a:r>
          </a:p>
        </p:txBody>
      </p:sp>
      <p:sp>
        <p:nvSpPr>
          <p:cNvPr id="7" name="TextBox 6"/>
          <p:cNvSpPr txBox="1"/>
          <p:nvPr/>
        </p:nvSpPr>
        <p:spPr>
          <a:xfrm>
            <a:off x="731520" y="4526280"/>
            <a:ext cx="10515600" cy="2103120"/>
          </a:xfrm>
          <a:prstGeom prst="rect">
            <a:avLst/>
          </a:prstGeom>
          <a:noFill/>
        </p:spPr>
        <p:txBody>
          <a:bodyPr wrap="square" lIns="0">
            <a:spAutoFit/>
          </a:bodyPr>
          <a:lstStyle/>
          <a:p>
            <a:pPr>
              <a:spcAft>
                <a:spcPts val="800"/>
              </a:spcAft>
              <a:defRPr sz="1300">
                <a:solidFill>
                  <a:srgbClr val="B8B8D0"/>
                </a:solidFill>
                <a:latin typeface="Calibri"/>
              </a:defRPr>
            </a:pPr>
            <a:r>
              <a:t>•  Is there such a thing as an ethical corporate platform for young people — or is the business model always going to win?</a:t>
            </a:r>
          </a:p>
          <a:p>
            <a:pPr>
              <a:spcAft>
                <a:spcPts val="800"/>
              </a:spcAft>
              <a:defRPr sz="1300">
                <a:solidFill>
                  <a:srgbClr val="B8B8D0"/>
                </a:solidFill>
                <a:latin typeface="Calibri"/>
              </a:defRPr>
            </a:pPr>
            <a:r>
              <a:t>•  Young people exercise real agency by leaving platforms. When should youth workers support that, and when is it withdrawal from the spaces where the work has to happen?</a:t>
            </a:r>
          </a:p>
          <a:p>
            <a:pPr>
              <a:spcAft>
                <a:spcPts val="800"/>
              </a:spcAft>
              <a:defRPr sz="1300">
                <a:solidFill>
                  <a:srgbClr val="B8B8D0"/>
                </a:solidFill>
                <a:latin typeface="Calibri"/>
              </a:defRPr>
            </a:pPr>
            <a:r>
              <a:t>•  Whose job is it to hold corporations accountable for their effect on young people — regulators, users, advocates, youth workers, parents, journalists?</a:t>
            </a:r>
          </a:p>
          <a:p>
            <a:pPr>
              <a:spcAft>
                <a:spcPts val="800"/>
              </a:spcAft>
              <a:defRPr sz="1300">
                <a:solidFill>
                  <a:srgbClr val="B8B8D0"/>
                </a:solidFill>
                <a:latin typeface="Calibri"/>
              </a:defRPr>
            </a:pPr>
            <a:r>
              <a:t>•  If a young person's safest community is on a platform you've decided is harmful, what do you do?</a:t>
            </a:r>
          </a:p>
          <a:p>
            <a:pPr>
              <a:spcAft>
                <a:spcPts val="800"/>
              </a:spcAft>
              <a:defRPr sz="1300">
                <a:solidFill>
                  <a:srgbClr val="B8B8D0"/>
                </a:solidFill>
                <a:latin typeface="Calibri"/>
              </a:defRPr>
            </a:pPr>
            <a:r>
              <a:t>•  Corporate content moderation shapes which young people get seen, blocked, or shadow-banned. Whose voices does it silence most?</a:t>
            </a:r>
          </a:p>
          <a:p>
            <a:pPr>
              <a:spcAft>
                <a:spcPts val="800"/>
              </a:spcAft>
              <a:defRPr sz="1300">
                <a:solidFill>
                  <a:srgbClr val="B8B8D0"/>
                </a:solidFill>
                <a:latin typeface="Calibri"/>
              </a:defRPr>
            </a:pPr>
            <a:r>
              <a:t>•  Do you still call a platform 'neutral infrastructure' after you know who owns it?</a:t>
            </a:r>
          </a:p>
        </p:txBody>
      </p:sp>
      <p:pic>
        <p:nvPicPr>
          <p:cNvPr id="8" name="Picture 7" descr="logo.png"/>
          <p:cNvPicPr>
            <a:picLocks noChangeAspect="1"/>
          </p:cNvPicPr>
          <p:nvPr/>
        </p:nvPicPr>
        <p:blipFill>
          <a:blip r:embed="rId2"/>
          <a:stretch>
            <a:fillRect/>
          </a:stretch>
        </p:blipFill>
        <p:spPr>
          <a:xfrm>
            <a:off x="10515600" y="6355080"/>
            <a:ext cx="1180586" cy="2743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DISCUSSION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The Platform Verdict</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Padlet</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Based on your audit and everything since, write a 3-sentence recommendation: should youth workers use this platform with young people? Under what conditions? What must be set up first? Post to the shared Padlet. Walk it as a room.</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DISCUSSION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FFB800"/>
                </a:solidFill>
                <a:latin typeface="Calibri"/>
              </a:defRPr>
            </a:pPr>
            <a:r>
              <a:t>DISCUSSION</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Where Young People Are Winning</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Groups of 3. 2 minutes: name one specific way young people are exercising real agency inside a corporate platform right now — building community, resisting algorithms, subverting features, using the platform against its own design. Share back. Do not end this session only on what's wrong.</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DISCUSSION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28600" cy="6858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5486400" cy="365760"/>
          </a:xfrm>
          <a:prstGeom prst="rect">
            <a:avLst/>
          </a:prstGeom>
          <a:noFill/>
        </p:spPr>
        <p:txBody>
          <a:bodyPr wrap="square" lIns="0" rIns="0">
            <a:spAutoFit/>
          </a:bodyPr>
          <a:lstStyle/>
          <a:p>
            <a:pPr algn="l">
              <a:defRPr sz="1400" b="1">
                <a:solidFill>
                  <a:srgbClr val="00E676"/>
                </a:solidFill>
                <a:latin typeface="Calibri"/>
              </a:defRPr>
            </a:pPr>
            <a:r>
              <a:t>CLOSING</a:t>
            </a:r>
          </a:p>
        </p:txBody>
      </p:sp>
      <p:sp>
        <p:nvSpPr>
          <p:cNvPr id="4" name="TextBox 3"/>
          <p:cNvSpPr txBox="1"/>
          <p:nvPr/>
        </p:nvSpPr>
        <p:spPr>
          <a:xfrm>
            <a:off x="731520" y="868680"/>
            <a:ext cx="5486400" cy="365760"/>
          </a:xfrm>
          <a:prstGeom prst="rect">
            <a:avLst/>
          </a:prstGeom>
          <a:noFill/>
        </p:spPr>
        <p:txBody>
          <a:bodyPr wrap="square" lIns="0" rIns="0">
            <a:spAutoFit/>
          </a:bodyPr>
          <a:lstStyle/>
          <a:p>
            <a:pPr algn="l">
              <a:defRPr sz="1200" b="0">
                <a:solidFill>
                  <a:srgbClr val="7B7B96"/>
                </a:solidFill>
                <a:latin typeface="Calibri"/>
              </a:defRPr>
            </a:pPr>
            <a:r>
              <a:t>150 – 180 min</a:t>
            </a:r>
          </a:p>
        </p:txBody>
      </p:sp>
      <p:sp>
        <p:nvSpPr>
          <p:cNvPr id="5" name="TextBox 4"/>
          <p:cNvSpPr txBox="1"/>
          <p:nvPr/>
        </p:nvSpPr>
        <p:spPr>
          <a:xfrm>
            <a:off x="731520" y="1828800"/>
            <a:ext cx="10515600" cy="2286000"/>
          </a:xfrm>
          <a:prstGeom prst="rect">
            <a:avLst/>
          </a:prstGeom>
          <a:noFill/>
        </p:spPr>
        <p:txBody>
          <a:bodyPr wrap="square" lIns="0" rIns="0">
            <a:spAutoFit/>
          </a:bodyPr>
          <a:lstStyle/>
          <a:p>
            <a:pPr algn="l">
              <a:defRPr sz="3800" b="1">
                <a:solidFill>
                  <a:srgbClr val="FFFFFF"/>
                </a:solidFill>
                <a:latin typeface="Calibri"/>
              </a:defRPr>
            </a:pPr>
            <a:r>
              <a:t>"Which of your adult instincts quietly reduce young people's agency online — and what do you do with that?"</a:t>
            </a:r>
          </a:p>
        </p:txBody>
      </p:sp>
      <p:sp>
        <p:nvSpPr>
          <p:cNvPr id="6" name="TextBox 5"/>
          <p:cNvSpPr txBox="1"/>
          <p:nvPr/>
        </p:nvSpPr>
        <p:spPr>
          <a:xfrm>
            <a:off x="731520" y="4389120"/>
            <a:ext cx="10515600" cy="1828800"/>
          </a:xfrm>
          <a:prstGeom prst="rect">
            <a:avLst/>
          </a:prstGeom>
          <a:noFill/>
        </p:spPr>
        <p:txBody>
          <a:bodyPr wrap="square" lIns="0" rIns="0">
            <a:spAutoFit/>
          </a:bodyPr>
          <a:lstStyle/>
          <a:p>
            <a:pPr algn="l">
              <a:defRPr sz="1700" b="0">
                <a:solidFill>
                  <a:srgbClr val="B8B8D0"/>
                </a:solidFill>
                <a:latin typeface="Calibri"/>
              </a:defRPr>
            </a:pPr>
            <a:r>
              <a:t>Telling young people to 'just be careful online' addresses nothing structural. Sometimes the instinct to control, monitor, or restrict is actually what pushes young people toward less safe or less visible behaviour. Agency-respecting practice is harder and more useful.</a:t>
            </a:r>
          </a:p>
        </p:txBody>
      </p:sp>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Instinct Check</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Open text: one adult instinct you hold about young people and platforms that you now suspect reduces their agency. Submit. Show the wall. Read a few aloud. No commentary — the submission IS the work.</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CLOSING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One Platform I'll Audit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Open your phone's reminders or calendar. Set a reminder for next Monday: 'Audit [specific platform] on all 5 criteria and share findings with the team.' Share the name with your neighbour — they're your check-in.</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CLOSING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Agency Commitment</a:t>
            </a:r>
          </a:p>
        </p:txBody>
      </p:sp>
      <p:sp>
        <p:nvSpPr>
          <p:cNvPr id="5" name="TextBox 4"/>
          <p:cNvSpPr txBox="1"/>
          <p:nvPr/>
        </p:nvSpPr>
        <p:spPr>
          <a:xfrm>
            <a:off x="731520" y="2103120"/>
            <a:ext cx="10515600" cy="365760"/>
          </a:xfrm>
          <a:prstGeom prst="rect">
            <a:avLst/>
          </a:prstGeom>
          <a:noFill/>
        </p:spPr>
        <p:txBody>
          <a:bodyPr wrap="square" lIns="0" rIns="0">
            <a:spAutoFit/>
          </a:bodyPr>
          <a:lstStyle/>
          <a:p>
            <a:pPr algn="l">
              <a:defRPr sz="1400" b="1">
                <a:solidFill>
                  <a:srgbClr val="E91E8C"/>
                </a:solidFill>
                <a:latin typeface="Calibri"/>
              </a:defRPr>
            </a:pPr>
            <a:r>
              <a:t>🛠  Mentimeter</a:t>
            </a:r>
          </a:p>
        </p:txBody>
      </p:sp>
      <p:sp>
        <p:nvSpPr>
          <p:cNvPr id="6" name="TextBox 5"/>
          <p:cNvSpPr txBox="1"/>
          <p:nvPr/>
        </p:nvSpPr>
        <p:spPr>
          <a:xfrm>
            <a:off x="731520" y="2560320"/>
            <a:ext cx="10515600" cy="2743200"/>
          </a:xfrm>
          <a:prstGeom prst="rect">
            <a:avLst/>
          </a:prstGeom>
          <a:noFill/>
        </p:spPr>
        <p:txBody>
          <a:bodyPr wrap="square" lIns="0" rIns="0">
            <a:spAutoFit/>
          </a:bodyPr>
          <a:lstStyle/>
          <a:p>
            <a:pPr algn="l">
              <a:defRPr sz="1900" b="0">
                <a:solidFill>
                  <a:srgbClr val="FFFFFF"/>
                </a:solidFill>
                <a:latin typeface="Calibri"/>
              </a:defRPr>
            </a:pPr>
            <a:r>
              <a:t>Complete the sentence in Menti: 'To respect young people's agency in digital spaces, I will ___.' Submit live. Read a few aloud. Screenshot the wall before you leave.</a:t>
            </a:r>
          </a:p>
        </p:txBody>
      </p:sp>
      <p:pic>
        <p:nvPicPr>
          <p:cNvPr id="7" name="Picture 6" descr="logo.png"/>
          <p:cNvPicPr>
            <a:picLocks noChangeAspect="1"/>
          </p:cNvPicPr>
          <p:nvPr/>
        </p:nvPicPr>
        <p:blipFill>
          <a:blip r:embed="rId2"/>
          <a:stretch>
            <a:fillRect/>
          </a:stretch>
        </p:blipFill>
        <p:spPr>
          <a:xfrm>
            <a:off x="10515600" y="6355080"/>
            <a:ext cx="1180586" cy="274320"/>
          </a:xfrm>
          <a:prstGeom prst="rect">
            <a:avLst/>
          </a:prstGeom>
        </p:spPr>
      </p:pic>
      <p:sp>
        <p:nvSpPr>
          <p:cNvPr id="8" name="TextBox 7"/>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CLOSING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6162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365760"/>
          </a:xfrm>
          <a:prstGeom prst="rect">
            <a:avLst/>
          </a:prstGeom>
          <a:noFill/>
        </p:spPr>
        <p:txBody>
          <a:bodyPr wrap="square" lIns="0" rIns="0">
            <a:spAutoFit/>
          </a:bodyPr>
          <a:lstStyle/>
          <a:p>
            <a:pPr algn="l">
              <a:defRPr sz="1200" b="1">
                <a:solidFill>
                  <a:srgbClr val="00E676"/>
                </a:solidFill>
                <a:latin typeface="Calibri"/>
              </a:defRPr>
            </a:pPr>
            <a:r>
              <a:t>CLOSING</a:t>
            </a:r>
          </a:p>
        </p:txBody>
      </p:sp>
      <p:sp>
        <p:nvSpPr>
          <p:cNvPr id="4" name="TextBox 3"/>
          <p:cNvSpPr txBox="1"/>
          <p:nvPr/>
        </p:nvSpPr>
        <p:spPr>
          <a:xfrm>
            <a:off x="731520" y="914400"/>
            <a:ext cx="10515600" cy="1097280"/>
          </a:xfrm>
          <a:prstGeom prst="rect">
            <a:avLst/>
          </a:prstGeom>
          <a:noFill/>
        </p:spPr>
        <p:txBody>
          <a:bodyPr wrap="square" lIns="0" rIns="0">
            <a:spAutoFit/>
          </a:bodyPr>
          <a:lstStyle/>
          <a:p>
            <a:pPr algn="l">
              <a:defRPr sz="3400" b="1">
                <a:solidFill>
                  <a:srgbClr val="FFFFFF"/>
                </a:solidFill>
                <a:latin typeface="Calibri"/>
              </a:defRPr>
            </a:pPr>
            <a:r>
              <a:t>Exit Ticket</a:t>
            </a:r>
          </a:p>
        </p:txBody>
      </p:sp>
      <p:sp>
        <p:nvSpPr>
          <p:cNvPr id="5" name="TextBox 4"/>
          <p:cNvSpPr txBox="1"/>
          <p:nvPr/>
        </p:nvSpPr>
        <p:spPr>
          <a:xfrm>
            <a:off x="731520" y="2103120"/>
            <a:ext cx="10515600" cy="2743200"/>
          </a:xfrm>
          <a:prstGeom prst="rect">
            <a:avLst/>
          </a:prstGeom>
          <a:noFill/>
        </p:spPr>
        <p:txBody>
          <a:bodyPr wrap="square" lIns="0" rIns="0">
            <a:spAutoFit/>
          </a:bodyPr>
          <a:lstStyle/>
          <a:p>
            <a:pPr algn="l">
              <a:defRPr sz="1900" b="0">
                <a:solidFill>
                  <a:srgbClr val="FFFFFF"/>
                </a:solidFill>
                <a:latin typeface="Calibri"/>
              </a:defRPr>
            </a:pPr>
            <a:r>
              <a:t>Sticky on the door frame as you leave: one word for how you see the balance of control and agency in your practice right now (Tilted / Healthy / Missing / Rebuilding / Fighting). Read them back at the start of Session 6.</a:t>
            </a:r>
          </a:p>
        </p:txBody>
      </p:sp>
      <p:pic>
        <p:nvPicPr>
          <p:cNvPr id="6" name="Picture 5" descr="logo.png"/>
          <p:cNvPicPr>
            <a:picLocks noChangeAspect="1"/>
          </p:cNvPicPr>
          <p:nvPr/>
        </p:nvPicPr>
        <p:blipFill>
          <a:blip r:embed="rId2"/>
          <a:stretch>
            <a:fillRect/>
          </a:stretch>
        </p:blipFill>
        <p:spPr>
          <a:xfrm>
            <a:off x="10515600" y="6355080"/>
            <a:ext cx="1180586" cy="274320"/>
          </a:xfrm>
          <a:prstGeom prst="rect">
            <a:avLst/>
          </a:prstGeom>
        </p:spPr>
      </p:pic>
      <p:sp>
        <p:nvSpPr>
          <p:cNvPr id="7" name="TextBox 6"/>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Session 5  ·  CLOSING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0D1A"/>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2286000"/>
          </a:xfrm>
          <a:prstGeom prst="rect">
            <a:avLst/>
          </a:prstGeom>
          <a:solidFill>
            <a:srgbClr val="00D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286000"/>
            <a:ext cx="274320" cy="2286000"/>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572000"/>
            <a:ext cx="274320" cy="2286000"/>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5486400" cy="365760"/>
          </a:xfrm>
          <a:prstGeom prst="rect">
            <a:avLst/>
          </a:prstGeom>
          <a:noFill/>
        </p:spPr>
        <p:txBody>
          <a:bodyPr wrap="square" lIns="0" rIns="0">
            <a:spAutoFit/>
          </a:bodyPr>
          <a:lstStyle/>
          <a:p>
            <a:pPr algn="l">
              <a:defRPr sz="1300" b="1">
                <a:solidFill>
                  <a:srgbClr val="00D4DB"/>
                </a:solidFill>
                <a:latin typeface="Calibri"/>
              </a:defRPr>
            </a:pPr>
            <a:r>
              <a:t>YOUR TAKEAWAY</a:t>
            </a:r>
          </a:p>
        </p:txBody>
      </p:sp>
      <p:sp>
        <p:nvSpPr>
          <p:cNvPr id="6" name="TextBox 5"/>
          <p:cNvSpPr txBox="1"/>
          <p:nvPr/>
        </p:nvSpPr>
        <p:spPr>
          <a:xfrm>
            <a:off x="822960" y="2194560"/>
            <a:ext cx="10515600" cy="2743200"/>
          </a:xfrm>
          <a:prstGeom prst="rect">
            <a:avLst/>
          </a:prstGeom>
          <a:noFill/>
        </p:spPr>
        <p:txBody>
          <a:bodyPr wrap="square" lIns="0" rIns="0">
            <a:spAutoFit/>
          </a:bodyPr>
          <a:lstStyle/>
          <a:p>
            <a:pPr algn="l">
              <a:defRPr sz="3000" b="1">
                <a:solidFill>
                  <a:srgbClr val="FFFFFF"/>
                </a:solidFill>
                <a:latin typeface="Calibri"/>
              </a:defRPr>
            </a:pPr>
            <a:r>
              <a:t>Audit one platform your young people use on all 5 criteria. Trace the ownership and revenue model. Share findings with your team within two weeks. Name one thing young people are doing on that platform that is agency, not risk.</a:t>
            </a:r>
          </a:p>
        </p:txBody>
      </p:sp>
      <p:sp>
        <p:nvSpPr>
          <p:cNvPr id="7" name="TextBox 6"/>
          <p:cNvSpPr txBox="1"/>
          <p:nvPr/>
        </p:nvSpPr>
        <p:spPr>
          <a:xfrm>
            <a:off x="822960" y="5486400"/>
            <a:ext cx="10058400" cy="457200"/>
          </a:xfrm>
          <a:prstGeom prst="rect">
            <a:avLst/>
          </a:prstGeom>
          <a:noFill/>
        </p:spPr>
        <p:txBody>
          <a:bodyPr wrap="square" lIns="0" rIns="0">
            <a:spAutoFit/>
          </a:bodyPr>
          <a:lstStyle/>
          <a:p>
            <a:pPr algn="l">
              <a:defRPr sz="1500" b="1">
                <a:solidFill>
                  <a:srgbClr val="E91E8C"/>
                </a:solidFill>
                <a:latin typeface="Calibri"/>
              </a:defRPr>
            </a:pPr>
            <a:r>
              <a:t>Next: Session 6 — Build Something Real</a:t>
            </a:r>
          </a:p>
        </p:txBody>
      </p:sp>
      <p:pic>
        <p:nvPicPr>
          <p:cNvPr id="8" name="Picture 7" descr="mascot.png"/>
          <p:cNvPicPr>
            <a:picLocks noChangeAspect="1"/>
          </p:cNvPicPr>
          <p:nvPr/>
        </p:nvPicPr>
        <p:blipFill>
          <a:blip r:embed="rId2"/>
          <a:stretch>
            <a:fillRect/>
          </a:stretch>
        </p:blipFill>
        <p:spPr>
          <a:xfrm>
            <a:off x="9601200" y="4114800"/>
            <a:ext cx="1335417" cy="1645920"/>
          </a:xfrm>
          <a:prstGeom prst="rect">
            <a:avLst/>
          </a:prstGeom>
        </p:spPr>
      </p:pic>
      <p:sp>
        <p:nvSpPr>
          <p:cNvPr id="9" name="TextBox 8"/>
          <p:cNvSpPr txBox="1"/>
          <p:nvPr/>
        </p:nvSpPr>
        <p:spPr>
          <a:xfrm>
            <a:off x="365760" y="6492240"/>
            <a:ext cx="5486400" cy="274320"/>
          </a:xfrm>
          <a:prstGeom prst="rect">
            <a:avLst/>
          </a:prstGeom>
          <a:noFill/>
        </p:spPr>
        <p:txBody>
          <a:bodyPr wrap="square" lIns="0" rIns="0">
            <a:spAutoFit/>
          </a:bodyPr>
          <a:lstStyle/>
          <a:p>
            <a:pPr algn="l">
              <a:defRPr sz="900" b="0">
                <a:solidFill>
                  <a:srgbClr val="7B7B96"/>
                </a:solidFill>
                <a:latin typeface="Calibri"/>
              </a:defRPr>
            </a:pPr>
            <a:r>
              <a:t>Robocode × LIA  ·  Digital Youth Work CPD  ·  Session 5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2457</Words>
  <Application>Microsoft Macintosh PowerPoint</Application>
  <PresentationFormat>Widescreen</PresentationFormat>
  <Paragraphs>185</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Ahmed Ayad</cp:lastModifiedBy>
  <cp:revision>2</cp:revision>
  <dcterms:created xsi:type="dcterms:W3CDTF">2013-01-27T09:14:16Z</dcterms:created>
  <dcterms:modified xsi:type="dcterms:W3CDTF">2026-04-16T05:36:58Z</dcterms:modified>
  <cp:category/>
</cp:coreProperties>
</file>