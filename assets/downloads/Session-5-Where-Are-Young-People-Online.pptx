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5486400" cy="548640"/>
          </a:xfrm>
          <a:prstGeom prst="rect">
            <a:avLst/>
          </a:prstGeom>
          <a:noFill/>
        </p:spPr>
        <p:txBody>
          <a:bodyPr wrap="square">
            <a:spAutoFit/>
          </a:bodyPr>
          <a:lstStyle/>
          <a:p>
            <a:pPr algn="l">
              <a:defRPr sz="1400" b="0">
                <a:solidFill>
                  <a:srgbClr val="AAAAAA"/>
                </a:solidFill>
              </a:defRPr>
            </a:pPr>
            <a:r>
              <a:t>Session 5 of 6</a:t>
            </a:r>
          </a:p>
        </p:txBody>
      </p:sp>
      <p:sp>
        <p:nvSpPr>
          <p:cNvPr id="3" name="TextBox 2"/>
          <p:cNvSpPr txBox="1"/>
          <p:nvPr/>
        </p:nvSpPr>
        <p:spPr>
          <a:xfrm>
            <a:off x="731520" y="1371600"/>
            <a:ext cx="10058400" cy="1828800"/>
          </a:xfrm>
          <a:prstGeom prst="rect">
            <a:avLst/>
          </a:prstGeom>
          <a:noFill/>
        </p:spPr>
        <p:txBody>
          <a:bodyPr wrap="square">
            <a:spAutoFit/>
          </a:bodyPr>
          <a:lstStyle/>
          <a:p>
            <a:pPr algn="l">
              <a:defRPr sz="4400" b="1">
                <a:solidFill>
                  <a:srgbClr val="FFFFFF"/>
                </a:solidFill>
              </a:defRPr>
            </a:pPr>
            <a:r>
              <a:t>Where Are Young People Online?</a:t>
            </a:r>
          </a:p>
        </p:txBody>
      </p:sp>
      <p:sp>
        <p:nvSpPr>
          <p:cNvPr id="4" name="TextBox 3"/>
          <p:cNvSpPr txBox="1"/>
          <p:nvPr/>
        </p:nvSpPr>
        <p:spPr>
          <a:xfrm>
            <a:off x="731520" y="3657600"/>
            <a:ext cx="9144000" cy="914400"/>
          </a:xfrm>
          <a:prstGeom prst="rect">
            <a:avLst/>
          </a:prstGeom>
          <a:noFill/>
        </p:spPr>
        <p:txBody>
          <a:bodyPr wrap="square">
            <a:spAutoFit/>
          </a:bodyPr>
          <a:lstStyle/>
          <a:p>
            <a:pPr algn="l">
              <a:defRPr sz="2000" b="0">
                <a:solidFill>
                  <a:srgbClr val="4EA8E6"/>
                </a:solidFill>
              </a:defRPr>
            </a:pPr>
            <a:r>
              <a:t>Digital Youth Work CPD Programme</a:t>
            </a:r>
          </a:p>
        </p:txBody>
      </p:sp>
      <p:sp>
        <p:nvSpPr>
          <p:cNvPr id="5" name="TextBox 4"/>
          <p:cNvSpPr txBox="1"/>
          <p:nvPr/>
        </p:nvSpPr>
        <p:spPr>
          <a:xfrm>
            <a:off x="731520" y="5669280"/>
            <a:ext cx="5486400" cy="457200"/>
          </a:xfrm>
          <a:prstGeom prst="rect">
            <a:avLst/>
          </a:prstGeom>
          <a:noFill/>
        </p:spPr>
        <p:txBody>
          <a:bodyPr wrap="square">
            <a:spAutoFit/>
          </a:bodyPr>
          <a:lstStyle/>
          <a:p>
            <a:pPr algn="l">
              <a:defRPr sz="1400" b="0">
                <a:solidFill>
                  <a:srgbClr val="AAAAAA"/>
                </a:solidFill>
              </a:defRPr>
            </a:pPr>
            <a:r>
              <a:t>Robocode x 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3657600" cy="457200"/>
          </a:xfrm>
          <a:prstGeom prst="rect">
            <a:avLst/>
          </a:prstGeom>
          <a:noFill/>
        </p:spPr>
        <p:txBody>
          <a:bodyPr wrap="square">
            <a:spAutoFit/>
          </a:bodyPr>
          <a:lstStyle/>
          <a:p>
            <a:pPr algn="l">
              <a:defRPr sz="1400" b="1">
                <a:solidFill>
                  <a:srgbClr val="4EA8E6"/>
                </a:solidFill>
              </a:defRPr>
            </a:pPr>
            <a:r>
              <a:t>DISCOVER</a:t>
            </a:r>
          </a:p>
        </p:txBody>
      </p:sp>
      <p:sp>
        <p:nvSpPr>
          <p:cNvPr id="3" name="TextBox 2"/>
          <p:cNvSpPr txBox="1"/>
          <p:nvPr/>
        </p:nvSpPr>
        <p:spPr>
          <a:xfrm>
            <a:off x="731520" y="731520"/>
            <a:ext cx="3657600" cy="365760"/>
          </a:xfrm>
          <a:prstGeom prst="rect">
            <a:avLst/>
          </a:prstGeom>
          <a:noFill/>
        </p:spPr>
        <p:txBody>
          <a:bodyPr wrap="square">
            <a:spAutoFit/>
          </a:bodyPr>
          <a:lstStyle/>
          <a:p>
            <a:pPr algn="l">
              <a:defRPr sz="1200" b="0">
                <a:solidFill>
                  <a:srgbClr val="AAAAAA"/>
                </a:solidFill>
              </a:defRPr>
            </a:pPr>
            <a:r>
              <a:t>0 – 15 min</a:t>
            </a:r>
          </a:p>
        </p:txBody>
      </p:sp>
      <p:sp>
        <p:nvSpPr>
          <p:cNvPr id="4" name="TextBox 3"/>
          <p:cNvSpPr txBox="1"/>
          <p:nvPr/>
        </p:nvSpPr>
        <p:spPr>
          <a:xfrm>
            <a:off x="731520" y="1645920"/>
            <a:ext cx="10058400" cy="1828800"/>
          </a:xfrm>
          <a:prstGeom prst="rect">
            <a:avLst/>
          </a:prstGeom>
          <a:noFill/>
        </p:spPr>
        <p:txBody>
          <a:bodyPr wrap="square">
            <a:spAutoFit/>
          </a:bodyPr>
          <a:lstStyle/>
          <a:p>
            <a:pPr algn="l">
              <a:defRPr sz="3400" b="1">
                <a:solidFill>
                  <a:srgbClr val="FFFFFF"/>
                </a:solidFill>
              </a:defRPr>
            </a:pPr>
            <a:r>
              <a:t>"Who actually holds power in a digital space?"</a:t>
            </a:r>
          </a:p>
        </p:txBody>
      </p:sp>
      <p:sp>
        <p:nvSpPr>
          <p:cNvPr id="5" name="TextBox 4"/>
          <p:cNvSpPr txBox="1"/>
          <p:nvPr/>
        </p:nvSpPr>
        <p:spPr>
          <a:xfrm>
            <a:off x="731520" y="3840480"/>
            <a:ext cx="9144000" cy="1828800"/>
          </a:xfrm>
          <a:prstGeom prst="rect">
            <a:avLst/>
          </a:prstGeom>
          <a:noFill/>
        </p:spPr>
        <p:txBody>
          <a:bodyPr wrap="square">
            <a:spAutoFit/>
          </a:bodyPr>
          <a:lstStyle/>
          <a:p>
            <a:pPr algn="l">
              <a:defRPr sz="1700" b="0">
                <a:solidFill>
                  <a:srgbClr val="AAAAAA"/>
                </a:solidFill>
              </a:defRPr>
            </a:pPr>
            <a:r>
              <a:t>When a young person uses TikTok, Discord, or Instagram — who decides what they see, who they can talk to, and what happens when something goes wrong? It's usually not the young person.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7315200" cy="457200"/>
          </a:xfrm>
          <a:prstGeom prst="rect">
            <a:avLst/>
          </a:prstGeom>
          <a:noFill/>
        </p:spPr>
        <p:txBody>
          <a:bodyPr wrap="square">
            <a:spAutoFit/>
          </a:bodyPr>
          <a:lstStyle/>
          <a:p>
            <a:pPr algn="l">
              <a:defRPr sz="1200" b="1">
                <a:solidFill>
                  <a:srgbClr val="4EA8E6"/>
                </a:solidFill>
              </a:defRPr>
            </a:pPr>
            <a:r>
              <a:t>DISCOVER  •  5 min</a:t>
            </a:r>
          </a:p>
        </p:txBody>
      </p:sp>
      <p:sp>
        <p:nvSpPr>
          <p:cNvPr id="3" name="TextBox 2"/>
          <p:cNvSpPr txBox="1"/>
          <p:nvPr/>
        </p:nvSpPr>
        <p:spPr>
          <a:xfrm>
            <a:off x="731520" y="1005840"/>
            <a:ext cx="10058400" cy="914400"/>
          </a:xfrm>
          <a:prstGeom prst="rect">
            <a:avLst/>
          </a:prstGeom>
          <a:noFill/>
        </p:spPr>
        <p:txBody>
          <a:bodyPr wrap="square">
            <a:spAutoFit/>
          </a:bodyPr>
          <a:lstStyle/>
          <a:p>
            <a:pPr algn="l">
              <a:defRPr sz="3000" b="1">
                <a:solidFill>
                  <a:srgbClr val="FFFFFF"/>
                </a:solidFill>
              </a:defRPr>
            </a:pPr>
            <a:r>
              <a:t>Power Brainstorm</a:t>
            </a:r>
          </a:p>
        </p:txBody>
      </p:sp>
      <p:sp>
        <p:nvSpPr>
          <p:cNvPr id="4" name="TextBox 3"/>
          <p:cNvSpPr txBox="1"/>
          <p:nvPr/>
        </p:nvSpPr>
        <p:spPr>
          <a:xfrm>
            <a:off x="731520" y="1828800"/>
            <a:ext cx="10058400" cy="457200"/>
          </a:xfrm>
          <a:prstGeom prst="rect">
            <a:avLst/>
          </a:prstGeom>
          <a:noFill/>
        </p:spPr>
        <p:txBody>
          <a:bodyPr wrap="square">
            <a:spAutoFit/>
          </a:bodyPr>
          <a:lstStyle/>
          <a:p>
            <a:pPr algn="l">
              <a:defRPr sz="1400" b="0">
                <a:solidFill>
                  <a:srgbClr val="4EA8E6"/>
                </a:solidFill>
              </a:defRPr>
            </a:pPr>
            <a:r>
              <a:t>Tool: Whiteboard</a:t>
            </a:r>
          </a:p>
        </p:txBody>
      </p:sp>
      <p:sp>
        <p:nvSpPr>
          <p:cNvPr id="5" name="TextBox 4"/>
          <p:cNvSpPr txBox="1"/>
          <p:nvPr/>
        </p:nvSpPr>
        <p:spPr>
          <a:xfrm>
            <a:off x="731520" y="2377440"/>
            <a:ext cx="10058400" cy="1371600"/>
          </a:xfrm>
          <a:prstGeom prst="rect">
            <a:avLst/>
          </a:prstGeom>
          <a:noFill/>
        </p:spPr>
        <p:txBody>
          <a:bodyPr wrap="square">
            <a:spAutoFit/>
          </a:bodyPr>
          <a:lstStyle/>
          <a:p>
            <a:pPr algn="l">
              <a:defRPr sz="1800" b="0">
                <a:solidFill>
                  <a:srgbClr val="FFFFFF"/>
                </a:solidFill>
              </a:defRPr>
            </a:pPr>
            <a:r>
              <a:t>Call out answers: who holds power online? Facilitator writes everything without filtering. Expect: the platform, the moderator, the algorithm, the user. Less obvious: the designer, the investor, nobody.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7315200" cy="457200"/>
          </a:xfrm>
          <a:prstGeom prst="rect">
            <a:avLst/>
          </a:prstGeom>
          <a:noFill/>
        </p:spPr>
        <p:txBody>
          <a:bodyPr wrap="square">
            <a:spAutoFit/>
          </a:bodyPr>
          <a:lstStyle/>
          <a:p>
            <a:pPr algn="l">
              <a:defRPr sz="1200" b="1">
                <a:solidFill>
                  <a:srgbClr val="4EA8E6"/>
                </a:solidFill>
              </a:defRPr>
            </a:pPr>
            <a:r>
              <a:t>DISCOVER  •  8 min</a:t>
            </a:r>
          </a:p>
        </p:txBody>
      </p:sp>
      <p:sp>
        <p:nvSpPr>
          <p:cNvPr id="3" name="TextBox 2"/>
          <p:cNvSpPr txBox="1"/>
          <p:nvPr/>
        </p:nvSpPr>
        <p:spPr>
          <a:xfrm>
            <a:off x="731520" y="1005840"/>
            <a:ext cx="10058400" cy="914400"/>
          </a:xfrm>
          <a:prstGeom prst="rect">
            <a:avLst/>
          </a:prstGeom>
          <a:noFill/>
        </p:spPr>
        <p:txBody>
          <a:bodyPr wrap="square">
            <a:spAutoFit/>
          </a:bodyPr>
          <a:lstStyle/>
          <a:p>
            <a:pPr algn="l">
              <a:defRPr sz="3000" b="1">
                <a:solidFill>
                  <a:srgbClr val="FFFFFF"/>
                </a:solidFill>
              </a:defRPr>
            </a:pPr>
            <a:r>
              <a:t>Where Are Your Young People?</a:t>
            </a:r>
          </a:p>
        </p:txBody>
      </p:sp>
      <p:sp>
        <p:nvSpPr>
          <p:cNvPr id="4" name="TextBox 3"/>
          <p:cNvSpPr txBox="1"/>
          <p:nvPr/>
        </p:nvSpPr>
        <p:spPr>
          <a:xfrm>
            <a:off x="731520" y="1828800"/>
            <a:ext cx="10058400" cy="457200"/>
          </a:xfrm>
          <a:prstGeom prst="rect">
            <a:avLst/>
          </a:prstGeom>
          <a:noFill/>
        </p:spPr>
        <p:txBody>
          <a:bodyPr wrap="square">
            <a:spAutoFit/>
          </a:bodyPr>
          <a:lstStyle/>
          <a:p>
            <a:pPr algn="l">
              <a:defRPr sz="1400" b="0">
                <a:solidFill>
                  <a:srgbClr val="4EA8E6"/>
                </a:solidFill>
              </a:defRPr>
            </a:pPr>
            <a:r>
              <a:t>Tool: Mentimeter (multiple choice)</a:t>
            </a:r>
          </a:p>
        </p:txBody>
      </p:sp>
      <p:sp>
        <p:nvSpPr>
          <p:cNvPr id="5" name="TextBox 4"/>
          <p:cNvSpPr txBox="1"/>
          <p:nvPr/>
        </p:nvSpPr>
        <p:spPr>
          <a:xfrm>
            <a:off x="731520" y="2377440"/>
            <a:ext cx="10058400" cy="1371600"/>
          </a:xfrm>
          <a:prstGeom prst="rect">
            <a:avLst/>
          </a:prstGeom>
          <a:noFill/>
        </p:spPr>
        <p:txBody>
          <a:bodyPr wrap="square">
            <a:spAutoFit/>
          </a:bodyPr>
          <a:lstStyle/>
          <a:p>
            <a:pPr algn="l">
              <a:defRPr sz="1800" b="0">
                <a:solidFill>
                  <a:srgbClr val="FFFFFF"/>
                </a:solidFill>
              </a:defRPr>
            </a:pPr>
            <a:r>
              <a:t>Vote: which platforms do YOUR young people actually use most? Show results. Are practitioners on the same platforms? Usually not — and that's a gap.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7315200" cy="457200"/>
          </a:xfrm>
          <a:prstGeom prst="rect">
            <a:avLst/>
          </a:prstGeom>
          <a:noFill/>
        </p:spPr>
        <p:txBody>
          <a:bodyPr wrap="square">
            <a:spAutoFit/>
          </a:bodyPr>
          <a:lstStyle/>
          <a:p>
            <a:pPr algn="l">
              <a:defRPr sz="1200" b="1">
                <a:solidFill>
                  <a:srgbClr val="4EA8E6"/>
                </a:solidFill>
              </a:defRPr>
            </a:pPr>
            <a:r>
              <a:t>ACTIVITY  •  35 min</a:t>
            </a:r>
          </a:p>
        </p:txBody>
      </p:sp>
      <p:sp>
        <p:nvSpPr>
          <p:cNvPr id="3" name="TextBox 2"/>
          <p:cNvSpPr txBox="1"/>
          <p:nvPr/>
        </p:nvSpPr>
        <p:spPr>
          <a:xfrm>
            <a:off x="731520" y="1005840"/>
            <a:ext cx="10058400" cy="914400"/>
          </a:xfrm>
          <a:prstGeom prst="rect">
            <a:avLst/>
          </a:prstGeom>
          <a:noFill/>
        </p:spPr>
        <p:txBody>
          <a:bodyPr wrap="square">
            <a:spAutoFit/>
          </a:bodyPr>
          <a:lstStyle/>
          <a:p>
            <a:pPr algn="l">
              <a:defRPr sz="3000" b="1">
                <a:solidFill>
                  <a:srgbClr val="FFFFFF"/>
                </a:solidFill>
              </a:defRPr>
            </a:pPr>
            <a:r>
              <a:t>Live Platform Audit</a:t>
            </a:r>
          </a:p>
        </p:txBody>
      </p:sp>
      <p:sp>
        <p:nvSpPr>
          <p:cNvPr id="4" name="TextBox 3"/>
          <p:cNvSpPr txBox="1"/>
          <p:nvPr/>
        </p:nvSpPr>
        <p:spPr>
          <a:xfrm>
            <a:off x="731520" y="1828800"/>
            <a:ext cx="10058400" cy="457200"/>
          </a:xfrm>
          <a:prstGeom prst="rect">
            <a:avLst/>
          </a:prstGeom>
          <a:noFill/>
        </p:spPr>
        <p:txBody>
          <a:bodyPr wrap="square">
            <a:spAutoFit/>
          </a:bodyPr>
          <a:lstStyle/>
          <a:p>
            <a:pPr algn="l">
              <a:defRPr sz="1400" b="0">
                <a:solidFill>
                  <a:srgbClr val="4EA8E6"/>
                </a:solidFill>
              </a:defRPr>
            </a:pPr>
            <a:r>
              <a:t>Tool: Phones/laptops + printed audit template</a:t>
            </a:r>
          </a:p>
        </p:txBody>
      </p:sp>
      <p:sp>
        <p:nvSpPr>
          <p:cNvPr id="5" name="TextBox 4"/>
          <p:cNvSpPr txBox="1"/>
          <p:nvPr/>
        </p:nvSpPr>
        <p:spPr>
          <a:xfrm>
            <a:off x="731520" y="2377440"/>
            <a:ext cx="10058400" cy="1371600"/>
          </a:xfrm>
          <a:prstGeom prst="rect">
            <a:avLst/>
          </a:prstGeom>
          <a:noFill/>
        </p:spPr>
        <p:txBody>
          <a:bodyPr wrap="square">
            <a:spAutoFit/>
          </a:bodyPr>
          <a:lstStyle/>
          <a:p>
            <a:pPr algn="l">
              <a:defRPr sz="1800" b="0">
                <a:solidFill>
                  <a:srgbClr val="FFFFFF"/>
                </a:solidFill>
              </a:defRPr>
            </a:pPr>
            <a:r>
              <a:t>In groups of 2-3, pick a platform your young people actually use. Audit it LIVE (not from memory) against 5 criteria:</a:t>
            </a:r>
          </a:p>
        </p:txBody>
      </p:sp>
      <p:sp>
        <p:nvSpPr>
          <p:cNvPr id="6" name="TextBox 5"/>
          <p:cNvSpPr txBox="1"/>
          <p:nvPr/>
        </p:nvSpPr>
        <p:spPr>
          <a:xfrm>
            <a:off x="731520" y="4023360"/>
            <a:ext cx="10058400" cy="2743200"/>
          </a:xfrm>
          <a:prstGeom prst="rect">
            <a:avLst/>
          </a:prstGeom>
          <a:noFill/>
        </p:spPr>
        <p:txBody>
          <a:bodyPr wrap="square">
            <a:spAutoFit/>
          </a:bodyPr>
          <a:lstStyle/>
          <a:p>
            <a:pPr>
              <a:spcAft>
                <a:spcPts val="600"/>
              </a:spcAft>
              <a:defRPr sz="1600">
                <a:solidFill>
                  <a:srgbClr val="AAAAAA"/>
                </a:solidFill>
              </a:defRPr>
            </a:pPr>
            <a:r>
              <a:t>1. Identity control — Can users be anonymous? Change their name? Delete their profile?</a:t>
            </a:r>
          </a:p>
          <a:p>
            <a:pPr>
              <a:spcAft>
                <a:spcPts val="600"/>
              </a:spcAft>
              <a:defRPr sz="1600">
                <a:solidFill>
                  <a:srgbClr val="AAAAAA"/>
                </a:solidFill>
              </a:defRPr>
            </a:pPr>
            <a:r>
              <a:t>2. Reporting — How many steps to report harm? Actually try it. Time it.</a:t>
            </a:r>
          </a:p>
          <a:p>
            <a:pPr>
              <a:spcAft>
                <a:spcPts val="600"/>
              </a:spcAft>
              <a:defRPr sz="1600">
                <a:solidFill>
                  <a:srgbClr val="AAAAAA"/>
                </a:solidFill>
              </a:defRPr>
            </a:pPr>
            <a:r>
              <a:t>3. Content persistence — Can users delete posts? Can others screenshot? Try it.</a:t>
            </a:r>
          </a:p>
          <a:p>
            <a:pPr>
              <a:spcAft>
                <a:spcPts val="600"/>
              </a:spcAft>
              <a:defRPr sz="1600">
                <a:solidFill>
                  <a:srgbClr val="AAAAAA"/>
                </a:solidFill>
              </a:defRPr>
            </a:pPr>
            <a:r>
              <a:t>4. Algorithm — Who decides what gets seen? Can users control it? Where are the settings?</a:t>
            </a:r>
          </a:p>
          <a:p>
            <a:pPr>
              <a:spcAft>
                <a:spcPts val="600"/>
              </a:spcAft>
              <a:defRPr sz="1600">
                <a:solidFill>
                  <a:srgbClr val="AAAAAA"/>
                </a:solidFill>
              </a:defRPr>
            </a:pPr>
            <a:r>
              <a:t>5. Exit cost — How hard is it to leave? What data do you lose? Can you export anything?</a:t>
            </a:r>
          </a:p>
          <a:p>
            <a:pPr>
              <a:spcAft>
                <a:spcPts val="600"/>
              </a:spcAft>
              <a:defRPr sz="1600">
                <a:solidFill>
                  <a:srgbClr val="AAAAAA"/>
                </a:solidFill>
              </a:defRPr>
            </a:pPr>
            <a:r>
              <a:t>Rate each criterion 1-5 on the template. Write specific evidence, not opinions.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7315200" cy="457200"/>
          </a:xfrm>
          <a:prstGeom prst="rect">
            <a:avLst/>
          </a:prstGeom>
          <a:noFill/>
        </p:spPr>
        <p:txBody>
          <a:bodyPr wrap="square">
            <a:spAutoFit/>
          </a:bodyPr>
          <a:lstStyle/>
          <a:p>
            <a:pPr algn="l">
              <a:defRPr sz="1200" b="1">
                <a:solidFill>
                  <a:srgbClr val="4EA8E6"/>
                </a:solidFill>
              </a:defRPr>
            </a:pPr>
            <a:r>
              <a:t>ACTIVITY  •  15 min</a:t>
            </a:r>
          </a:p>
        </p:txBody>
      </p:sp>
      <p:sp>
        <p:nvSpPr>
          <p:cNvPr id="3" name="TextBox 2"/>
          <p:cNvSpPr txBox="1"/>
          <p:nvPr/>
        </p:nvSpPr>
        <p:spPr>
          <a:xfrm>
            <a:off x="731520" y="1005840"/>
            <a:ext cx="10058400" cy="914400"/>
          </a:xfrm>
          <a:prstGeom prst="rect">
            <a:avLst/>
          </a:prstGeom>
          <a:noFill/>
        </p:spPr>
        <p:txBody>
          <a:bodyPr wrap="square">
            <a:spAutoFit/>
          </a:bodyPr>
          <a:lstStyle/>
          <a:p>
            <a:pPr algn="l">
              <a:defRPr sz="3000" b="1">
                <a:solidFill>
                  <a:srgbClr val="FFFFFF"/>
                </a:solidFill>
              </a:defRPr>
            </a:pPr>
            <a:r>
              <a:t>Audit Presentations</a:t>
            </a:r>
          </a:p>
        </p:txBody>
      </p:sp>
      <p:sp>
        <p:nvSpPr>
          <p:cNvPr id="4" name="TextBox 3"/>
          <p:cNvSpPr txBox="1"/>
          <p:nvPr/>
        </p:nvSpPr>
        <p:spPr>
          <a:xfrm>
            <a:off x="731520" y="2011680"/>
            <a:ext cx="10058400" cy="1371600"/>
          </a:xfrm>
          <a:prstGeom prst="rect">
            <a:avLst/>
          </a:prstGeom>
          <a:noFill/>
        </p:spPr>
        <p:txBody>
          <a:bodyPr wrap="square">
            <a:spAutoFit/>
          </a:bodyPr>
          <a:lstStyle/>
          <a:p>
            <a:pPr algn="l">
              <a:defRPr sz="1800" b="0">
                <a:solidFill>
                  <a:srgbClr val="FFFFFF"/>
                </a:solidFill>
              </a:defRPr>
            </a:pPr>
            <a:r>
              <a:t>Each group presents: platform name, worst score, best score, one thing that surprised them. Max 3 minutes each.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7315200" cy="457200"/>
          </a:xfrm>
          <a:prstGeom prst="rect">
            <a:avLst/>
          </a:prstGeom>
          <a:noFill/>
        </p:spPr>
        <p:txBody>
          <a:bodyPr wrap="square">
            <a:spAutoFit/>
          </a:bodyPr>
          <a:lstStyle/>
          <a:p>
            <a:pPr algn="l">
              <a:defRPr sz="1200" b="1">
                <a:solidFill>
                  <a:srgbClr val="4EA8E6"/>
                </a:solidFill>
              </a:defRPr>
            </a:pPr>
            <a:r>
              <a:t>ACTIVITY  •  10 min</a:t>
            </a:r>
          </a:p>
        </p:txBody>
      </p:sp>
      <p:sp>
        <p:nvSpPr>
          <p:cNvPr id="3" name="TextBox 2"/>
          <p:cNvSpPr txBox="1"/>
          <p:nvPr/>
        </p:nvSpPr>
        <p:spPr>
          <a:xfrm>
            <a:off x="731520" y="1005840"/>
            <a:ext cx="10058400" cy="914400"/>
          </a:xfrm>
          <a:prstGeom prst="rect">
            <a:avLst/>
          </a:prstGeom>
          <a:noFill/>
        </p:spPr>
        <p:txBody>
          <a:bodyPr wrap="square">
            <a:spAutoFit/>
          </a:bodyPr>
          <a:lstStyle/>
          <a:p>
            <a:pPr algn="l">
              <a:defRPr sz="3000" b="1">
                <a:solidFill>
                  <a:srgbClr val="FFFFFF"/>
                </a:solidFill>
              </a:defRPr>
            </a:pPr>
            <a:r>
              <a:t>Try Being 14</a:t>
            </a:r>
          </a:p>
        </p:txBody>
      </p:sp>
      <p:sp>
        <p:nvSpPr>
          <p:cNvPr id="4" name="TextBox 3"/>
          <p:cNvSpPr txBox="1"/>
          <p:nvPr/>
        </p:nvSpPr>
        <p:spPr>
          <a:xfrm>
            <a:off x="731520" y="1828800"/>
            <a:ext cx="10058400" cy="457200"/>
          </a:xfrm>
          <a:prstGeom prst="rect">
            <a:avLst/>
          </a:prstGeom>
          <a:noFill/>
        </p:spPr>
        <p:txBody>
          <a:bodyPr wrap="square">
            <a:spAutoFit/>
          </a:bodyPr>
          <a:lstStyle/>
          <a:p>
            <a:pPr algn="l">
              <a:defRPr sz="1400" b="0">
                <a:solidFill>
                  <a:srgbClr val="4EA8E6"/>
                </a:solidFill>
              </a:defRPr>
            </a:pPr>
            <a:r>
              <a:t>Tool: Phones</a:t>
            </a:r>
          </a:p>
        </p:txBody>
      </p:sp>
      <p:sp>
        <p:nvSpPr>
          <p:cNvPr id="5" name="TextBox 4"/>
          <p:cNvSpPr txBox="1"/>
          <p:nvPr/>
        </p:nvSpPr>
        <p:spPr>
          <a:xfrm>
            <a:off x="731520" y="2377440"/>
            <a:ext cx="10058400" cy="1371600"/>
          </a:xfrm>
          <a:prstGeom prst="rect">
            <a:avLst/>
          </a:prstGeom>
          <a:noFill/>
        </p:spPr>
        <p:txBody>
          <a:bodyPr wrap="square">
            <a:spAutoFit/>
          </a:bodyPr>
          <a:lstStyle/>
          <a:p>
            <a:pPr algn="l">
              <a:defRPr sz="1800" b="0">
                <a:solidFill>
                  <a:srgbClr val="FFFFFF"/>
                </a:solidFill>
              </a:defRPr>
            </a:pPr>
            <a:r>
              <a:t>Quick exercise: open the platform you just audited. Try to find the privacy settings. Try to report something. Try to delete your account. How long did it take? Now imagine you're 14 and stressed. Still easy?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D2D2D"/>
        </a:solidFill>
        <a:effectLst/>
      </p:bgPr>
    </p:bg>
    <p:spTree>
      <p:nvGrpSpPr>
        <p:cNvPr id="1" name=""/>
        <p:cNvGrpSpPr/>
        <p:nvPr/>
      </p:nvGrpSpPr>
      <p:grpSpPr/>
      <p:sp>
        <p:nvSpPr>
          <p:cNvPr id="2" name="TextBox 1"/>
          <p:cNvSpPr txBox="1"/>
          <p:nvPr/>
        </p:nvSpPr>
        <p:spPr>
          <a:xfrm>
            <a:off x="731520" y="457200"/>
            <a:ext cx="3657600" cy="457200"/>
          </a:xfrm>
          <a:prstGeom prst="rect">
            <a:avLst/>
          </a:prstGeom>
          <a:noFill/>
        </p:spPr>
        <p:txBody>
          <a:bodyPr wrap="square">
            <a:spAutoFit/>
          </a:bodyPr>
          <a:lstStyle/>
          <a:p>
            <a:pPr algn="l">
              <a:defRPr sz="1400" b="1">
                <a:solidFill>
                  <a:srgbClr val="4EA8E6"/>
                </a:solidFill>
              </a:defRPr>
            </a:pPr>
            <a:r>
              <a:t>KEY IDEAS</a:t>
            </a:r>
          </a:p>
        </p:txBody>
      </p:sp>
      <p:sp>
        <p:nvSpPr>
          <p:cNvPr id="3" name="TextBox 2"/>
          <p:cNvSpPr txBox="1"/>
          <p:nvPr/>
        </p:nvSpPr>
        <p:spPr>
          <a:xfrm>
            <a:off x="731520" y="1097280"/>
            <a:ext cx="10058400" cy="914400"/>
          </a:xfrm>
          <a:prstGeom prst="rect">
            <a:avLst/>
          </a:prstGeom>
          <a:noFill/>
        </p:spPr>
        <p:txBody>
          <a:bodyPr wrap="square">
            <a:spAutoFit/>
          </a:bodyPr>
          <a:lstStyle/>
          <a:p>
            <a:pPr algn="l">
              <a:defRPr sz="2800" b="1">
                <a:solidFill>
                  <a:srgbClr val="FFFFFF"/>
                </a:solidFill>
              </a:defRPr>
            </a:pPr>
            <a:r>
              <a:t>Risk, Agency, and Power Online</a:t>
            </a:r>
          </a:p>
        </p:txBody>
      </p:sp>
      <p:sp>
        <p:nvSpPr>
          <p:cNvPr id="4" name="TextBox 3"/>
          <p:cNvSpPr txBox="1"/>
          <p:nvPr/>
        </p:nvSpPr>
        <p:spPr>
          <a:xfrm>
            <a:off x="731520" y="2286000"/>
            <a:ext cx="10058400" cy="4114800"/>
          </a:xfrm>
          <a:prstGeom prst="rect">
            <a:avLst/>
          </a:prstGeom>
          <a:noFill/>
        </p:spPr>
        <p:txBody>
          <a:bodyPr wrap="square">
            <a:spAutoFit/>
          </a:bodyPr>
          <a:lstStyle/>
          <a:p>
            <a:pPr>
              <a:spcAft>
                <a:spcPts val="600"/>
              </a:spcAft>
              <a:defRPr sz="1700">
                <a:solidFill>
                  <a:srgbClr val="FFFFFF"/>
                </a:solidFill>
              </a:defRPr>
            </a:pPr>
            <a:r>
              <a:t>•  Young people have digital rights — to privacy, expression, information, participation. Most platforms violate several by design.</a:t>
            </a:r>
          </a:p>
          <a:p>
            <a:pPr>
              <a:spcAft>
                <a:spcPts val="600"/>
              </a:spcAft>
              <a:defRPr sz="1700">
                <a:solidFill>
                  <a:srgbClr val="FFFFFF"/>
                </a:solidFill>
              </a:defRPr>
            </a:pPr>
            <a:r>
              <a:t>•  What adults worry about (strangers, explicit content) vs what young people actually deal with (social pressure, algorithmic manipulation, inability to leave)</a:t>
            </a:r>
          </a:p>
          <a:p>
            <a:pPr>
              <a:spcAft>
                <a:spcPts val="600"/>
              </a:spcAft>
              <a:defRPr sz="1700">
                <a:solidFill>
                  <a:srgbClr val="FFFFFF"/>
                </a:solidFill>
              </a:defRPr>
            </a:pPr>
            <a:r>
              <a:t>•  Cyberbullying is enabled by platform design, not caused by bad character</a:t>
            </a:r>
          </a:p>
          <a:p>
            <a:pPr>
              <a:spcAft>
                <a:spcPts val="600"/>
              </a:spcAft>
              <a:defRPr sz="1700">
                <a:solidFill>
                  <a:srgbClr val="FFFFFF"/>
                </a:solidFill>
              </a:defRPr>
            </a:pPr>
            <a:r>
              <a:t>•  The user is not the customer. The advertiser is. Young people are the product.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7315200" cy="457200"/>
          </a:xfrm>
          <a:prstGeom prst="rect">
            <a:avLst/>
          </a:prstGeom>
          <a:noFill/>
        </p:spPr>
        <p:txBody>
          <a:bodyPr wrap="square">
            <a:spAutoFit/>
          </a:bodyPr>
          <a:lstStyle/>
          <a:p>
            <a:pPr algn="l">
              <a:defRPr sz="1200" b="1">
                <a:solidFill>
                  <a:srgbClr val="4EA8E6"/>
                </a:solidFill>
              </a:defRPr>
            </a:pPr>
            <a:r>
              <a:t>KEY IDEAS  •  10 min</a:t>
            </a:r>
          </a:p>
        </p:txBody>
      </p:sp>
      <p:sp>
        <p:nvSpPr>
          <p:cNvPr id="3" name="TextBox 2"/>
          <p:cNvSpPr txBox="1"/>
          <p:nvPr/>
        </p:nvSpPr>
        <p:spPr>
          <a:xfrm>
            <a:off x="731520" y="1005840"/>
            <a:ext cx="10058400" cy="914400"/>
          </a:xfrm>
          <a:prstGeom prst="rect">
            <a:avLst/>
          </a:prstGeom>
          <a:noFill/>
        </p:spPr>
        <p:txBody>
          <a:bodyPr wrap="square">
            <a:spAutoFit/>
          </a:bodyPr>
          <a:lstStyle/>
          <a:p>
            <a:pPr algn="l">
              <a:defRPr sz="3000" b="1">
                <a:solidFill>
                  <a:srgbClr val="FFFFFF"/>
                </a:solidFill>
              </a:defRPr>
            </a:pPr>
            <a:r>
              <a:t>Adult Worry vs Young Person Reality</a:t>
            </a:r>
          </a:p>
        </p:txBody>
      </p:sp>
      <p:sp>
        <p:nvSpPr>
          <p:cNvPr id="4" name="TextBox 3"/>
          <p:cNvSpPr txBox="1"/>
          <p:nvPr/>
        </p:nvSpPr>
        <p:spPr>
          <a:xfrm>
            <a:off x="731520" y="1828800"/>
            <a:ext cx="10058400" cy="457200"/>
          </a:xfrm>
          <a:prstGeom prst="rect">
            <a:avLst/>
          </a:prstGeom>
          <a:noFill/>
        </p:spPr>
        <p:txBody>
          <a:bodyPr wrap="square">
            <a:spAutoFit/>
          </a:bodyPr>
          <a:lstStyle/>
          <a:p>
            <a:pPr algn="l">
              <a:defRPr sz="1400" b="0">
                <a:solidFill>
                  <a:srgbClr val="4EA8E6"/>
                </a:solidFill>
              </a:defRPr>
            </a:pPr>
            <a:r>
              <a:t>Tool: Two whiteboards</a:t>
            </a:r>
          </a:p>
        </p:txBody>
      </p:sp>
      <p:sp>
        <p:nvSpPr>
          <p:cNvPr id="5" name="TextBox 4"/>
          <p:cNvSpPr txBox="1"/>
          <p:nvPr/>
        </p:nvSpPr>
        <p:spPr>
          <a:xfrm>
            <a:off x="731520" y="2377440"/>
            <a:ext cx="10058400" cy="1371600"/>
          </a:xfrm>
          <a:prstGeom prst="rect">
            <a:avLst/>
          </a:prstGeom>
          <a:noFill/>
        </p:spPr>
        <p:txBody>
          <a:bodyPr wrap="square">
            <a:spAutoFit/>
          </a:bodyPr>
          <a:lstStyle/>
          <a:p>
            <a:pPr algn="l">
              <a:defRPr sz="1800" b="0">
                <a:solidFill>
                  <a:srgbClr val="FFFFFF"/>
                </a:solidFill>
              </a:defRPr>
            </a:pPr>
            <a:r>
              <a:t>Board 1: 'What adults worry about online' (everyone contributes). Board 2: 'What young people actually tell you about'. Compare. The gap between these two boards is where the real work 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7315200" cy="457200"/>
          </a:xfrm>
          <a:prstGeom prst="rect">
            <a:avLst/>
          </a:prstGeom>
          <a:noFill/>
        </p:spPr>
        <p:txBody>
          <a:bodyPr wrap="square">
            <a:spAutoFit/>
          </a:bodyPr>
          <a:lstStyle/>
          <a:p>
            <a:pPr algn="l">
              <a:defRPr sz="1200" b="1">
                <a:solidFill>
                  <a:srgbClr val="4EA8E6"/>
                </a:solidFill>
              </a:defRPr>
            </a:pPr>
            <a:r>
              <a:t>DISCUSSION  •  25 min</a:t>
            </a:r>
          </a:p>
        </p:txBody>
      </p:sp>
      <p:sp>
        <p:nvSpPr>
          <p:cNvPr id="3" name="TextBox 2"/>
          <p:cNvSpPr txBox="1"/>
          <p:nvPr/>
        </p:nvSpPr>
        <p:spPr>
          <a:xfrm>
            <a:off x="731520" y="1005840"/>
            <a:ext cx="10058400" cy="914400"/>
          </a:xfrm>
          <a:prstGeom prst="rect">
            <a:avLst/>
          </a:prstGeom>
          <a:noFill/>
        </p:spPr>
        <p:txBody>
          <a:bodyPr wrap="square">
            <a:spAutoFit/>
          </a:bodyPr>
          <a:lstStyle/>
          <a:p>
            <a:pPr algn="l">
              <a:defRPr sz="3000" b="1">
                <a:solidFill>
                  <a:srgbClr val="FFFFFF"/>
                </a:solidFill>
              </a:defRPr>
            </a:pPr>
            <a:r>
              <a:t>Redesign One Rule</a:t>
            </a:r>
          </a:p>
        </p:txBody>
      </p:sp>
      <p:sp>
        <p:nvSpPr>
          <p:cNvPr id="4" name="TextBox 3"/>
          <p:cNvSpPr txBox="1"/>
          <p:nvPr/>
        </p:nvSpPr>
        <p:spPr>
          <a:xfrm>
            <a:off x="731520" y="1828800"/>
            <a:ext cx="10058400" cy="457200"/>
          </a:xfrm>
          <a:prstGeom prst="rect">
            <a:avLst/>
          </a:prstGeom>
          <a:noFill/>
        </p:spPr>
        <p:txBody>
          <a:bodyPr wrap="square">
            <a:spAutoFit/>
          </a:bodyPr>
          <a:lstStyle/>
          <a:p>
            <a:pPr algn="l">
              <a:defRPr sz="1400" b="0">
                <a:solidFill>
                  <a:srgbClr val="4EA8E6"/>
                </a:solidFill>
              </a:defRPr>
            </a:pPr>
            <a:r>
              <a:t>Tool: Paper or Padlet</a:t>
            </a:r>
          </a:p>
        </p:txBody>
      </p:sp>
      <p:sp>
        <p:nvSpPr>
          <p:cNvPr id="5" name="TextBox 4"/>
          <p:cNvSpPr txBox="1"/>
          <p:nvPr/>
        </p:nvSpPr>
        <p:spPr>
          <a:xfrm>
            <a:off x="731520" y="2377440"/>
            <a:ext cx="10058400" cy="1371600"/>
          </a:xfrm>
          <a:prstGeom prst="rect">
            <a:avLst/>
          </a:prstGeom>
          <a:noFill/>
        </p:spPr>
        <p:txBody>
          <a:bodyPr wrap="square">
            <a:spAutoFit/>
          </a:bodyPr>
          <a:lstStyle/>
          <a:p>
            <a:pPr algn="l">
              <a:defRPr sz="1800" b="0">
                <a:solidFill>
                  <a:srgbClr val="FFFFFF"/>
                </a:solidFill>
              </a:defRPr>
            </a:pPr>
            <a:r>
              <a:t>Each group picks one feature from their audited platform and redesigns it. Examples: 'All content auto-deletes after 24 hours', 'Reporting is one tap', 'Remove the algorithm — show everything chronologically', 'Full anonymity option'. For each: What improves? What gets worse? Who benefits? Who loses?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7315200" cy="457200"/>
          </a:xfrm>
          <a:prstGeom prst="rect">
            <a:avLst/>
          </a:prstGeom>
          <a:noFill/>
        </p:spPr>
        <p:txBody>
          <a:bodyPr wrap="square">
            <a:spAutoFit/>
          </a:bodyPr>
          <a:lstStyle/>
          <a:p>
            <a:pPr algn="l">
              <a:defRPr sz="1200" b="1">
                <a:solidFill>
                  <a:srgbClr val="4EA8E6"/>
                </a:solidFill>
              </a:defRPr>
            </a:pPr>
            <a:r>
              <a:t>DISCUSSION  •  15 min</a:t>
            </a:r>
          </a:p>
        </p:txBody>
      </p:sp>
      <p:sp>
        <p:nvSpPr>
          <p:cNvPr id="3" name="TextBox 2"/>
          <p:cNvSpPr txBox="1"/>
          <p:nvPr/>
        </p:nvSpPr>
        <p:spPr>
          <a:xfrm>
            <a:off x="731520" y="1005840"/>
            <a:ext cx="10058400" cy="914400"/>
          </a:xfrm>
          <a:prstGeom prst="rect">
            <a:avLst/>
          </a:prstGeom>
          <a:noFill/>
        </p:spPr>
        <p:txBody>
          <a:bodyPr wrap="square">
            <a:spAutoFit/>
          </a:bodyPr>
          <a:lstStyle/>
          <a:p>
            <a:pPr algn="l">
              <a:defRPr sz="3000" b="1">
                <a:solidFill>
                  <a:srgbClr val="FFFFFF"/>
                </a:solidFill>
              </a:defRPr>
            </a:pPr>
            <a:r>
              <a:t>Second-Order Effects</a:t>
            </a:r>
          </a:p>
        </p:txBody>
      </p:sp>
      <p:sp>
        <p:nvSpPr>
          <p:cNvPr id="4" name="TextBox 3"/>
          <p:cNvSpPr txBox="1"/>
          <p:nvPr/>
        </p:nvSpPr>
        <p:spPr>
          <a:xfrm>
            <a:off x="731520" y="2011680"/>
            <a:ext cx="10058400" cy="1371600"/>
          </a:xfrm>
          <a:prstGeom prst="rect">
            <a:avLst/>
          </a:prstGeom>
          <a:noFill/>
        </p:spPr>
        <p:txBody>
          <a:bodyPr wrap="square">
            <a:spAutoFit/>
          </a:bodyPr>
          <a:lstStyle/>
          <a:p>
            <a:pPr algn="l">
              <a:defRPr sz="1800" b="0">
                <a:solidFill>
                  <a:srgbClr val="FFFFFF"/>
                </a:solidFill>
              </a:defRPr>
            </a:pPr>
            <a:r>
              <a:t>Present your redesign. Other groups challenge: 'What about...?' 'Did you think about...?' 'Who gets harmed by this change?' The point: every design change has consequences you didn't plan for.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7315200" cy="457200"/>
          </a:xfrm>
          <a:prstGeom prst="rect">
            <a:avLst/>
          </a:prstGeom>
          <a:noFill/>
        </p:spPr>
        <p:txBody>
          <a:bodyPr wrap="square">
            <a:spAutoFit/>
          </a:bodyPr>
          <a:lstStyle/>
          <a:p>
            <a:pPr algn="l">
              <a:defRPr sz="1200" b="1">
                <a:solidFill>
                  <a:srgbClr val="4EA8E6"/>
                </a:solidFill>
              </a:defRPr>
            </a:pPr>
            <a:r>
              <a:t>DISCUSSION  •  15 min</a:t>
            </a:r>
          </a:p>
        </p:txBody>
      </p:sp>
      <p:sp>
        <p:nvSpPr>
          <p:cNvPr id="3" name="TextBox 2"/>
          <p:cNvSpPr txBox="1"/>
          <p:nvPr/>
        </p:nvSpPr>
        <p:spPr>
          <a:xfrm>
            <a:off x="731520" y="1005840"/>
            <a:ext cx="10058400" cy="914400"/>
          </a:xfrm>
          <a:prstGeom prst="rect">
            <a:avLst/>
          </a:prstGeom>
          <a:noFill/>
        </p:spPr>
        <p:txBody>
          <a:bodyPr wrap="square">
            <a:spAutoFit/>
          </a:bodyPr>
          <a:lstStyle/>
          <a:p>
            <a:pPr algn="l">
              <a:defRPr sz="3000" b="1">
                <a:solidFill>
                  <a:srgbClr val="FFFFFF"/>
                </a:solidFill>
              </a:defRPr>
            </a:pPr>
            <a:r>
              <a:t>Platform Recommendations</a:t>
            </a:r>
          </a:p>
        </p:txBody>
      </p:sp>
      <p:sp>
        <p:nvSpPr>
          <p:cNvPr id="4" name="TextBox 3"/>
          <p:cNvSpPr txBox="1"/>
          <p:nvPr/>
        </p:nvSpPr>
        <p:spPr>
          <a:xfrm>
            <a:off x="731520" y="1828800"/>
            <a:ext cx="10058400" cy="457200"/>
          </a:xfrm>
          <a:prstGeom prst="rect">
            <a:avLst/>
          </a:prstGeom>
          <a:noFill/>
        </p:spPr>
        <p:txBody>
          <a:bodyPr wrap="square">
            <a:spAutoFit/>
          </a:bodyPr>
          <a:lstStyle/>
          <a:p>
            <a:pPr algn="l">
              <a:defRPr sz="1400" b="0">
                <a:solidFill>
                  <a:srgbClr val="4EA8E6"/>
                </a:solidFill>
              </a:defRPr>
            </a:pPr>
            <a:r>
              <a:t>Tool: Padlet</a:t>
            </a:r>
          </a:p>
        </p:txBody>
      </p:sp>
      <p:sp>
        <p:nvSpPr>
          <p:cNvPr id="5" name="TextBox 4"/>
          <p:cNvSpPr txBox="1"/>
          <p:nvPr/>
        </p:nvSpPr>
        <p:spPr>
          <a:xfrm>
            <a:off x="731520" y="2377440"/>
            <a:ext cx="10058400" cy="1371600"/>
          </a:xfrm>
          <a:prstGeom prst="rect">
            <a:avLst/>
          </a:prstGeom>
          <a:noFill/>
        </p:spPr>
        <p:txBody>
          <a:bodyPr wrap="square">
            <a:spAutoFit/>
          </a:bodyPr>
          <a:lstStyle/>
          <a:p>
            <a:pPr algn="l">
              <a:defRPr sz="1800" b="0">
                <a:solidFill>
                  <a:srgbClr val="FFFFFF"/>
                </a:solidFill>
              </a:defRPr>
            </a:pPr>
            <a:r>
              <a:t>Based on your audit, write a 3-sentence recommendation: Should youth workers use this platform with young people? Under what conditions? What must be set up first? Post to a shared Padlet.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3657600" cy="457200"/>
          </a:xfrm>
          <a:prstGeom prst="rect">
            <a:avLst/>
          </a:prstGeom>
          <a:noFill/>
        </p:spPr>
        <p:txBody>
          <a:bodyPr wrap="square">
            <a:spAutoFit/>
          </a:bodyPr>
          <a:lstStyle/>
          <a:p>
            <a:pPr algn="l">
              <a:defRPr sz="1400" b="1">
                <a:solidFill>
                  <a:srgbClr val="4EA8E6"/>
                </a:solidFill>
              </a:defRPr>
            </a:pPr>
            <a:r>
              <a:t>CLOSING</a:t>
            </a:r>
          </a:p>
        </p:txBody>
      </p:sp>
      <p:sp>
        <p:nvSpPr>
          <p:cNvPr id="3" name="TextBox 2"/>
          <p:cNvSpPr txBox="1"/>
          <p:nvPr/>
        </p:nvSpPr>
        <p:spPr>
          <a:xfrm>
            <a:off x="731520" y="731520"/>
            <a:ext cx="3657600" cy="365760"/>
          </a:xfrm>
          <a:prstGeom prst="rect">
            <a:avLst/>
          </a:prstGeom>
          <a:noFill/>
        </p:spPr>
        <p:txBody>
          <a:bodyPr wrap="square">
            <a:spAutoFit/>
          </a:bodyPr>
          <a:lstStyle/>
          <a:p>
            <a:pPr algn="l">
              <a:defRPr sz="1200" b="0">
                <a:solidFill>
                  <a:srgbClr val="AAAAAA"/>
                </a:solidFill>
              </a:defRPr>
            </a:pPr>
            <a:r>
              <a:t>150 – 180 min</a:t>
            </a:r>
          </a:p>
        </p:txBody>
      </p:sp>
      <p:sp>
        <p:nvSpPr>
          <p:cNvPr id="4" name="TextBox 3"/>
          <p:cNvSpPr txBox="1"/>
          <p:nvPr/>
        </p:nvSpPr>
        <p:spPr>
          <a:xfrm>
            <a:off x="731520" y="1645920"/>
            <a:ext cx="10058400" cy="1828800"/>
          </a:xfrm>
          <a:prstGeom prst="rect">
            <a:avLst/>
          </a:prstGeom>
          <a:noFill/>
        </p:spPr>
        <p:txBody>
          <a:bodyPr wrap="square">
            <a:spAutoFit/>
          </a:bodyPr>
          <a:lstStyle/>
          <a:p>
            <a:pPr algn="l">
              <a:defRPr sz="3400" b="1">
                <a:solidFill>
                  <a:srgbClr val="FFFFFF"/>
                </a:solidFill>
              </a:defRPr>
            </a:pPr>
            <a:r>
              <a:t>"Which adult instincts make young people less safe online?"</a:t>
            </a:r>
          </a:p>
        </p:txBody>
      </p:sp>
      <p:sp>
        <p:nvSpPr>
          <p:cNvPr id="5" name="TextBox 4"/>
          <p:cNvSpPr txBox="1"/>
          <p:nvPr/>
        </p:nvSpPr>
        <p:spPr>
          <a:xfrm>
            <a:off x="731520" y="3840480"/>
            <a:ext cx="9144000" cy="1828800"/>
          </a:xfrm>
          <a:prstGeom prst="rect">
            <a:avLst/>
          </a:prstGeom>
          <a:noFill/>
        </p:spPr>
        <p:txBody>
          <a:bodyPr wrap="square">
            <a:spAutoFit/>
          </a:bodyPr>
          <a:lstStyle/>
          <a:p>
            <a:pPr algn="l">
              <a:defRPr sz="1700" b="0">
                <a:solidFill>
                  <a:srgbClr val="AAAAAA"/>
                </a:solidFill>
              </a:defRPr>
            </a:pPr>
            <a:r>
              <a:t>Telling young people to 'be careful online' addresses nothing structural. Sometimes the instinct to control, monitor, or restrict pushes young people towards less safe behaviour.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7315200" cy="457200"/>
          </a:xfrm>
          <a:prstGeom prst="rect">
            <a:avLst/>
          </a:prstGeom>
          <a:noFill/>
        </p:spPr>
        <p:txBody>
          <a:bodyPr wrap="square">
            <a:spAutoFit/>
          </a:bodyPr>
          <a:lstStyle/>
          <a:p>
            <a:pPr algn="l">
              <a:defRPr sz="1200" b="1">
                <a:solidFill>
                  <a:srgbClr val="4EA8E6"/>
                </a:solidFill>
              </a:defRPr>
            </a:pPr>
            <a:r>
              <a:t>CLOSING  •  10 min</a:t>
            </a:r>
          </a:p>
        </p:txBody>
      </p:sp>
      <p:sp>
        <p:nvSpPr>
          <p:cNvPr id="3" name="TextBox 2"/>
          <p:cNvSpPr txBox="1"/>
          <p:nvPr/>
        </p:nvSpPr>
        <p:spPr>
          <a:xfrm>
            <a:off x="731520" y="1005840"/>
            <a:ext cx="10058400" cy="914400"/>
          </a:xfrm>
          <a:prstGeom prst="rect">
            <a:avLst/>
          </a:prstGeom>
          <a:noFill/>
        </p:spPr>
        <p:txBody>
          <a:bodyPr wrap="square">
            <a:spAutoFit/>
          </a:bodyPr>
          <a:lstStyle/>
          <a:p>
            <a:pPr algn="l">
              <a:defRPr sz="3000" b="1">
                <a:solidFill>
                  <a:srgbClr val="FFFFFF"/>
                </a:solidFill>
              </a:defRPr>
            </a:pPr>
            <a:r>
              <a:t>Instinct Check</a:t>
            </a:r>
          </a:p>
        </p:txBody>
      </p:sp>
      <p:sp>
        <p:nvSpPr>
          <p:cNvPr id="4" name="TextBox 3"/>
          <p:cNvSpPr txBox="1"/>
          <p:nvPr/>
        </p:nvSpPr>
        <p:spPr>
          <a:xfrm>
            <a:off x="731520" y="1828800"/>
            <a:ext cx="10058400" cy="457200"/>
          </a:xfrm>
          <a:prstGeom prst="rect">
            <a:avLst/>
          </a:prstGeom>
          <a:noFill/>
        </p:spPr>
        <p:txBody>
          <a:bodyPr wrap="square">
            <a:spAutoFit/>
          </a:bodyPr>
          <a:lstStyle/>
          <a:p>
            <a:pPr algn="l">
              <a:defRPr sz="1400" b="0">
                <a:solidFill>
                  <a:srgbClr val="4EA8E6"/>
                </a:solidFill>
              </a:defRPr>
            </a:pPr>
            <a:r>
              <a:t>Tool: Mentimeter</a:t>
            </a:r>
          </a:p>
        </p:txBody>
      </p:sp>
      <p:sp>
        <p:nvSpPr>
          <p:cNvPr id="5" name="TextBox 4"/>
          <p:cNvSpPr txBox="1"/>
          <p:nvPr/>
        </p:nvSpPr>
        <p:spPr>
          <a:xfrm>
            <a:off x="731520" y="2377440"/>
            <a:ext cx="10058400" cy="1371600"/>
          </a:xfrm>
          <a:prstGeom prst="rect">
            <a:avLst/>
          </a:prstGeom>
          <a:noFill/>
        </p:spPr>
        <p:txBody>
          <a:bodyPr wrap="square">
            <a:spAutoFit/>
          </a:bodyPr>
          <a:lstStyle/>
          <a:p>
            <a:pPr algn="l">
              <a:defRPr sz="1800" b="0">
                <a:solidFill>
                  <a:srgbClr val="FFFFFF"/>
                </a:solidFill>
              </a:defRPr>
            </a:pPr>
            <a:r>
              <a:t>Submit one 'adult instinct' that might actually make things worse. Show results. Discuss the top 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7315200" cy="457200"/>
          </a:xfrm>
          <a:prstGeom prst="rect">
            <a:avLst/>
          </a:prstGeom>
          <a:noFill/>
        </p:spPr>
        <p:txBody>
          <a:bodyPr wrap="square">
            <a:spAutoFit/>
          </a:bodyPr>
          <a:lstStyle/>
          <a:p>
            <a:pPr algn="l">
              <a:defRPr sz="1200" b="1">
                <a:solidFill>
                  <a:srgbClr val="4EA8E6"/>
                </a:solidFill>
              </a:defRPr>
            </a:pPr>
            <a:r>
              <a:t>CLOSING  •  5 min</a:t>
            </a:r>
          </a:p>
        </p:txBody>
      </p:sp>
      <p:sp>
        <p:nvSpPr>
          <p:cNvPr id="3" name="TextBox 2"/>
          <p:cNvSpPr txBox="1"/>
          <p:nvPr/>
        </p:nvSpPr>
        <p:spPr>
          <a:xfrm>
            <a:off x="731520" y="1005840"/>
            <a:ext cx="10058400" cy="914400"/>
          </a:xfrm>
          <a:prstGeom prst="rect">
            <a:avLst/>
          </a:prstGeom>
          <a:noFill/>
        </p:spPr>
        <p:txBody>
          <a:bodyPr wrap="square">
            <a:spAutoFit/>
          </a:bodyPr>
          <a:lstStyle/>
          <a:p>
            <a:pPr algn="l">
              <a:defRPr sz="3000" b="1">
                <a:solidFill>
                  <a:srgbClr val="FFFFFF"/>
                </a:solidFill>
              </a:defRPr>
            </a:pPr>
            <a:r>
              <a:t>Exit Ticket</a:t>
            </a:r>
          </a:p>
        </p:txBody>
      </p:sp>
      <p:sp>
        <p:nvSpPr>
          <p:cNvPr id="4" name="TextBox 3"/>
          <p:cNvSpPr txBox="1"/>
          <p:nvPr/>
        </p:nvSpPr>
        <p:spPr>
          <a:xfrm>
            <a:off x="731520" y="2011680"/>
            <a:ext cx="10058400" cy="1371600"/>
          </a:xfrm>
          <a:prstGeom prst="rect">
            <a:avLst/>
          </a:prstGeom>
          <a:noFill/>
        </p:spPr>
        <p:txBody>
          <a:bodyPr wrap="square">
            <a:spAutoFit/>
          </a:bodyPr>
          <a:lstStyle/>
          <a:p>
            <a:pPr algn="l">
              <a:defRPr sz="1800" b="0">
                <a:solidFill>
                  <a:srgbClr val="FFFFFF"/>
                </a:solidFill>
              </a:defRPr>
            </a:pPr>
            <a:r>
              <a:t>Sticky note: One platform you'll audit this week. One thing you'll share with your team.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TextBox 1"/>
          <p:cNvSpPr txBox="1"/>
          <p:nvPr/>
        </p:nvSpPr>
        <p:spPr>
          <a:xfrm>
            <a:off x="731520" y="457200"/>
            <a:ext cx="3657600" cy="457200"/>
          </a:xfrm>
          <a:prstGeom prst="rect">
            <a:avLst/>
          </a:prstGeom>
          <a:noFill/>
        </p:spPr>
        <p:txBody>
          <a:bodyPr wrap="square">
            <a:spAutoFit/>
          </a:bodyPr>
          <a:lstStyle/>
          <a:p>
            <a:pPr algn="l">
              <a:defRPr sz="1400" b="1">
                <a:solidFill>
                  <a:srgbClr val="4EA8E6"/>
                </a:solidFill>
              </a:defRPr>
            </a:pPr>
            <a:r>
              <a:t>YOUR TAKEAWAY</a:t>
            </a:r>
          </a:p>
        </p:txBody>
      </p:sp>
      <p:sp>
        <p:nvSpPr>
          <p:cNvPr id="3" name="TextBox 2"/>
          <p:cNvSpPr txBox="1"/>
          <p:nvPr/>
        </p:nvSpPr>
        <p:spPr>
          <a:xfrm>
            <a:off x="731520" y="1828800"/>
            <a:ext cx="10058400" cy="1828800"/>
          </a:xfrm>
          <a:prstGeom prst="rect">
            <a:avLst/>
          </a:prstGeom>
          <a:noFill/>
        </p:spPr>
        <p:txBody>
          <a:bodyPr wrap="square">
            <a:spAutoFit/>
          </a:bodyPr>
          <a:lstStyle/>
          <a:p>
            <a:pPr algn="l">
              <a:defRPr sz="2600" b="1">
                <a:solidFill>
                  <a:srgbClr val="FFFFFF"/>
                </a:solidFill>
              </a:defRPr>
            </a:pPr>
            <a:r>
              <a:t>Audit one platform your young people use. Use the 5 criteria. Share findings with your team within two weeks.</a:t>
            </a:r>
          </a:p>
        </p:txBody>
      </p:sp>
      <p:sp>
        <p:nvSpPr>
          <p:cNvPr id="4" name="TextBox 3"/>
          <p:cNvSpPr txBox="1"/>
          <p:nvPr/>
        </p:nvSpPr>
        <p:spPr>
          <a:xfrm>
            <a:off x="731520" y="5029200"/>
            <a:ext cx="10058400" cy="914400"/>
          </a:xfrm>
          <a:prstGeom prst="rect">
            <a:avLst/>
          </a:prstGeom>
          <a:noFill/>
        </p:spPr>
        <p:txBody>
          <a:bodyPr wrap="square">
            <a:spAutoFit/>
          </a:bodyPr>
          <a:lstStyle/>
          <a:p>
            <a:pPr algn="l">
              <a:defRPr sz="1600" b="0">
                <a:solidFill>
                  <a:srgbClr val="AAAAAA"/>
                </a:solidFill>
              </a:defRPr>
            </a:pPr>
            <a:r>
              <a:t>Next: Session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