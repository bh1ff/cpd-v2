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6784848"/>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7796" y="6784848"/>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png"/>
          <p:cNvPicPr>
            <a:picLocks noChangeAspect="1"/>
          </p:cNvPicPr>
          <p:nvPr/>
        </p:nvPicPr>
        <p:blipFill>
          <a:blip r:embed="rId2"/>
          <a:stretch>
            <a:fillRect/>
          </a:stretch>
        </p:blipFill>
        <p:spPr>
          <a:xfrm>
            <a:off x="457200" y="365760"/>
            <a:ext cx="1967643" cy="457200"/>
          </a:xfrm>
          <a:prstGeom prst="rect">
            <a:avLst/>
          </a:prstGeom>
        </p:spPr>
      </p:pic>
      <p:sp>
        <p:nvSpPr>
          <p:cNvPr id="9" name="TextBox 8"/>
          <p:cNvSpPr txBox="1"/>
          <p:nvPr/>
        </p:nvSpPr>
        <p:spPr>
          <a:xfrm>
            <a:off x="731520" y="1463040"/>
            <a:ext cx="10058400" cy="457200"/>
          </a:xfrm>
          <a:prstGeom prst="rect">
            <a:avLst/>
          </a:prstGeom>
          <a:noFill/>
        </p:spPr>
        <p:txBody>
          <a:bodyPr wrap="square" lIns="0" rIns="0">
            <a:spAutoFit/>
          </a:bodyPr>
          <a:lstStyle/>
          <a:p>
            <a:pPr algn="l">
              <a:defRPr sz="1400" b="1">
                <a:solidFill>
                  <a:srgbClr val="00D4DB"/>
                </a:solidFill>
                <a:latin typeface="Calibri"/>
              </a:defRPr>
            </a:pPr>
            <a:r>
              <a:t>Session 6 of 6  ·  Digital Youth Work CPD</a:t>
            </a:r>
          </a:p>
        </p:txBody>
      </p:sp>
      <p:sp>
        <p:nvSpPr>
          <p:cNvPr id="10" name="TextBox 9"/>
          <p:cNvSpPr txBox="1"/>
          <p:nvPr/>
        </p:nvSpPr>
        <p:spPr>
          <a:xfrm>
            <a:off x="731520" y="2103120"/>
            <a:ext cx="10515600" cy="2286000"/>
          </a:xfrm>
          <a:prstGeom prst="rect">
            <a:avLst/>
          </a:prstGeom>
          <a:noFill/>
        </p:spPr>
        <p:txBody>
          <a:bodyPr wrap="square" lIns="0" rIns="0">
            <a:spAutoFit/>
          </a:bodyPr>
          <a:lstStyle/>
          <a:p>
            <a:pPr algn="l">
              <a:defRPr sz="5200" b="1">
                <a:solidFill>
                  <a:srgbClr val="FFFFFF"/>
                </a:solidFill>
                <a:latin typeface="Calibri"/>
              </a:defRPr>
            </a:pPr>
            <a:r>
              <a:t>Build Something Real</a:t>
            </a:r>
          </a:p>
        </p:txBody>
      </p:sp>
      <p:sp>
        <p:nvSpPr>
          <p:cNvPr id="11" name="TextBox 10"/>
          <p:cNvSpPr txBox="1"/>
          <p:nvPr/>
        </p:nvSpPr>
        <p:spPr>
          <a:xfrm>
            <a:off x="731520" y="4389120"/>
            <a:ext cx="10058400" cy="1371600"/>
          </a:xfrm>
          <a:prstGeom prst="rect">
            <a:avLst/>
          </a:prstGeom>
          <a:noFill/>
        </p:spPr>
        <p:txBody>
          <a:bodyPr wrap="square" lIns="0" rIns="0">
            <a:spAutoFit/>
          </a:bodyPr>
          <a:lstStyle/>
          <a:p>
            <a:pPr algn="l">
              <a:defRPr sz="1700" b="0">
                <a:solidFill>
                  <a:srgbClr val="B8B8D0"/>
                </a:solidFill>
                <a:latin typeface="Calibri"/>
              </a:defRPr>
            </a:pPr>
            <a:r>
              <a:t>Practitioners build, test, and iterate a functional digital youth work activity — and leave with a working prototype they can deploy with a real group within 4 weeks.</a:t>
            </a:r>
          </a:p>
        </p:txBody>
      </p:sp>
      <p:pic>
        <p:nvPicPr>
          <p:cNvPr id="12" name="Picture 11" descr="mascot.png"/>
          <p:cNvPicPr>
            <a:picLocks noChangeAspect="1"/>
          </p:cNvPicPr>
          <p:nvPr/>
        </p:nvPicPr>
        <p:blipFill>
          <a:blip r:embed="rId3"/>
          <a:stretch>
            <a:fillRect/>
          </a:stretch>
        </p:blipFill>
        <p:spPr>
          <a:xfrm>
            <a:off x="10332720" y="4846320"/>
            <a:ext cx="1187037" cy="1463040"/>
          </a:xfrm>
          <a:prstGeom prst="rect">
            <a:avLst/>
          </a:prstGeom>
        </p:spPr>
      </p:pic>
      <p:sp>
        <p:nvSpPr>
          <p:cNvPr id="13" name="TextBox 12"/>
          <p:cNvSpPr txBox="1"/>
          <p:nvPr/>
        </p:nvSpPr>
        <p:spPr>
          <a:xfrm>
            <a:off x="731520" y="6217920"/>
            <a:ext cx="5486400" cy="274320"/>
          </a:xfrm>
          <a:prstGeom prst="rect">
            <a:avLst/>
          </a:prstGeom>
          <a:noFill/>
        </p:spPr>
        <p:txBody>
          <a:bodyPr wrap="square" lIns="0" rIns="0">
            <a:spAutoFit/>
          </a:bodyPr>
          <a:lstStyle/>
          <a:p>
            <a:pPr algn="l">
              <a:defRPr sz="1100" b="1">
                <a:solidFill>
                  <a:srgbClr val="7B7B96"/>
                </a:solidFill>
                <a:latin typeface="Calibri"/>
              </a:defRPr>
            </a:pPr>
            <a:r>
              <a:t>Robocode × 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5486400" cy="365760"/>
          </a:xfrm>
          <a:prstGeom prst="rect">
            <a:avLst/>
          </a:prstGeom>
          <a:noFill/>
        </p:spPr>
        <p:txBody>
          <a:bodyPr wrap="square" lIns="0" rIns="0">
            <a:spAutoFit/>
          </a:bodyPr>
          <a:lstStyle/>
          <a:p>
            <a:pPr algn="l">
              <a:defRPr sz="1300" b="1">
                <a:solidFill>
                  <a:srgbClr val="7B61FF"/>
                </a:solidFill>
                <a:latin typeface="Calibri"/>
              </a:defRPr>
            </a:pPr>
            <a:r>
              <a:t>LEARNING OBJECTIVES</a:t>
            </a:r>
          </a:p>
        </p:txBody>
      </p:sp>
      <p:sp>
        <p:nvSpPr>
          <p:cNvPr id="6" name="TextBox 5"/>
          <p:cNvSpPr txBox="1"/>
          <p:nvPr/>
        </p:nvSpPr>
        <p:spPr>
          <a:xfrm>
            <a:off x="731520" y="914400"/>
            <a:ext cx="10058400" cy="640080"/>
          </a:xfrm>
          <a:prstGeom prst="rect">
            <a:avLst/>
          </a:prstGeom>
          <a:noFill/>
        </p:spPr>
        <p:txBody>
          <a:bodyPr wrap="square" lIns="0" rIns="0">
            <a:spAutoFit/>
          </a:bodyPr>
          <a:lstStyle/>
          <a:p>
            <a:pPr algn="l">
              <a:defRPr sz="3200" b="1">
                <a:solidFill>
                  <a:srgbClr val="FFFFFF"/>
                </a:solidFill>
                <a:latin typeface="Calibri"/>
              </a:defRPr>
            </a:pPr>
            <a:r>
              <a:t>What we're here to do</a:t>
            </a:r>
          </a:p>
        </p:txBody>
      </p:sp>
      <p:sp>
        <p:nvSpPr>
          <p:cNvPr id="7" name="TextBox 6"/>
          <p:cNvSpPr txBox="1"/>
          <p:nvPr/>
        </p:nvSpPr>
        <p:spPr>
          <a:xfrm>
            <a:off x="731520" y="2011680"/>
            <a:ext cx="4572000" cy="365760"/>
          </a:xfrm>
          <a:prstGeom prst="rect">
            <a:avLst/>
          </a:prstGeom>
          <a:noFill/>
        </p:spPr>
        <p:txBody>
          <a:bodyPr wrap="square" lIns="0" rIns="0">
            <a:spAutoFit/>
          </a:bodyPr>
          <a:lstStyle/>
          <a:p>
            <a:pPr algn="l">
              <a:defRPr sz="1200" b="1">
                <a:solidFill>
                  <a:srgbClr val="00D4DB"/>
                </a:solidFill>
                <a:latin typeface="Calibri"/>
              </a:defRPr>
            </a:pPr>
            <a:r>
              <a:t>AIM</a:t>
            </a:r>
          </a:p>
        </p:txBody>
      </p:sp>
      <p:sp>
        <p:nvSpPr>
          <p:cNvPr id="8" name="TextBox 7"/>
          <p:cNvSpPr txBox="1"/>
          <p:nvPr/>
        </p:nvSpPr>
        <p:spPr>
          <a:xfrm>
            <a:off x="731520" y="2331720"/>
            <a:ext cx="10515600" cy="1188720"/>
          </a:xfrm>
          <a:prstGeom prst="rect">
            <a:avLst/>
          </a:prstGeom>
          <a:noFill/>
        </p:spPr>
        <p:txBody>
          <a:bodyPr wrap="square" lIns="0" rIns="0">
            <a:spAutoFit/>
          </a:bodyPr>
          <a:lstStyle/>
          <a:p>
            <a:pPr algn="l">
              <a:defRPr sz="1400" b="0">
                <a:solidFill>
                  <a:srgbClr val="B8B8D0"/>
                </a:solidFill>
                <a:latin typeface="Calibri"/>
              </a:defRPr>
            </a:pPr>
            <a:r>
              <a:t>Practitioners build, test, and iterate a functional digital youth work activity — and leave with a working prototype they can deploy with a real group within 4 weeks.</a:t>
            </a:r>
          </a:p>
        </p:txBody>
      </p:sp>
      <p:sp>
        <p:nvSpPr>
          <p:cNvPr id="9" name="TextBox 8"/>
          <p:cNvSpPr txBox="1"/>
          <p:nvPr/>
        </p:nvSpPr>
        <p:spPr>
          <a:xfrm>
            <a:off x="731520" y="3566160"/>
            <a:ext cx="4572000" cy="365760"/>
          </a:xfrm>
          <a:prstGeom prst="rect">
            <a:avLst/>
          </a:prstGeom>
          <a:noFill/>
        </p:spPr>
        <p:txBody>
          <a:bodyPr wrap="square" lIns="0" rIns="0">
            <a:spAutoFit/>
          </a:bodyPr>
          <a:lstStyle/>
          <a:p>
            <a:pPr algn="l">
              <a:defRPr sz="1200" b="1">
                <a:solidFill>
                  <a:srgbClr val="00D4DB"/>
                </a:solidFill>
                <a:latin typeface="Calibri"/>
              </a:defRPr>
            </a:pPr>
            <a:r>
              <a:t>OBJECTIVES</a:t>
            </a:r>
          </a:p>
        </p:txBody>
      </p:sp>
      <p:sp>
        <p:nvSpPr>
          <p:cNvPr id="10" name="TextBox 9"/>
          <p:cNvSpPr txBox="1"/>
          <p:nvPr/>
        </p:nvSpPr>
        <p:spPr>
          <a:xfrm>
            <a:off x="731520" y="3886200"/>
            <a:ext cx="10515600" cy="2286000"/>
          </a:xfrm>
          <a:prstGeom prst="rect">
            <a:avLst/>
          </a:prstGeom>
          <a:noFill/>
        </p:spPr>
        <p:txBody>
          <a:bodyPr wrap="square" lIns="0">
            <a:spAutoFit/>
          </a:bodyPr>
          <a:lstStyle/>
          <a:p>
            <a:pPr>
              <a:spcAft>
                <a:spcPts val="800"/>
              </a:spcAft>
              <a:defRPr sz="1300">
                <a:solidFill>
                  <a:srgbClr val="FFFFFF"/>
                </a:solidFill>
                <a:latin typeface="Calibri"/>
              </a:defRPr>
            </a:pPr>
            <a:r>
              <a:t>•  Build a working digital youth work activity in a strict 45-minute time box</a:t>
            </a:r>
          </a:p>
          <a:p>
            <a:pPr>
              <a:spcAft>
                <a:spcPts val="800"/>
              </a:spcAft>
              <a:defRPr sz="1300">
                <a:solidFill>
                  <a:srgbClr val="FFFFFF"/>
                </a:solidFill>
                <a:latin typeface="Calibri"/>
              </a:defRPr>
            </a:pPr>
            <a:r>
              <a:t>•  Submit the prototype to structured peer testing and receive evidence-based feedback</a:t>
            </a:r>
          </a:p>
          <a:p>
            <a:pPr>
              <a:spcAft>
                <a:spcPts val="800"/>
              </a:spcAft>
              <a:defRPr sz="1300">
                <a:solidFill>
                  <a:srgbClr val="FFFFFF"/>
                </a:solidFill>
                <a:latin typeface="Calibri"/>
              </a:defRPr>
            </a:pPr>
            <a:r>
              <a:t>•  Iterate on the prototype against four quality criteria: Participation, Safety, Agency, Adaptability</a:t>
            </a:r>
          </a:p>
          <a:p>
            <a:pPr>
              <a:spcAft>
                <a:spcPts val="800"/>
              </a:spcAft>
              <a:defRPr sz="1300">
                <a:solidFill>
                  <a:srgbClr val="FFFFFF"/>
                </a:solidFill>
                <a:latin typeface="Calibri"/>
              </a:defRPr>
            </a:pPr>
            <a:r>
              <a:t>•  Evaluate the six-session CPD programme against the standards you now hold</a:t>
            </a:r>
          </a:p>
        </p:txBody>
      </p:sp>
      <p:sp>
        <p:nvSpPr>
          <p:cNvPr id="11" name="TextBox 10"/>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D4DB"/>
                </a:solidFill>
                <a:latin typeface="Calibri"/>
              </a:defRPr>
            </a:pPr>
            <a:r>
              <a:t>DISCOVER</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0 – 15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"What does good digital youth work look like?"</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You've spent five sessions learning about digital spaces, values, safeguarding, engagement mechanics, corporate power and young people's agency. Now describe what good actually looks like — not in theory, but from what you've seen and done. Today you build to those standards.</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Best Moment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Sticky note, 60 seconds. Write one sentence: the best digital interaction you've had with a young person — or observed someone else have. Stick it on the wall. Read a few aloud. What made it work? Pull out 2–3 common ingredients.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Worst Moment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Flip. Different-colour sticky, 60 seconds. One sentence: the worst digital interaction you've had or observed. What broke it? Put the best wall and the worst wall side by side. The contrast is the brief for today.</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Quality Criteria Vote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 ranking</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Four criteria on screen: Participation · Safety · Agency · Adaptability. Rank them in order of importance for YOUR group (not in general — YOUR group). Show results. Discuss where the room disagrees. No 'right' answer — just a clearer sense of what you're building toward.</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Name a Good One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90 seconds. Name a digital youth work activity someone else runs that actually works — from another organisation, an online example, an informal community, anything. What makes it work? Share one back to the room. Build a quick wall of real, existing good practice to steal from.</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Choose Test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One question, on screen, in silence for 60 seconds: 'Would the young people I work with CHOOSE to do this — if nothing compelled them to?' Hold that question. You'll hand it back to yourself every 15 minutes from now on.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E91E8C"/>
                </a:solidFill>
                <a:latin typeface="Calibri"/>
              </a:defRPr>
            </a:pPr>
            <a:r>
              <a:t>ACTIVITY</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 – 75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Activity</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6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Define Your Group</a:t>
            </a:r>
          </a:p>
          <a:p>
            <a:pPr>
              <a:spcAft>
                <a:spcPts val="800"/>
              </a:spcAft>
              <a:defRPr sz="1600">
                <a:solidFill>
                  <a:srgbClr val="FFFFFF"/>
                </a:solidFill>
                <a:latin typeface="Calibri"/>
              </a:defRPr>
            </a:pPr>
            <a:r>
              <a:t>→  Pick Your Tool</a:t>
            </a:r>
          </a:p>
          <a:p>
            <a:pPr>
              <a:spcAft>
                <a:spcPts val="800"/>
              </a:spcAft>
              <a:defRPr sz="1600">
                <a:solidFill>
                  <a:srgbClr val="FFFFFF"/>
                </a:solidFill>
                <a:latin typeface="Calibri"/>
              </a:defRPr>
            </a:pPr>
            <a:r>
              <a:t>→  Build It (45 min — strict)</a:t>
            </a:r>
          </a:p>
          <a:p>
            <a:pPr>
              <a:spcAft>
                <a:spcPts val="800"/>
              </a:spcAft>
              <a:defRPr sz="1600">
                <a:solidFill>
                  <a:srgbClr val="FFFFFF"/>
                </a:solidFill>
                <a:latin typeface="Calibri"/>
              </a:defRPr>
            </a:pPr>
            <a:r>
              <a:t>→  One-Sentence Elevator</a:t>
            </a:r>
          </a:p>
          <a:p>
            <a:pPr>
              <a:spcAft>
                <a:spcPts val="800"/>
              </a:spcAft>
              <a:defRPr sz="1600">
                <a:solidFill>
                  <a:srgbClr val="FFFFFF"/>
                </a:solidFill>
                <a:latin typeface="Calibri"/>
              </a:defRPr>
            </a:pPr>
            <a:r>
              <a:t>→  Self-Check</a:t>
            </a:r>
          </a:p>
          <a:p>
            <a:pPr>
              <a:spcAft>
                <a:spcPts val="800"/>
              </a:spcAft>
              <a:defRPr sz="1600">
                <a:solidFill>
                  <a:srgbClr val="FFFFFF"/>
                </a:solidFill>
                <a:latin typeface="Calibri"/>
              </a:defRPr>
            </a:pPr>
            <a:r>
              <a:t>→  Readiness Stand-Up</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Define Your Group</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Index card. 5 minutes. Write: Who is this for? (age, context, what's going on for them) · What do they actually need? · What do they already have? · What tool will you use? Keep it specific — 'young people' is not a group. '14–16 year olds in a drop-in on Thursday nights' is a group.</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Pick Your Tool</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your card: pick ONE tool from anything in the course. Kahoot, Padlet, Mentimeter, Google Forms, WhatsApp, Discord, pen and paper, voice notes, whatever. Constraint: a tool you can actually set up in the next 45 minutes. If you have to learn it first, pick a different one.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Build It (45 min — strict)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Any tool from the course</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Build a WORKING activity. Not a plan. Not a slide deck. Not a proposal. Something another person could run right now, today, as-is. Three rules: must be functional (not a mock-up). Must be for your specific named group. Must be completable by them without you in the room explaining it. If you're still planning at the 10-minute mark, stop planning and start building.</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One-Sentence Elevator</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Before self-check: write one sentence on the card. 'My activity helps [who] do [what] using [tool] in [time].' If you can't write that sentence cleanly, you haven't finished building — you've built something else.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Self-Check</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Before peer testing, rate your OWN activity against the 4 criteria. Participation · Safety · Agency · Adaptability. Score each 1–5. Write it on a second card. Fold it. Keep it — you'll compare against peer scores later. No cheating — your current honest estimate.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Readiness Stand-Up</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Stand up only if: your activity is actually ready to run right now · you could hand the phone or screen to a stranger and it would make sense · it takes under 15 minutes · it has a clear ending. Who's still sitting? That's the honest signal. The ones sitting get 5 extra minutes — everyone else moves to peer testing.</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7B61FF"/>
                </a:solidFill>
                <a:latin typeface="Calibri"/>
              </a:defRPr>
            </a:pPr>
            <a:r>
              <a:t>KEY IDEAS</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75 – 95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What Good Looks Like — Four Criteria, Three Failures</a:t>
            </a:r>
          </a:p>
        </p:txBody>
      </p:sp>
      <p:sp>
        <p:nvSpPr>
          <p:cNvPr id="6" name="TextBox 5"/>
          <p:cNvSpPr txBox="1"/>
          <p:nvPr/>
        </p:nvSpPr>
        <p:spPr>
          <a:xfrm>
            <a:off x="731520" y="3200400"/>
            <a:ext cx="10515600" cy="3200400"/>
          </a:xfrm>
          <a:prstGeom prst="rect">
            <a:avLst/>
          </a:prstGeom>
          <a:noFill/>
        </p:spPr>
        <p:txBody>
          <a:bodyPr wrap="square" lIns="0">
            <a:spAutoFit/>
          </a:bodyPr>
          <a:lstStyle/>
          <a:p>
            <a:pPr>
              <a:spcAft>
                <a:spcPts val="800"/>
              </a:spcAft>
              <a:defRPr sz="1700">
                <a:solidFill>
                  <a:srgbClr val="FFFFFF"/>
                </a:solidFill>
                <a:latin typeface="Calibri"/>
              </a:defRPr>
            </a:pPr>
            <a:r>
              <a:t>•  Participation — young people are genuinely engaged, not compliant. Would they choose to do this if nothing compelled them?</a:t>
            </a:r>
          </a:p>
          <a:p>
            <a:pPr>
              <a:spcAft>
                <a:spcPts val="800"/>
              </a:spcAft>
              <a:defRPr sz="1700">
                <a:solidFill>
                  <a:srgbClr val="FFFFFF"/>
                </a:solidFill>
                <a:latin typeface="Calibri"/>
              </a:defRPr>
            </a:pPr>
            <a:r>
              <a:t>•  Safety — built into the design, not bolted on as a policy. The activity is still safe when no facilitator is watching</a:t>
            </a:r>
          </a:p>
          <a:p>
            <a:pPr>
              <a:spcAft>
                <a:spcPts val="800"/>
              </a:spcAft>
              <a:defRPr sz="1700">
                <a:solidFill>
                  <a:srgbClr val="FFFFFF"/>
                </a:solidFill>
                <a:latin typeface="Calibri"/>
              </a:defRPr>
            </a:pPr>
            <a:r>
              <a:t>•  Agency — young people have real choices. They can shape the experience, not just consume it</a:t>
            </a:r>
          </a:p>
          <a:p>
            <a:pPr>
              <a:spcAft>
                <a:spcPts val="800"/>
              </a:spcAft>
              <a:defRPr sz="1700">
                <a:solidFill>
                  <a:srgbClr val="FFFFFF"/>
                </a:solidFill>
                <a:latin typeface="Calibri"/>
              </a:defRPr>
            </a:pPr>
            <a:r>
              <a:t>•  Adaptability — works when conditions change. Different group size, different energy, different tech, same design</a:t>
            </a:r>
          </a:p>
          <a:p>
            <a:pPr>
              <a:spcAft>
                <a:spcPts val="800"/>
              </a:spcAft>
              <a:defRPr sz="1700">
                <a:solidFill>
                  <a:srgbClr val="FFFFFF"/>
                </a:solidFill>
                <a:latin typeface="Calibri"/>
              </a:defRPr>
            </a:pPr>
            <a:r>
              <a:t>•  Three common failures: Over-designed (too complex for the time). Under-tested (works in your head only). Built for adults (solves your problem, not theirs)</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Failure Mode Bingo</a:t>
            </a:r>
          </a:p>
        </p:txBody>
      </p:sp>
      <p:sp>
        <p:nvSpPr>
          <p:cNvPr id="5" name="TextBox 4"/>
          <p:cNvSpPr txBox="1"/>
          <p:nvPr/>
        </p:nvSpPr>
        <p:spPr>
          <a:xfrm>
            <a:off x="731520" y="2103120"/>
            <a:ext cx="10515600" cy="2011680"/>
          </a:xfrm>
          <a:prstGeom prst="rect">
            <a:avLst/>
          </a:prstGeom>
          <a:noFill/>
        </p:spPr>
        <p:txBody>
          <a:bodyPr wrap="square" lIns="0" rIns="0">
            <a:spAutoFit/>
          </a:bodyPr>
          <a:lstStyle/>
          <a:p>
            <a:pPr algn="l">
              <a:defRPr sz="1900" b="0">
                <a:solidFill>
                  <a:srgbClr val="FFFFFF"/>
                </a:solidFill>
                <a:latin typeface="Calibri"/>
              </a:defRPr>
            </a:pPr>
            <a:r>
              <a:t>Facilitator reads 6 common failure modes on screen, one at a time. Hand up if you think YOUR build has that problem. No shame — the point is to catch it now, not after deployment. Count hands each round. The room should get comfortable saying 'yes, mine might do that.'</a:t>
            </a:r>
          </a:p>
        </p:txBody>
      </p:sp>
      <p:sp>
        <p:nvSpPr>
          <p:cNvPr id="6" name="TextBox 5"/>
          <p:cNvSpPr txBox="1"/>
          <p:nvPr/>
        </p:nvSpPr>
        <p:spPr>
          <a:xfrm>
            <a:off x="731520" y="4206240"/>
            <a:ext cx="10515600" cy="320040"/>
          </a:xfrm>
          <a:prstGeom prst="rect">
            <a:avLst/>
          </a:prstGeom>
          <a:noFill/>
        </p:spPr>
        <p:txBody>
          <a:bodyPr wrap="square" lIns="0" rIns="0">
            <a:spAutoFit/>
          </a:bodyPr>
          <a:lstStyle/>
          <a:p>
            <a:pPr algn="l">
              <a:defRPr sz="1100" b="1">
                <a:solidFill>
                  <a:srgbClr val="7B61FF"/>
                </a:solidFill>
                <a:latin typeface="Calibri"/>
              </a:defRPr>
            </a:pPr>
            <a:r>
              <a:t>PROMPTS</a:t>
            </a:r>
          </a:p>
        </p:txBody>
      </p:sp>
      <p:sp>
        <p:nvSpPr>
          <p:cNvPr id="7" name="TextBox 6"/>
          <p:cNvSpPr txBox="1"/>
          <p:nvPr/>
        </p:nvSpPr>
        <p:spPr>
          <a:xfrm>
            <a:off x="731520" y="45262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Too many steps for the time available</a:t>
            </a:r>
          </a:p>
          <a:p>
            <a:pPr>
              <a:spcAft>
                <a:spcPts val="800"/>
              </a:spcAft>
              <a:defRPr sz="1300">
                <a:solidFill>
                  <a:srgbClr val="B8B8D0"/>
                </a:solidFill>
                <a:latin typeface="Calibri"/>
              </a:defRPr>
            </a:pPr>
            <a:r>
              <a:t>•  Instructions only make sense if YOU are there to explain them</a:t>
            </a:r>
          </a:p>
          <a:p>
            <a:pPr>
              <a:spcAft>
                <a:spcPts val="800"/>
              </a:spcAft>
              <a:defRPr sz="1300">
                <a:solidFill>
                  <a:srgbClr val="B8B8D0"/>
                </a:solidFill>
                <a:latin typeface="Calibri"/>
              </a:defRPr>
            </a:pPr>
            <a:r>
              <a:t>•  No way for young people to make a real choice or give feedback</a:t>
            </a:r>
          </a:p>
          <a:p>
            <a:pPr>
              <a:spcAft>
                <a:spcPts val="800"/>
              </a:spcAft>
              <a:defRPr sz="1300">
                <a:solidFill>
                  <a:srgbClr val="B8B8D0"/>
                </a:solidFill>
                <a:latin typeface="Calibri"/>
              </a:defRPr>
            </a:pPr>
            <a:r>
              <a:t>•  Only works on one device or one platform</a:t>
            </a:r>
          </a:p>
          <a:p>
            <a:pPr>
              <a:spcAft>
                <a:spcPts val="800"/>
              </a:spcAft>
              <a:defRPr sz="1300">
                <a:solidFill>
                  <a:srgbClr val="B8B8D0"/>
                </a:solidFill>
                <a:latin typeface="Calibri"/>
              </a:defRPr>
            </a:pPr>
            <a:r>
              <a:t>•  Solves a problem the young people don't actually have</a:t>
            </a:r>
          </a:p>
          <a:p>
            <a:pPr>
              <a:spcAft>
                <a:spcPts val="800"/>
              </a:spcAft>
              <a:defRPr sz="1300">
                <a:solidFill>
                  <a:srgbClr val="B8B8D0"/>
                </a:solidFill>
                <a:latin typeface="Calibri"/>
              </a:defRPr>
            </a:pPr>
            <a:r>
              <a:t>•  Would fall apart if 3 extra people joined or 3 people dropped out</a:t>
            </a:r>
          </a:p>
        </p:txBody>
      </p:sp>
      <p:pic>
        <p:nvPicPr>
          <p:cNvPr id="8" name="Picture 7" descr="logo.png"/>
          <p:cNvPicPr>
            <a:picLocks noChangeAspect="1"/>
          </p:cNvPicPr>
          <p:nvPr/>
        </p:nvPicPr>
        <p:blipFill>
          <a:blip r:embed="rId2"/>
          <a:stretch>
            <a:fillRect/>
          </a:stretch>
        </p:blipFill>
        <p:spPr>
          <a:xfrm>
            <a:off x="10515600" y="6355080"/>
            <a:ext cx="1180586" cy="2743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60-Second Rule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activity cold, as if you'd never seen it. Can a 14-year-old with a phone figure out what to do in 60 seconds, from a standing start, with no one explaining? Time yourself. Time your neighbour. If no — your start needs a redesign before peer testing.</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Whose Problem Are You Solving?</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Open text: complete the sentence — 'This activity solves ___ for ___.' Submit. Show the wall. If your sentence ends in 'me', 'adults', 'the team', 'the funder', 'the organisation' — you've built the wrong thing, and you have 10 more minutes to rework the brief. It happens to everyone once.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"Tool Dies Tomorrow" Question</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4 minutes. If the tool you used disappeared overnight — platform shuts down, company collapses, school blocks it — what parts of your activity still work? What dies with the tool? Anything that dies with the tool is built on sand. You just learned what your design actually rests on.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FFB800"/>
                </a:solidFill>
                <a:latin typeface="Calibri"/>
              </a:defRPr>
            </a:pPr>
            <a:r>
              <a:t>DISCUSSION</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95 – 150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Discussion</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5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Peer Test — Round 1</a:t>
            </a:r>
          </a:p>
          <a:p>
            <a:pPr>
              <a:spcAft>
                <a:spcPts val="800"/>
              </a:spcAft>
              <a:defRPr sz="1600">
                <a:solidFill>
                  <a:srgbClr val="FFFFFF"/>
                </a:solidFill>
                <a:latin typeface="Calibri"/>
              </a:defRPr>
            </a:pPr>
            <a:r>
              <a:t>→  Iterate — Fix One Thing</a:t>
            </a:r>
          </a:p>
          <a:p>
            <a:pPr>
              <a:spcAft>
                <a:spcPts val="800"/>
              </a:spcAft>
              <a:defRPr sz="1600">
                <a:solidFill>
                  <a:srgbClr val="FFFFFF"/>
                </a:solidFill>
                <a:latin typeface="Calibri"/>
              </a:defRPr>
            </a:pPr>
            <a:r>
              <a:t>→  Peer Test — Round 2</a:t>
            </a:r>
          </a:p>
          <a:p>
            <a:pPr>
              <a:spcAft>
                <a:spcPts val="800"/>
              </a:spcAft>
              <a:defRPr sz="1600">
                <a:solidFill>
                  <a:srgbClr val="FFFFFF"/>
                </a:solidFill>
                <a:latin typeface="Calibri"/>
              </a:defRPr>
            </a:pPr>
            <a:r>
              <a:t>→  Before vs After</a:t>
            </a:r>
          </a:p>
          <a:p>
            <a:pPr>
              <a:spcAft>
                <a:spcPts val="800"/>
              </a:spcAft>
              <a:defRPr sz="1600">
                <a:solidFill>
                  <a:srgbClr val="FFFFFF"/>
                </a:solidFill>
                <a:latin typeface="Calibri"/>
              </a:defRPr>
            </a:pPr>
            <a:r>
              <a:t>→  The Critics' Circle</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Peer Test — Round 1</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Swap with another pair. They run YOUR activity without your help, as though you weren't in the room. You watch in silence — no narrating, no clarifying, no defending. Structured feedback card: score each of the 4 criteria 1–5 · name one thing that worked · name one thing that didn't · one suggestion. Hand the card back.</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Iterate — Fix One Thing</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Based on the feedback, fix ONE thing. Not three. One. Write it in your iteration log: 'I changed ___ because ___. The feedback said ___.' If you change too many things, you won't know what worked on round two.</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Peer Test — Round 2</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A different pair tests your revised activity. Same process. Same scoring. Same silent observation. Same feedback card. Write the second set of scores next to the first in your iteration log. The delta matters.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Before vs After</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Unfold your self-check card. Lay it next to both peer feedback cards. Three sets of scores — yours, peer 1, peer 2. Where were you right about your own build? Where were you wrong? What assumption did you have to correct? Write one sentence at the bottom of the card: 'The thing I was most wrong about was ___.'</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Critics' Circle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Stand in a circle, 10 minutes, fast. Each person names ONE other build they'd steal something from — and names the specific thing they'd steal. Round the circle. No passing. Generosity about each other's work is also a youth work skill. Note what got stolen most — that's where the real craft was tonight.</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E676"/>
                </a:solidFill>
                <a:latin typeface="Calibri"/>
              </a:defRPr>
            </a:pPr>
            <a:r>
              <a:t>CLOSING</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150 – 180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"If the tool changed tomorrow, what standards would still apply?"</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Tools will keep changing. Platforms you built on today will look different in 18 months. The four standards you've used — Participation, Safety, Agency, Adaptability — those don't expire. Carry the standards, replace the tool when you need to.</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Lightning Presentations</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Each pair: 2 minutes flat, on the clock. What you built. What broke. What you fixed. One assumption you had to correct. No slides. Stand up, speak, sit down. Applaud everyone the same.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Programme Reflection</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Four open questions, answered across four Menti slides. 1) Most valuable session and why. 2) Biggest shift in your thinking across the six weeks. 3) What you'll do differently from Monday. 4) What should change about this programme for the next group. Submit live. Read a sample aloud.</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Final Takeaway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One sentence on a sticky. What you've learnt across all 6 sessions, in a single sentence — not a summary, the thing that actually stuck. Read it to the group, in turn, one after another. No commentary, no discussion. The wall of sentences IS the closing artefact.</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Deploy Date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calendar right now. Set a specific date in the next 4 weeks to run this activity with a real group. Name the group. Tell your neighbour the date and the group — they're your check-in. If you don't name a date in the room, it won't happen.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74320" cy="2286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274320" cy="2286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572000"/>
            <a:ext cx="274320" cy="2286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11480"/>
            <a:ext cx="5486400" cy="365760"/>
          </a:xfrm>
          <a:prstGeom prst="rect">
            <a:avLst/>
          </a:prstGeom>
          <a:noFill/>
        </p:spPr>
        <p:txBody>
          <a:bodyPr wrap="square" lIns="0" rIns="0">
            <a:spAutoFit/>
          </a:bodyPr>
          <a:lstStyle/>
          <a:p>
            <a:pPr algn="l">
              <a:defRPr sz="1300" b="1">
                <a:solidFill>
                  <a:srgbClr val="00D4DB"/>
                </a:solidFill>
                <a:latin typeface="Calibri"/>
              </a:defRPr>
            </a:pPr>
            <a:r>
              <a:t>YOUR TAKEAWAY</a:t>
            </a:r>
          </a:p>
        </p:txBody>
      </p:sp>
      <p:sp>
        <p:nvSpPr>
          <p:cNvPr id="6" name="TextBox 5"/>
          <p:cNvSpPr txBox="1"/>
          <p:nvPr/>
        </p:nvSpPr>
        <p:spPr>
          <a:xfrm>
            <a:off x="822960" y="2194560"/>
            <a:ext cx="10515600" cy="2743200"/>
          </a:xfrm>
          <a:prstGeom prst="rect">
            <a:avLst/>
          </a:prstGeom>
          <a:noFill/>
        </p:spPr>
        <p:txBody>
          <a:bodyPr wrap="square" lIns="0" rIns="0">
            <a:spAutoFit/>
          </a:bodyPr>
          <a:lstStyle/>
          <a:p>
            <a:pPr algn="l">
              <a:defRPr sz="3000" b="1">
                <a:solidFill>
                  <a:srgbClr val="FFFFFF"/>
                </a:solidFill>
                <a:latin typeface="Calibri"/>
              </a:defRPr>
            </a:pPr>
            <a:r>
              <a:t>Deploy your activity with a real group within 4 weeks. Document what happened against the 4 criteria — Participation, Safety, Agency, Adaptability. Submit a 1–2 page written justification to your team within 2 weeks of running it. What worked, what broke, what you'd change.</a:t>
            </a:r>
          </a:p>
        </p:txBody>
      </p:sp>
      <p:sp>
        <p:nvSpPr>
          <p:cNvPr id="7" name="TextBox 6"/>
          <p:cNvSpPr txBox="1"/>
          <p:nvPr/>
        </p:nvSpPr>
        <p:spPr>
          <a:xfrm>
            <a:off x="822960" y="5486400"/>
            <a:ext cx="10058400" cy="457200"/>
          </a:xfrm>
          <a:prstGeom prst="rect">
            <a:avLst/>
          </a:prstGeom>
          <a:noFill/>
        </p:spPr>
        <p:txBody>
          <a:bodyPr wrap="square" lIns="0" rIns="0">
            <a:spAutoFit/>
          </a:bodyPr>
          <a:lstStyle/>
          <a:p>
            <a:pPr algn="l">
              <a:defRPr sz="1500" b="1">
                <a:solidFill>
                  <a:srgbClr val="E91E8C"/>
                </a:solidFill>
                <a:latin typeface="Calibri"/>
              </a:defRPr>
            </a:pPr>
            <a:r>
              <a:t>Programme complete. Now go build.</a:t>
            </a:r>
          </a:p>
        </p:txBody>
      </p:sp>
      <p:pic>
        <p:nvPicPr>
          <p:cNvPr id="8" name="Picture 7" descr="mascot.png"/>
          <p:cNvPicPr>
            <a:picLocks noChangeAspect="1"/>
          </p:cNvPicPr>
          <p:nvPr/>
        </p:nvPicPr>
        <p:blipFill>
          <a:blip r:embed="rId2"/>
          <a:stretch>
            <a:fillRect/>
          </a:stretch>
        </p:blipFill>
        <p:spPr>
          <a:xfrm>
            <a:off x="9601200" y="4114800"/>
            <a:ext cx="1335417" cy="16459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