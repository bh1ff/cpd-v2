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4063898" cy="73152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784848"/>
            <a:ext cx="4063898" cy="7315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784848"/>
            <a:ext cx="4063898" cy="73152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967643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00D4DB"/>
                </a:solidFill>
                <a:latin typeface="Calibri"/>
              </a:defRPr>
            </a:pPr>
            <a:r>
              <a:t>Session 2 of 6  ·  Digital Youth Work CPD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Your Values Under 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0584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0">
                <a:solidFill>
                  <a:srgbClr val="B8B8D0"/>
                </a:solidFill>
                <a:latin typeface="Calibri"/>
              </a:defRPr>
            </a:pPr>
            <a:r>
              <a:t>Practitioners test whether their stated values survive contact with real digital design and live pressure.</a:t>
            </a:r>
          </a:p>
        </p:txBody>
      </p:sp>
      <p:pic>
        <p:nvPicPr>
          <p:cNvPr id="12" name="Picture 11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4846320"/>
            <a:ext cx="1187037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7B7B96"/>
                </a:solidFill>
                <a:latin typeface="Calibri"/>
              </a:defRPr>
            </a:pPr>
            <a:r>
              <a:t>Robocode × LIA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7B61FF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we're here to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D4DB"/>
                </a:solidFill>
                <a:latin typeface="Calibri"/>
              </a:defRPr>
            </a:pPr>
            <a:r>
              <a:t>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5156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>
                <a:solidFill>
                  <a:srgbClr val="B8B8D0"/>
                </a:solidFill>
                <a:latin typeface="Calibri"/>
              </a:defRPr>
            </a:pPr>
            <a:r>
              <a:t>Practitioners test whether their stated values survive contact with real digital design and live pressure.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D4DB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1051560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Articulate a personal youth work value in writing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Design a digital activity that deliberately embeds that value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Observe whether the value is visible to others in the design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Reflect on the gap between intention and observable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Robocode × LIA  ·  Digital Youth Work CPD  ·  Session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00D4DB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7B7B96"/>
                </a:solidFill>
                <a:latin typeface="Calibri"/>
              </a:defRPr>
            </a:pPr>
            <a:r>
              <a:t>0 – 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"What do you actually believe about youth work — and does it hold up when things go wrong?"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0">
                <a:solidFill>
                  <a:srgbClr val="B8B8D0"/>
                </a:solidFill>
                <a:latin typeface="Calibri"/>
              </a:defRPr>
            </a:pPr>
            <a:r>
              <a:t>Everyone has values they say they hold. This session tests whether those values show up in what you actually build and how you react when things don't go to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Robocode × LIA  ·  Digital Youth Work CPD  ·  Session 2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D4DB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Values Brainstorm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Mentimeter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Submit your top 3 youth work values to a word cloud. What comes up most? What's surprising? What's missing that should be there?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DISCOVER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D4DB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Rank Your Top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Mentimeter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From the word cloud, pick YOUR top 3 values and rank them in a Mentimeter ranking poll. See how the room orders them. Discuss the biggest disagreements.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DISCOVER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D4DB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Story of a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Think of a moment when you saw a youth worker live out a value really well — with young people, not in a meeting. Tell your neighbour in 60 seconds. Swap. No-one presents back.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DISCOVER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D4DB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Which Values Win Under Pressure?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Mentimeter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Vote: which value do you drop first when time is tight? When you're tired? When there's conflict? Show results. Be honest — the honest vote is the useful one.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DISCOVER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D4DB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Values Drift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On a sticky note (private — no-one reads it aloud), write one value your organisation claims but you don't see in practice. Fold it. Add it to a pile on a table. Acknowledge the pile exists, then move on.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DISCOVER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7B7B96"/>
                </a:solidFill>
                <a:latin typeface="Calibri"/>
              </a:defRPr>
            </a:pPr>
            <a:r>
              <a:t>15 – 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>
                <a:solidFill>
                  <a:srgbClr val="B8B8D0"/>
                </a:solidFill>
                <a:latin typeface="Calibri"/>
              </a:defRPr>
            </a:pPr>
            <a:r>
              <a:t>6 activities in this block: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3017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Pick Your Value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Build It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Run It / Observe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Predict the Value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The Reveal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The Value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Robocode × LIA  ·  Digital Youth Work CPD  ·  Session 2 of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E91E8C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Pick Your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Choose ONE value from the word cloud. Write it in your phone's notes app. Don't share it with anyone — this is the value you're going to deliberately embed in a digital activity.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ACTIVITY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E91E8C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Build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Padlet or Mentimeter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In pairs, design a 10-minute digital activity that embeds your value. Must have clear instructions, be something a young person could actually do, and embed the value in a way that should be visible from the outside.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ACTIVITY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E91E8C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Run It / Observe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Padlet or Mentimeter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Swap with another pair. They run YOUR activity without your help. You watch silently. Note: where does the value show up? What does the design tell you about what they believe?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ACTIVITY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E91E8C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Predict the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Mentimeter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Before the reveal, observers submit their guess in Mentimeter (open text): 'What value do you think this pair was trying to embed?' Submit first, then hear the answer.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ACTIVITY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E91E8C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Each pair reads their value out loud. Compare with observer guesses. Did it land? Where was the gap? Be honest — the gap is where the learning is.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ACTIVITY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E91E8C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Value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On the whiteboard, two columns: 'What I tried to embed' and 'What observers saw'. Everyone adds a sticky note to each column for their own activity. Walk the wall as a group.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ACTIVITY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7B61FF"/>
                </a:solidFill>
                <a:latin typeface="Calibri"/>
              </a:defRPr>
            </a:pPr>
            <a:r>
              <a:t>KEY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7B7B96"/>
                </a:solidFill>
                <a:latin typeface="Calibri"/>
              </a:defRPr>
            </a:pPr>
            <a:r>
              <a:t>75 – 95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Gap Between What We Say and What We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Stated values vs observable behaviour — they're often different, and that's normal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Under pressure (disengagement, tech failure, time running out), your real priorities come out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System constraints force trade-offs: you can't have full freedom AND full safety at the same time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The question isn't 'what do I believe?' — it's 'what did I actually build?'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Robocode × LIA  ·  Digital Youth Work CPD  ·  Session 2 of 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7B61FF"/>
                </a:solidFill>
                <a:latin typeface="Calibri"/>
              </a:defRPr>
            </a:pPr>
            <a:r>
              <a:t>KEY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Pressure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Mentimeter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4 scenarios appear on screen one at a time. For each, vote live: which value would you sacrifice first? Show results. Where the room splits, that's the discussion.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515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7B61FF"/>
                </a:solidFill>
                <a:latin typeface="Calibri"/>
              </a:defRPr>
            </a:pPr>
            <a:r>
              <a:t>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0515600" cy="21031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8B8D0"/>
                </a:solidFill>
                <a:latin typeface="Calibri"/>
              </a:defRPr>
            </a:pPr>
            <a:r>
              <a:t>•  Half the group isn't engaging. You have 5 minutes left. Do you push on or change the plan?</a:t>
            </a:r>
          </a:p>
          <a:p>
            <a:pPr>
              <a:spcAft>
                <a:spcPts val="800"/>
              </a:spcAft>
              <a:defRPr sz="1300">
                <a:solidFill>
                  <a:srgbClr val="B8B8D0"/>
                </a:solidFill>
                <a:latin typeface="Calibri"/>
              </a:defRPr>
            </a:pPr>
            <a:r>
              <a:t>•  A young person says something offensive in the chat. Do you delete it, address it publicly, or message them privately?</a:t>
            </a:r>
          </a:p>
          <a:p>
            <a:pPr>
              <a:spcAft>
                <a:spcPts val="800"/>
              </a:spcAft>
              <a:defRPr sz="1300">
                <a:solidFill>
                  <a:srgbClr val="B8B8D0"/>
                </a:solidFill>
                <a:latin typeface="Calibri"/>
              </a:defRPr>
            </a:pPr>
            <a:r>
              <a:t>•  The Wi-Fi goes down mid-session. You have 20 young people looking at you. What do you do?</a:t>
            </a:r>
          </a:p>
          <a:p>
            <a:pPr>
              <a:spcAft>
                <a:spcPts val="800"/>
              </a:spcAft>
              <a:defRPr sz="1300">
                <a:solidFill>
                  <a:srgbClr val="B8B8D0"/>
                </a:solidFill>
                <a:latin typeface="Calibri"/>
              </a:defRPr>
            </a:pPr>
            <a:r>
              <a:t>•  Two participants are dominating. Others have gone silent. Do you intervene or let it play out?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KEY IDEAS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7B61FF"/>
                </a:solidFill>
                <a:latin typeface="Calibri"/>
              </a:defRPr>
            </a:pPr>
            <a:r>
              <a:t>KEY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Value Trade-Off Poll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Mentimeter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Four value pairs appear one at a time: Safety vs Freedom · Inclusion vs Efficiency · Fun vs Learning · Control vs Agency. For each, vote: which side do you prioritise? No middle option. Discuss the split.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KEY IDEAS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7B61FF"/>
                </a:solidFill>
                <a:latin typeface="Calibri"/>
              </a:defRPr>
            </a:pPr>
            <a:r>
              <a:t>KEY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Stated vs Shown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In pairs, look at your activity from earlier. Write on a sticky note: 'This activity states [value] but actually shows [value].' Not every activity matches its intent — that's the exercise.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KEY IDEAS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7B61FF"/>
                </a:solidFill>
                <a:latin typeface="Calibri"/>
              </a:defRPr>
            </a:pPr>
            <a:r>
              <a:t>KEY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Brand vs The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In groups of 3, name 3 well-known organisations (public examples, not your own) whose stated values contradict their practice. What's the gap? Why does it exist?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KEY IDEAS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7B7B96"/>
                </a:solidFill>
                <a:latin typeface="Calibri"/>
              </a:defRPr>
            </a:pPr>
            <a:r>
              <a:t>95 – 150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>
                <a:solidFill>
                  <a:srgbClr val="B8B8D0"/>
                </a:solidFill>
                <a:latin typeface="Calibri"/>
              </a:defRPr>
            </a:pPr>
            <a:r>
              <a:t>5 activities in this block: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3017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Redesign Under Constraint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The Tool Dilemma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Fishbowl Discussion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Principles Not Platforms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Hot Seat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Robocode × LIA  ·  Digital Youth Work CPD  ·  Session 2 of 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FFB800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Redesign Under Constraint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Padlet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Go back to your activity. Add one constraint: half the group have no smartphone / one participant has anxiety about being visible / you only have 5 minutes. Redesign in Padlet. What did you drop? What value did you compromise?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DISCUSSION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FFB800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Tool 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In pairs: name a platform you use with young people that you know compromises your values (Instagram, TikTok, WhatsApp, whatever). Why do you still use it? What's the trade-off you've accepted? Share back in one sentence.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DISCUSSION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FFB800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Fishbowl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4 chairs in the middle of the room. Volunteers sit and discuss. Anyone can tap a shoulder to swap in. Everyone else listens in silence. Use the primers below to get going — pick whichever one hits hardest, or move through them as the conversation opens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FFB800"/>
                </a:solidFill>
                <a:latin typeface="Calibri"/>
              </a:defRPr>
            </a:pPr>
            <a:r>
              <a:t>PROMPTS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10515600" cy="21031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8B8D0"/>
                </a:solidFill>
                <a:latin typeface="Calibri"/>
              </a:defRPr>
            </a:pPr>
            <a:r>
              <a:t>•  When is it OK to compromise your values in youth work — and when isn't it?</a:t>
            </a:r>
          </a:p>
          <a:p>
            <a:pPr>
              <a:spcAft>
                <a:spcPts val="800"/>
              </a:spcAft>
              <a:defRPr sz="1300">
                <a:solidFill>
                  <a:srgbClr val="B8B8D0"/>
                </a:solidFill>
                <a:latin typeface="Calibri"/>
              </a:defRPr>
            </a:pPr>
            <a:r>
              <a:t>•  Name a time you stayed silent when you should have spoken up. What stopped you?</a:t>
            </a:r>
          </a:p>
          <a:p>
            <a:pPr>
              <a:spcAft>
                <a:spcPts val="800"/>
              </a:spcAft>
              <a:defRPr sz="1300">
                <a:solidFill>
                  <a:srgbClr val="B8B8D0"/>
                </a:solidFill>
                <a:latin typeface="Calibri"/>
              </a:defRPr>
            </a:pPr>
            <a:r>
              <a:t>•  Have you ever picked the tool that was easy over the tool that was right? What happened?</a:t>
            </a:r>
          </a:p>
          <a:p>
            <a:pPr>
              <a:spcAft>
                <a:spcPts val="800"/>
              </a:spcAft>
              <a:defRPr sz="1300">
                <a:solidFill>
                  <a:srgbClr val="B8B8D0"/>
                </a:solidFill>
                <a:latin typeface="Calibri"/>
              </a:defRPr>
            </a:pPr>
            <a:r>
              <a:t>•  If a young person asked you 'do you actually believe this?' about something you're running — could you answer honestly?</a:t>
            </a:r>
          </a:p>
          <a:p>
            <a:pPr>
              <a:spcAft>
                <a:spcPts val="800"/>
              </a:spcAft>
              <a:defRPr sz="1300">
                <a:solidFill>
                  <a:srgbClr val="B8B8D0"/>
                </a:solidFill>
                <a:latin typeface="Calibri"/>
              </a:defRPr>
            </a:pPr>
            <a:r>
              <a:t>•  What's a value your org says loudly that you've quietly stopped believing in?</a:t>
            </a:r>
          </a:p>
          <a:p>
            <a:pPr>
              <a:spcAft>
                <a:spcPts val="800"/>
              </a:spcAft>
              <a:defRPr sz="1300">
                <a:solidFill>
                  <a:srgbClr val="B8B8D0"/>
                </a:solidFill>
                <a:latin typeface="Calibri"/>
              </a:defRPr>
            </a:pPr>
            <a:r>
              <a:t>•  When your values clash with your manager's, whose win — and why?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DISCUSSION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FFB800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Principles Not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Padlet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In groups of 3, write 5 principles that would guide your practice no matter what tool you use. Post each on a shared Padlet. Walk the Padlet as a group. Where do the principles overlap? Where do they disagree?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DISCUSSION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FFB800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Hot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One volunteer claims a value out loud. Others ask questions for 3 minutes, challenging whether that value actually shows up in their practice. No gotchas — just genuine 'how does that actually work when…' questions.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DISCUSSION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7B7B96"/>
                </a:solidFill>
                <a:latin typeface="Calibri"/>
              </a:defRPr>
            </a:pPr>
            <a:r>
              <a:t>150 – 180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"If the platform disappeared tomorrow, what principles would still guide you?"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0">
                <a:solidFill>
                  <a:srgbClr val="B8B8D0"/>
                </a:solidFill>
                <a:latin typeface="Calibri"/>
              </a:defRPr>
            </a:pPr>
            <a:r>
              <a:t>Tools change. Apps shut down. But the way you think about young people's needs doesn't have to. The principle matters more than the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Robocode × LIA  ·  Digital Youth Work CPD  ·  Session 2 of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alibri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Principle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Mentimeter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Complete the sentence in Menti: 'Regardless of what tool I use, I will always ___.' Submit live. Show the wall. Read a few aloud.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CLOSING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alibri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One Value I'm Watching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On a sticky note: one value you're going to actively check yourself on this week. Stick it on the wall. Photograph the wall — it's your commitment.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CLOSING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alibri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Mentimeter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Submit three things in Menti: one value I say I hold · one value I actually embody · one value I want to grow into. Read a few aloud.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CLOSING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alibri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Sticky on the door frame as you leave: one word for how you feel about the value you chose today. Read them back at the start of Session 3.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2  ·  CLOSING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2286000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274320" cy="2286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274320" cy="228600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00D4DB"/>
                </a:solidFill>
                <a:latin typeface="Calibri"/>
              </a:defRPr>
            </a:pPr>
            <a:r>
              <a:t>YOUR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Review one activity you currently run. What values does it actually embed? What values are missing?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E91E8C"/>
                </a:solidFill>
                <a:latin typeface="Calibri"/>
              </a:defRPr>
            </a:pPr>
            <a:r>
              <a:t>Next: Session 3 — Keeping Young People Safe Online</a:t>
            </a:r>
          </a:p>
        </p:txBody>
      </p:sp>
      <p:pic>
        <p:nvPicPr>
          <p:cNvPr id="8" name="Picture 7" descr="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114800"/>
            <a:ext cx="1335417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Robocode × LIA  ·  Digital Youth Work CPD  ·  Session 2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