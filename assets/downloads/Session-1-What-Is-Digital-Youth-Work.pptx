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3898" cy="73152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3898" y="0"/>
            <a:ext cx="4063898" cy="73152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7796" y="0"/>
            <a:ext cx="4063898" cy="73152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4063898" cy="73152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063898" y="6784848"/>
            <a:ext cx="4063898" cy="73152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127796" y="6784848"/>
            <a:ext cx="4063898" cy="73152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967643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1463040"/>
            <a:ext cx="10058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00D4DB"/>
                </a:solidFill>
                <a:latin typeface="Calibri"/>
              </a:defRPr>
            </a:pPr>
            <a:r>
              <a:t>Session 1 of 6  ·  Digital Youth Work CPD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105156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What Is Digital Youth Work?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89120"/>
            <a:ext cx="100584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B8B8D0"/>
                </a:solidFill>
                <a:latin typeface="Calibri"/>
              </a:defRPr>
            </a:pPr>
            <a:r>
              <a:t>Practitioners experience digital youth work from a young person's perspective and identify how environment design is practice.</a:t>
            </a:r>
          </a:p>
        </p:txBody>
      </p:sp>
      <p:pic>
        <p:nvPicPr>
          <p:cNvPr id="12" name="Picture 11" descr="masc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4846320"/>
            <a:ext cx="1187037" cy="146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20" y="621792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100" b="1">
                <a:solidFill>
                  <a:srgbClr val="7B7B96"/>
                </a:solidFill>
                <a:latin typeface="Calibri"/>
              </a:defRPr>
            </a:pPr>
            <a:r>
              <a:t>Robocode × LIA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3898" cy="73152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3898" y="0"/>
            <a:ext cx="4063898" cy="73152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7796" y="0"/>
            <a:ext cx="4063898" cy="73152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00" b="1">
                <a:solidFill>
                  <a:srgbClr val="7B61FF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What we're here to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45720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515600" cy="1188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0">
                <a:solidFill>
                  <a:srgbClr val="B8B8D0"/>
                </a:solidFill>
                <a:latin typeface="Calibri"/>
              </a:defRPr>
            </a:pPr>
            <a:r>
              <a:t>Practitioners experience digital youth work from a young person's perspective and identify how environment design is practice.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45720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10515600" cy="2286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 Experience a digital activity as a learner, not a facilitator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 Identify how changing one setting changes the whole experience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 Distinguish between digitised youth work and digital youth work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 Name one design choice that expresses a youth work value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1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00D4DB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0">
                <a:solidFill>
                  <a:srgbClr val="7B7B96"/>
                </a:solidFill>
                <a:latin typeface="Calibri"/>
              </a:defRPr>
            </a:pPr>
            <a:r>
              <a:t>0 – 15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"How does youth work change when young people are online?"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B8B8D0"/>
                </a:solidFill>
                <a:latin typeface="Calibri"/>
              </a:defRPr>
            </a:pPr>
            <a:r>
              <a:t>This isn't about technology. It's about whether the things you already do as a youth worker — building trust, giving young people a voice, keeping them safe — work the same way on a screen.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1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Spectrum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Stand along an imaginary line: one end = 'I use digital tools every day with young people', other end = 'I barely use anything digital'. Look at where everyone is. Brief chat about why.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DISCOVER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Quick-Fire Word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Everyone submits 3 words that come to mind when they hear 'digital youth work'. Show the word cloud live on screen. What stands out? What's missing?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DISCOVER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Pocket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Everyone opens their phone, names one app they use daily, and says why. What does this tell us about what makes platforms sticky — for us and for young people?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DISCOVER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Yes / No / Maybe Corners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Facilitator reads 4 statements. Participants move to the Yes, No, or Maybe corner of the room. Keep it quick — don't debate, just move.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00" b="1">
                <a:solidFill>
                  <a:srgbClr val="7B61FF"/>
                </a:solidFill>
                <a:latin typeface="Calibri"/>
              </a:defRPr>
            </a:pPr>
            <a:r>
              <a:t>Examples: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31920"/>
            <a:ext cx="10515600" cy="27432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B8B8D0"/>
                </a:solidFill>
                <a:latin typeface="Calibri"/>
              </a:defRPr>
            </a:pPr>
            <a:r>
              <a:t>•  I'd be comfortable running a Zoom session with young people tomorrow</a:t>
            </a:r>
          </a:p>
          <a:p>
            <a:pPr>
              <a:spcAft>
                <a:spcPts val="800"/>
              </a:spcAft>
              <a:defRPr sz="1300">
                <a:solidFill>
                  <a:srgbClr val="B8B8D0"/>
                </a:solidFill>
                <a:latin typeface="Calibri"/>
              </a:defRPr>
            </a:pPr>
            <a:r>
              <a:t>•  My organisation has a digital strategy I actually understand</a:t>
            </a:r>
          </a:p>
          <a:p>
            <a:pPr>
              <a:spcAft>
                <a:spcPts val="800"/>
              </a:spcAft>
              <a:defRPr sz="1300">
                <a:solidFill>
                  <a:srgbClr val="B8B8D0"/>
                </a:solidFill>
                <a:latin typeface="Calibri"/>
              </a:defRPr>
            </a:pPr>
            <a:r>
              <a:t>•  I know which platform my young people use most</a:t>
            </a:r>
          </a:p>
          <a:p>
            <a:pPr>
              <a:spcAft>
                <a:spcPts val="800"/>
              </a:spcAft>
              <a:defRPr sz="1300">
                <a:solidFill>
                  <a:srgbClr val="B8B8D0"/>
                </a:solidFill>
                <a:latin typeface="Calibri"/>
              </a:defRPr>
            </a:pPr>
            <a:r>
              <a:t>•  Digital youth work is something we do properly, not just a backup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DISCOVER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The Time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Close your eyes. Picture a 14-year-old from 10 years ago — what was their digital life? Now picture a 14-year-old today. What's changed? Share one thing with a neighbour.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DISCOVER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0">
                <a:solidFill>
                  <a:srgbClr val="7B7B96"/>
                </a:solidFill>
                <a:latin typeface="Calibri"/>
              </a:defRPr>
            </a:pPr>
            <a:r>
              <a:t>15 – 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0">
                <a:solidFill>
                  <a:srgbClr val="B8B8D0"/>
                </a:solidFill>
                <a:latin typeface="Calibri"/>
              </a:defRPr>
            </a:pPr>
            <a:r>
              <a:t>8 activities in this block: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515600" cy="3017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Play the Quiz (as a young person)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Observer Round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What Just Happened?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Change One Thing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The Anonymous Round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Settings Gallery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Design Decision Cards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Second Pass — Swap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1 of 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Play the Quiz (as a young person)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Kahoot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Join a pre-made Kahoot quiz on your phones. No briefing — just play. Experience the timer, the leaderboard, the music, the pressure. Don't overthink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10515600" cy="2286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B8B8D0"/>
                </a:solidFill>
                <a:latin typeface="Calibri"/>
              </a:defRPr>
            </a:pPr>
            <a:r>
              <a:t>→  Facilitator runs a 10-question Kahoot (topic: general knowledge or fun)</a:t>
            </a:r>
          </a:p>
          <a:p>
            <a:pPr>
              <a:spcAft>
                <a:spcPts val="800"/>
              </a:spcAft>
              <a:defRPr sz="1400">
                <a:solidFill>
                  <a:srgbClr val="B8B8D0"/>
                </a:solidFill>
                <a:latin typeface="Calibri"/>
              </a:defRPr>
            </a:pPr>
            <a:r>
              <a:t>→  Participants play on their phones as if they were young people</a:t>
            </a:r>
          </a:p>
          <a:p>
            <a:pPr>
              <a:spcAft>
                <a:spcPts val="800"/>
              </a:spcAft>
              <a:defRPr sz="1400">
                <a:solidFill>
                  <a:srgbClr val="B8B8D0"/>
                </a:solidFill>
                <a:latin typeface="Calibri"/>
              </a:defRPr>
            </a:pPr>
            <a:r>
              <a:t>→  No talking — just play the game as it comes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ACTIVITY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Observer 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Half the group plays a shorter quiz (5 questions) while the other half silently watches. Observers use a worksheet: Who looks stressed? Who lights up? Who disengages? Who's first to answer? Who checks their phone between questions?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ACTIVITY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What Just Happened?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Debrief the experience before changing anything.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515600" cy="2286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B8B8D0"/>
                </a:solidFill>
                <a:latin typeface="Calibri"/>
              </a:defRPr>
            </a:pPr>
            <a:r>
              <a:t>→  Show of hands: Who felt competitive? Who felt stressed? Who stopped caring?</a:t>
            </a:r>
          </a:p>
          <a:p>
            <a:pPr>
              <a:spcAft>
                <a:spcPts val="800"/>
              </a:spcAft>
              <a:defRPr sz="1400">
                <a:solidFill>
                  <a:srgbClr val="B8B8D0"/>
                </a:solidFill>
                <a:latin typeface="Calibri"/>
              </a:defRPr>
            </a:pPr>
            <a:r>
              <a:t>→  On sticky notes: one thing that felt good, one thing that felt bad</a:t>
            </a:r>
          </a:p>
          <a:p>
            <a:pPr>
              <a:spcAft>
                <a:spcPts val="800"/>
              </a:spcAft>
              <a:defRPr sz="1400">
                <a:solidFill>
                  <a:srgbClr val="B8B8D0"/>
                </a:solidFill>
                <a:latin typeface="Calibri"/>
              </a:defRPr>
            </a:pPr>
            <a:r>
              <a:t>→  Stick them on the board in two columns. Read a few out.</a:t>
            </a:r>
          </a:p>
          <a:p>
            <a:pPr>
              <a:spcAft>
                <a:spcPts val="800"/>
              </a:spcAft>
              <a:defRPr sz="1400">
                <a:solidFill>
                  <a:srgbClr val="B8B8D0"/>
                </a:solidFill>
                <a:latin typeface="Calibri"/>
              </a:defRPr>
            </a:pPr>
            <a:r>
              <a:t>→  Observers share what they saw — not what players said, what they saw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ACTIVITY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Change One 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Kahoot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In pairs, pick ONE setting to change and re-run part of the quiz.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10515600" cy="2286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B8B8D0"/>
                </a:solidFill>
                <a:latin typeface="Calibri"/>
              </a:defRPr>
            </a:pPr>
            <a:r>
              <a:t>→  Options: remove the timer / hide the leaderboard / enable anonymous answers / team mode / remove the music</a:t>
            </a:r>
          </a:p>
          <a:p>
            <a:pPr>
              <a:spcAft>
                <a:spcPts val="800"/>
              </a:spcAft>
              <a:defRPr sz="1400">
                <a:solidFill>
                  <a:srgbClr val="B8B8D0"/>
                </a:solidFill>
                <a:latin typeface="Calibri"/>
              </a:defRPr>
            </a:pPr>
            <a:r>
              <a:t>→  Facilitator sets up a shorter quiz with the change</a:t>
            </a:r>
          </a:p>
          <a:p>
            <a:pPr>
              <a:spcAft>
                <a:spcPts val="800"/>
              </a:spcAft>
              <a:defRPr sz="1400">
                <a:solidFill>
                  <a:srgbClr val="B8B8D0"/>
                </a:solidFill>
                <a:latin typeface="Calibri"/>
              </a:defRPr>
            </a:pPr>
            <a:r>
              <a:t>→  Re-run. What's different? Is it better or worse? For who?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ACTIVITY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The Anonymous 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Kahoot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Re-run with anonymous nicknames (no real names on the leaderboard). Does anything shift? Who contributes now who didn't before? Who goes quieter? Note it down.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ACTIVITY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Settings Gallery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Pin a card on the wall for each Kahoot setting (timer, leaderboard, music, team mode, anonymous, chat, skip-allowed). In pairs, walk round and add a sticky note to each: 'What this changes for the young person.' Read the wall as a group.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ACTIVITY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Design Decision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Each pair fills in a card: 'We changed ___ because ___. The effect was ___. For a young person who ___ this would mean ___.' Share back to the group.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ACTIVITY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Second Pass — Swap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Kahoot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Observers now play; players now observe. Different setting changed. Observers: what do you notice now that you missed when you were playing? Players: what's different knowing someone is watching?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ACTIVITY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7B61FF"/>
                </a:solidFill>
                <a:latin typeface="Calibri"/>
              </a:defRPr>
            </a:pPr>
            <a:r>
              <a:t>KEY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0">
                <a:solidFill>
                  <a:srgbClr val="7B7B96"/>
                </a:solidFill>
                <a:latin typeface="Calibri"/>
              </a:defRPr>
            </a:pPr>
            <a:r>
              <a:t>75 – 95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Digital vs Digitised Youth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515600" cy="3200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•  Digitised = taking what you already do and putting it on a screen (paper form → Google Form)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•  Digital = designing an experience that only works because it's online (anonymous polling, real-time collaboration, adaptive difficulty)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•  The environment IS the practice — every setting (timer, names, chat, scores) is a youth work decision you're making for the young person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1 of 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7B61FF"/>
                </a:solidFill>
                <a:latin typeface="Calibri"/>
              </a:defRPr>
            </a:pPr>
            <a:r>
              <a:t>KEY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Sort the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Facilitator reads out 8 examples. Participants hold up a card: 'DIGITISED' or 'DIGITAL'. Discuss any disagreements.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00" b="1">
                <a:solidFill>
                  <a:srgbClr val="7B61FF"/>
                </a:solidFill>
                <a:latin typeface="Calibri"/>
              </a:defRPr>
            </a:pPr>
            <a:r>
              <a:t>Examples: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31920"/>
            <a:ext cx="10515600" cy="27432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B8B8D0"/>
                </a:solidFill>
                <a:latin typeface="Calibri"/>
              </a:defRPr>
            </a:pPr>
            <a:r>
              <a:t>•  A paper register replaced by a Google Form → DIGITISED</a:t>
            </a:r>
          </a:p>
          <a:p>
            <a:pPr>
              <a:spcAft>
                <a:spcPts val="800"/>
              </a:spcAft>
              <a:defRPr sz="1300">
                <a:solidFill>
                  <a:srgbClr val="B8B8D0"/>
                </a:solidFill>
                <a:latin typeface="Calibri"/>
              </a:defRPr>
            </a:pPr>
            <a:r>
              <a:t>•  A Kahoot quiz with anonymous mode so shy young people contribute → DIGITAL</a:t>
            </a:r>
          </a:p>
          <a:p>
            <a:pPr>
              <a:spcAft>
                <a:spcPts val="800"/>
              </a:spcAft>
              <a:defRPr sz="1300">
                <a:solidFill>
                  <a:srgbClr val="B8B8D0"/>
                </a:solidFill>
                <a:latin typeface="Calibri"/>
              </a:defRPr>
            </a:pPr>
            <a:r>
              <a:t>•  Emailing a worksheet instead of printing it → DIGITISED</a:t>
            </a:r>
          </a:p>
          <a:p>
            <a:pPr>
              <a:spcAft>
                <a:spcPts val="800"/>
              </a:spcAft>
              <a:defRPr sz="1300">
                <a:solidFill>
                  <a:srgbClr val="B8B8D0"/>
                </a:solidFill>
                <a:latin typeface="Calibri"/>
              </a:defRPr>
            </a:pPr>
            <a:r>
              <a:t>•  A Discord server where young people moderate their own channels → DIGITAL</a:t>
            </a:r>
          </a:p>
          <a:p>
            <a:pPr>
              <a:spcAft>
                <a:spcPts val="800"/>
              </a:spcAft>
              <a:defRPr sz="1300">
                <a:solidFill>
                  <a:srgbClr val="B8B8D0"/>
                </a:solidFill>
                <a:latin typeface="Calibri"/>
              </a:defRPr>
            </a:pPr>
            <a:r>
              <a:t>•  Filming a session and putting it on YouTube → DIGITISED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KEY IDEAS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7B61FF"/>
                </a:solidFill>
                <a:latin typeface="Calibri"/>
              </a:defRPr>
            </a:pPr>
            <a:r>
              <a:t>KEY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Sort Your Own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Two boards on the wall: DIGITISED and DIGITAL. Everyone takes one activity they currently run and sticks it on whichever board it fits. Be honest — if it's digitised paper, that's fine, just name it. Walk the wall.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KEY IDEAS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7B61FF"/>
                </a:solidFill>
                <a:latin typeface="Calibri"/>
              </a:defRPr>
            </a:pPr>
            <a:r>
              <a:t>KEY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Values Hidden in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Facilitator shows a setting (leaderboard, timer, chat disabled, anonymous mode). In pairs, write down what value that setting expresses. Compare answers across the room. Same setting, different values? That's the conversation.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KEY IDEAS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7B61FF"/>
                </a:solidFill>
                <a:latin typeface="Calibri"/>
              </a:defRPr>
            </a:pPr>
            <a:r>
              <a:t>KEY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One Slide, One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Facilitator projects a screenshot of a Kahoot setup screen. Each pair writes one question they'd ask the person who set it up about why they made each choice. Read a few aloud — you've just written your own facilitator audit.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KEY IDEAS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0">
                <a:solidFill>
                  <a:srgbClr val="7B7B96"/>
                </a:solidFill>
                <a:latin typeface="Calibri"/>
              </a:defRPr>
            </a:pPr>
            <a:r>
              <a:t>95 – 150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0">
                <a:solidFill>
                  <a:srgbClr val="B8B8D0"/>
                </a:solidFill>
                <a:latin typeface="Calibri"/>
              </a:defRPr>
            </a:pPr>
            <a:r>
              <a:t>6 activities in this block: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515600" cy="3017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Tool Speed-Date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Design Your Own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Pitch Your Activity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Objection Panel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Mix and Match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Gallery Walk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1 of 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Tool Speed-Date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 + Padlet + Kahoot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3-minute rotations. Each table has a different tool open. Try it for 3 minutes, then rotate. At the end, vote: which felt most useful for YOUR group?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DISCUSSION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Design Your 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Paper or Padlet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In pairs, sketch a 10-minute digital activity you could run with your group next week. Use any tool. Keep it simple. Write: What tool? What do participants do? What's the one setting you'd change to make it work for YOUR group?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DISCUSSION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Pitch Your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Each pair gets 90 seconds to pitch their activity to another pair. No slides, no notes — just speak. The listening pair asks ONE question. Swap.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DISCUSSION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Objection Panel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One pair presents their design to the room. Others play devil's advocate: 'What if the Wi-Fi dies?' 'What about the quietest young person?' 'What if someone doesn't have a phone?' The presenting pair doesn't need to solve every problem — just acknowledge it.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DISCUSSION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Mix and 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Pairs swap their design with another pair. Add one constraint: no Wi-Fi / one participant is non-verbal / half the group have no phone / there are 25 people not 10. Redesign in 10 minutes.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DISCUSSION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Gallery Walk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Pairs pin their (now-redesigned) activity on the wall or post to a shared Padlet. Everyone walks around, reads them, and leaves one sticky note of feedback on each: 'Have you thought about…'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DISCUSSION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00E676"/>
                </a:solidFill>
                <a:latin typeface="Calibri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0">
                <a:solidFill>
                  <a:srgbClr val="7B7B96"/>
                </a:solidFill>
                <a:latin typeface="Calibri"/>
              </a:defRPr>
            </a:pPr>
            <a:r>
              <a:t>150 – 180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"What practice decision did you just make — without saying a word?"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B8B8D0"/>
                </a:solidFill>
                <a:latin typeface="Calibri"/>
              </a:defRPr>
            </a:pPr>
            <a:r>
              <a:t>Every time you set up a digital space, you're making decisions about who can speak, who can see what, and who has control. Those are youth work decisions, not tech decisions.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1 of 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E676"/>
                </a:solidFill>
                <a:latin typeface="Calibri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One Thing I'll 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 or sticky notes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Everyone submits one thing they'll try with their group before the next session. Show results on screen. Photograph the wall.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CLOSING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E676"/>
                </a:solidFill>
                <a:latin typeface="Calibri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Commitment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Partner with someone NOT from your organisation. Swap contact details. Agree one thing you'll each try and check in in 2 weeks. Write it on a card and keep it.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CLOSING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E676"/>
                </a:solidFill>
                <a:latin typeface="Calibri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On a paper: 'One thing I knew before this session. One thing I know now. One thing I still don't know.' Fold it. Hand it to the facilitator on the way out.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CLOSING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E676"/>
                </a:solidFill>
                <a:latin typeface="Calibri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Exit Ticket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Sticky note on the door frame as you leave: one word that captures how you feel about running a digital activity this week. Read them back at the start of Session 2.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CLOSING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2286000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274320" cy="2286000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274320" cy="2286000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00" b="1">
                <a:solidFill>
                  <a:srgbClr val="00D4DB"/>
                </a:solidFill>
                <a:latin typeface="Calibri"/>
              </a:defRPr>
            </a:pPr>
            <a:r>
              <a:t>YOUR TAKEAWAY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Run one digital activity with your group this week. It doesn't have to be perfect.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486400"/>
            <a:ext cx="10058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500" b="1">
                <a:solidFill>
                  <a:srgbClr val="E91E8C"/>
                </a:solidFill>
                <a:latin typeface="Calibri"/>
              </a:defRPr>
            </a:pPr>
            <a:r>
              <a:t>See you in Session 2 — Your Values Under Pressure</a:t>
            </a:r>
          </a:p>
        </p:txBody>
      </p:sp>
      <p:pic>
        <p:nvPicPr>
          <p:cNvPr id="8" name="Picture 7" descr="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4114800"/>
            <a:ext cx="1335417" cy="1645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1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