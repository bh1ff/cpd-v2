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4063898" cy="73152"/>
          </a:xfrm>
          <a:prstGeom prst="rect">
            <a:avLst/>
          </a:prstGeom>
          <a:solidFill>
            <a:srgbClr val="00D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63898" y="0"/>
            <a:ext cx="4063898" cy="73152"/>
          </a:xfrm>
          <a:prstGeom prst="rect">
            <a:avLst/>
          </a:prstGeom>
          <a:solidFill>
            <a:srgbClr val="7B6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7796" y="0"/>
            <a:ext cx="4063898" cy="73152"/>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784848"/>
            <a:ext cx="4063898" cy="73152"/>
          </a:xfrm>
          <a:prstGeom prst="rect">
            <a:avLst/>
          </a:prstGeom>
          <a:solidFill>
            <a:srgbClr val="00D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63898" y="6784848"/>
            <a:ext cx="4063898" cy="73152"/>
          </a:xfrm>
          <a:prstGeom prst="rect">
            <a:avLst/>
          </a:prstGeom>
          <a:solidFill>
            <a:srgbClr val="7B6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27796" y="6784848"/>
            <a:ext cx="4063898" cy="73152"/>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ogo.png"/>
          <p:cNvPicPr>
            <a:picLocks noChangeAspect="1"/>
          </p:cNvPicPr>
          <p:nvPr/>
        </p:nvPicPr>
        <p:blipFill>
          <a:blip r:embed="rId2"/>
          <a:stretch>
            <a:fillRect/>
          </a:stretch>
        </p:blipFill>
        <p:spPr>
          <a:xfrm>
            <a:off x="457200" y="365760"/>
            <a:ext cx="1967643" cy="457200"/>
          </a:xfrm>
          <a:prstGeom prst="rect">
            <a:avLst/>
          </a:prstGeom>
        </p:spPr>
      </p:pic>
      <p:sp>
        <p:nvSpPr>
          <p:cNvPr id="9" name="TextBox 8"/>
          <p:cNvSpPr txBox="1"/>
          <p:nvPr/>
        </p:nvSpPr>
        <p:spPr>
          <a:xfrm>
            <a:off x="731520" y="1463040"/>
            <a:ext cx="10058400" cy="457200"/>
          </a:xfrm>
          <a:prstGeom prst="rect">
            <a:avLst/>
          </a:prstGeom>
          <a:noFill/>
        </p:spPr>
        <p:txBody>
          <a:bodyPr wrap="square" lIns="0" rIns="0">
            <a:spAutoFit/>
          </a:bodyPr>
          <a:lstStyle/>
          <a:p>
            <a:pPr algn="l">
              <a:defRPr sz="1400" b="1">
                <a:solidFill>
                  <a:srgbClr val="00D4DB"/>
                </a:solidFill>
                <a:latin typeface="Calibri"/>
              </a:defRPr>
            </a:pPr>
            <a:r>
              <a:t>Session 3 of 6  ·  Digital Youth Work CPD</a:t>
            </a:r>
          </a:p>
        </p:txBody>
      </p:sp>
      <p:sp>
        <p:nvSpPr>
          <p:cNvPr id="10" name="TextBox 9"/>
          <p:cNvSpPr txBox="1"/>
          <p:nvPr/>
        </p:nvSpPr>
        <p:spPr>
          <a:xfrm>
            <a:off x="731520" y="2103120"/>
            <a:ext cx="10515600" cy="2286000"/>
          </a:xfrm>
          <a:prstGeom prst="rect">
            <a:avLst/>
          </a:prstGeom>
          <a:noFill/>
        </p:spPr>
        <p:txBody>
          <a:bodyPr wrap="square" lIns="0" rIns="0">
            <a:spAutoFit/>
          </a:bodyPr>
          <a:lstStyle/>
          <a:p>
            <a:pPr algn="l">
              <a:defRPr sz="5200" b="1">
                <a:solidFill>
                  <a:srgbClr val="FFFFFF"/>
                </a:solidFill>
                <a:latin typeface="Calibri"/>
              </a:defRPr>
            </a:pPr>
            <a:r>
              <a:t>Keeping Young People Safe Online</a:t>
            </a:r>
          </a:p>
        </p:txBody>
      </p:sp>
      <p:sp>
        <p:nvSpPr>
          <p:cNvPr id="11" name="TextBox 10"/>
          <p:cNvSpPr txBox="1"/>
          <p:nvPr/>
        </p:nvSpPr>
        <p:spPr>
          <a:xfrm>
            <a:off x="731520" y="4389120"/>
            <a:ext cx="10058400" cy="1371600"/>
          </a:xfrm>
          <a:prstGeom prst="rect">
            <a:avLst/>
          </a:prstGeom>
          <a:noFill/>
        </p:spPr>
        <p:txBody>
          <a:bodyPr wrap="square" lIns="0" rIns="0">
            <a:spAutoFit/>
          </a:bodyPr>
          <a:lstStyle/>
          <a:p>
            <a:pPr algn="l">
              <a:defRPr sz="1700" b="0">
                <a:solidFill>
                  <a:srgbClr val="B8B8D0"/>
                </a:solidFill>
                <a:latin typeface="Calibri"/>
              </a:defRPr>
            </a:pPr>
            <a:r>
              <a:t>Practitioners navigate ethical tensions across public, private, and direct message digital contexts — and tell the difference between a safeguard that protects young people and one that protects the organisation.</a:t>
            </a:r>
          </a:p>
        </p:txBody>
      </p:sp>
      <p:pic>
        <p:nvPicPr>
          <p:cNvPr id="12" name="Picture 11" descr="mascot.png"/>
          <p:cNvPicPr>
            <a:picLocks noChangeAspect="1"/>
          </p:cNvPicPr>
          <p:nvPr/>
        </p:nvPicPr>
        <p:blipFill>
          <a:blip r:embed="rId3"/>
          <a:stretch>
            <a:fillRect/>
          </a:stretch>
        </p:blipFill>
        <p:spPr>
          <a:xfrm>
            <a:off x="10332720" y="4846320"/>
            <a:ext cx="1187037" cy="1463040"/>
          </a:xfrm>
          <a:prstGeom prst="rect">
            <a:avLst/>
          </a:prstGeom>
        </p:spPr>
      </p:pic>
      <p:sp>
        <p:nvSpPr>
          <p:cNvPr id="13" name="TextBox 12"/>
          <p:cNvSpPr txBox="1"/>
          <p:nvPr/>
        </p:nvSpPr>
        <p:spPr>
          <a:xfrm>
            <a:off x="731520" y="6217920"/>
            <a:ext cx="5486400" cy="274320"/>
          </a:xfrm>
          <a:prstGeom prst="rect">
            <a:avLst/>
          </a:prstGeom>
          <a:noFill/>
        </p:spPr>
        <p:txBody>
          <a:bodyPr wrap="square" lIns="0" rIns="0">
            <a:spAutoFit/>
          </a:bodyPr>
          <a:lstStyle/>
          <a:p>
            <a:pPr algn="l">
              <a:defRPr sz="1100" b="1">
                <a:solidFill>
                  <a:srgbClr val="7B7B96"/>
                </a:solidFill>
                <a:latin typeface="Calibri"/>
              </a:defRPr>
            </a:pPr>
            <a:r>
              <a:t>Robocode × LIA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4063898" cy="73152"/>
          </a:xfrm>
          <a:prstGeom prst="rect">
            <a:avLst/>
          </a:prstGeom>
          <a:solidFill>
            <a:srgbClr val="00D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63898" y="0"/>
            <a:ext cx="4063898" cy="73152"/>
          </a:xfrm>
          <a:prstGeom prst="rect">
            <a:avLst/>
          </a:prstGeom>
          <a:solidFill>
            <a:srgbClr val="7B6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7796" y="0"/>
            <a:ext cx="4063898" cy="73152"/>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11480"/>
            <a:ext cx="5486400" cy="365760"/>
          </a:xfrm>
          <a:prstGeom prst="rect">
            <a:avLst/>
          </a:prstGeom>
          <a:noFill/>
        </p:spPr>
        <p:txBody>
          <a:bodyPr wrap="square" lIns="0" rIns="0">
            <a:spAutoFit/>
          </a:bodyPr>
          <a:lstStyle/>
          <a:p>
            <a:pPr algn="l">
              <a:defRPr sz="1300" b="1">
                <a:solidFill>
                  <a:srgbClr val="7B61FF"/>
                </a:solidFill>
                <a:latin typeface="Calibri"/>
              </a:defRPr>
            </a:pPr>
            <a:r>
              <a:t>LEARNING OBJECTIVES</a:t>
            </a:r>
          </a:p>
        </p:txBody>
      </p:sp>
      <p:sp>
        <p:nvSpPr>
          <p:cNvPr id="6" name="TextBox 5"/>
          <p:cNvSpPr txBox="1"/>
          <p:nvPr/>
        </p:nvSpPr>
        <p:spPr>
          <a:xfrm>
            <a:off x="731520" y="914400"/>
            <a:ext cx="10058400" cy="640080"/>
          </a:xfrm>
          <a:prstGeom prst="rect">
            <a:avLst/>
          </a:prstGeom>
          <a:noFill/>
        </p:spPr>
        <p:txBody>
          <a:bodyPr wrap="square" lIns="0" rIns="0">
            <a:spAutoFit/>
          </a:bodyPr>
          <a:lstStyle/>
          <a:p>
            <a:pPr algn="l">
              <a:defRPr sz="3200" b="1">
                <a:solidFill>
                  <a:srgbClr val="FFFFFF"/>
                </a:solidFill>
                <a:latin typeface="Calibri"/>
              </a:defRPr>
            </a:pPr>
            <a:r>
              <a:t>What we're here to do</a:t>
            </a:r>
          </a:p>
        </p:txBody>
      </p:sp>
      <p:sp>
        <p:nvSpPr>
          <p:cNvPr id="7" name="TextBox 6"/>
          <p:cNvSpPr txBox="1"/>
          <p:nvPr/>
        </p:nvSpPr>
        <p:spPr>
          <a:xfrm>
            <a:off x="731520" y="2011680"/>
            <a:ext cx="4572000" cy="365760"/>
          </a:xfrm>
          <a:prstGeom prst="rect">
            <a:avLst/>
          </a:prstGeom>
          <a:noFill/>
        </p:spPr>
        <p:txBody>
          <a:bodyPr wrap="square" lIns="0" rIns="0">
            <a:spAutoFit/>
          </a:bodyPr>
          <a:lstStyle/>
          <a:p>
            <a:pPr algn="l">
              <a:defRPr sz="1200" b="1">
                <a:solidFill>
                  <a:srgbClr val="00D4DB"/>
                </a:solidFill>
                <a:latin typeface="Calibri"/>
              </a:defRPr>
            </a:pPr>
            <a:r>
              <a:t>AIM</a:t>
            </a:r>
          </a:p>
        </p:txBody>
      </p:sp>
      <p:sp>
        <p:nvSpPr>
          <p:cNvPr id="8" name="TextBox 7"/>
          <p:cNvSpPr txBox="1"/>
          <p:nvPr/>
        </p:nvSpPr>
        <p:spPr>
          <a:xfrm>
            <a:off x="731520" y="2331720"/>
            <a:ext cx="10515600" cy="1188720"/>
          </a:xfrm>
          <a:prstGeom prst="rect">
            <a:avLst/>
          </a:prstGeom>
          <a:noFill/>
        </p:spPr>
        <p:txBody>
          <a:bodyPr wrap="square" lIns="0" rIns="0">
            <a:spAutoFit/>
          </a:bodyPr>
          <a:lstStyle/>
          <a:p>
            <a:pPr algn="l">
              <a:defRPr sz="1400" b="0">
                <a:solidFill>
                  <a:srgbClr val="B8B8D0"/>
                </a:solidFill>
                <a:latin typeface="Calibri"/>
              </a:defRPr>
            </a:pPr>
            <a:r>
              <a:t>Practitioners navigate ethical tensions across public, private, and direct message digital contexts — and tell the difference between a safeguard that protects young people and one that protects the organisation.</a:t>
            </a:r>
          </a:p>
        </p:txBody>
      </p:sp>
      <p:sp>
        <p:nvSpPr>
          <p:cNvPr id="9" name="TextBox 8"/>
          <p:cNvSpPr txBox="1"/>
          <p:nvPr/>
        </p:nvSpPr>
        <p:spPr>
          <a:xfrm>
            <a:off x="731520" y="3566160"/>
            <a:ext cx="4572000" cy="365760"/>
          </a:xfrm>
          <a:prstGeom prst="rect">
            <a:avLst/>
          </a:prstGeom>
          <a:noFill/>
        </p:spPr>
        <p:txBody>
          <a:bodyPr wrap="square" lIns="0" rIns="0">
            <a:spAutoFit/>
          </a:bodyPr>
          <a:lstStyle/>
          <a:p>
            <a:pPr algn="l">
              <a:defRPr sz="1200" b="1">
                <a:solidFill>
                  <a:srgbClr val="00D4DB"/>
                </a:solidFill>
                <a:latin typeface="Calibri"/>
              </a:defRPr>
            </a:pPr>
            <a:r>
              <a:t>OBJECTIVES</a:t>
            </a:r>
          </a:p>
        </p:txBody>
      </p:sp>
      <p:sp>
        <p:nvSpPr>
          <p:cNvPr id="10" name="TextBox 9"/>
          <p:cNvSpPr txBox="1"/>
          <p:nvPr/>
        </p:nvSpPr>
        <p:spPr>
          <a:xfrm>
            <a:off x="731520" y="3886200"/>
            <a:ext cx="10515600" cy="2286000"/>
          </a:xfrm>
          <a:prstGeom prst="rect">
            <a:avLst/>
          </a:prstGeom>
          <a:noFill/>
        </p:spPr>
        <p:txBody>
          <a:bodyPr wrap="square" lIns="0">
            <a:spAutoFit/>
          </a:bodyPr>
          <a:lstStyle/>
          <a:p>
            <a:pPr>
              <a:spcAft>
                <a:spcPts val="800"/>
              </a:spcAft>
              <a:defRPr sz="1300">
                <a:solidFill>
                  <a:srgbClr val="FFFFFF"/>
                </a:solidFill>
                <a:latin typeface="Calibri"/>
              </a:defRPr>
            </a:pPr>
            <a:r>
              <a:t>•  Respond to safeguarding scenarios in three distinct digital contexts (public, private group, DM)</a:t>
            </a:r>
          </a:p>
          <a:p>
            <a:pPr>
              <a:spcAft>
                <a:spcPts val="800"/>
              </a:spcAft>
              <a:defRPr sz="1300">
                <a:solidFill>
                  <a:srgbClr val="FFFFFF"/>
                </a:solidFill>
                <a:latin typeface="Calibri"/>
              </a:defRPr>
            </a:pPr>
            <a:r>
              <a:t>•  Distinguish between system-level safeguards and verbal or policy-level responses</a:t>
            </a:r>
          </a:p>
          <a:p>
            <a:pPr>
              <a:spcAft>
                <a:spcPts val="800"/>
              </a:spcAft>
              <a:defRPr sz="1300">
                <a:solidFill>
                  <a:srgbClr val="FFFFFF"/>
                </a:solidFill>
                <a:latin typeface="Calibri"/>
              </a:defRPr>
            </a:pPr>
            <a:r>
              <a:t>•  Identify the trade-off between control and agency in digital spaces</a:t>
            </a:r>
          </a:p>
          <a:p>
            <a:pPr>
              <a:spcAft>
                <a:spcPts val="800"/>
              </a:spcAft>
              <a:defRPr sz="1300">
                <a:solidFill>
                  <a:srgbClr val="FFFFFF"/>
                </a:solidFill>
                <a:latin typeface="Calibri"/>
              </a:defRPr>
            </a:pPr>
            <a:r>
              <a:t>•  Recognise legal and duty-of-care obligations that apply regardless of context</a:t>
            </a:r>
          </a:p>
        </p:txBody>
      </p:sp>
      <p:sp>
        <p:nvSpPr>
          <p:cNvPr id="11" name="TextBox 10"/>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Robocode × LIA  ·  Digital Youth Work CPD  ·  Session 3 of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5486400" cy="365760"/>
          </a:xfrm>
          <a:prstGeom prst="rect">
            <a:avLst/>
          </a:prstGeom>
          <a:noFill/>
        </p:spPr>
        <p:txBody>
          <a:bodyPr wrap="square" lIns="0" rIns="0">
            <a:spAutoFit/>
          </a:bodyPr>
          <a:lstStyle/>
          <a:p>
            <a:pPr algn="l">
              <a:defRPr sz="1400" b="1">
                <a:solidFill>
                  <a:srgbClr val="00D4DB"/>
                </a:solidFill>
                <a:latin typeface="Calibri"/>
              </a:defRPr>
            </a:pPr>
            <a:r>
              <a:t>DISCOVER</a:t>
            </a:r>
          </a:p>
        </p:txBody>
      </p:sp>
      <p:sp>
        <p:nvSpPr>
          <p:cNvPr id="4" name="TextBox 3"/>
          <p:cNvSpPr txBox="1"/>
          <p:nvPr/>
        </p:nvSpPr>
        <p:spPr>
          <a:xfrm>
            <a:off x="731520" y="868680"/>
            <a:ext cx="5486400" cy="365760"/>
          </a:xfrm>
          <a:prstGeom prst="rect">
            <a:avLst/>
          </a:prstGeom>
          <a:noFill/>
        </p:spPr>
        <p:txBody>
          <a:bodyPr wrap="square" lIns="0" rIns="0">
            <a:spAutoFit/>
          </a:bodyPr>
          <a:lstStyle/>
          <a:p>
            <a:pPr algn="l">
              <a:defRPr sz="1200" b="0">
                <a:solidFill>
                  <a:srgbClr val="7B7B96"/>
                </a:solidFill>
                <a:latin typeface="Calibri"/>
              </a:defRPr>
            </a:pPr>
            <a:r>
              <a:t>0 – 15 min</a:t>
            </a:r>
          </a:p>
        </p:txBody>
      </p:sp>
      <p:sp>
        <p:nvSpPr>
          <p:cNvPr id="5" name="TextBox 4"/>
          <p:cNvSpPr txBox="1"/>
          <p:nvPr/>
        </p:nvSpPr>
        <p:spPr>
          <a:xfrm>
            <a:off x="731520" y="1828800"/>
            <a:ext cx="10515600" cy="2286000"/>
          </a:xfrm>
          <a:prstGeom prst="rect">
            <a:avLst/>
          </a:prstGeom>
          <a:noFill/>
        </p:spPr>
        <p:txBody>
          <a:bodyPr wrap="square" lIns="0" rIns="0">
            <a:spAutoFit/>
          </a:bodyPr>
          <a:lstStyle/>
          <a:p>
            <a:pPr algn="l">
              <a:defRPr sz="3800" b="1">
                <a:solidFill>
                  <a:srgbClr val="FFFFFF"/>
                </a:solidFill>
                <a:latin typeface="Calibri"/>
              </a:defRPr>
            </a:pPr>
            <a:r>
              <a:t>"What is harm in a digital space — and who is responsible for preventing it?"</a:t>
            </a:r>
          </a:p>
        </p:txBody>
      </p:sp>
      <p:sp>
        <p:nvSpPr>
          <p:cNvPr id="6" name="TextBox 5"/>
          <p:cNvSpPr txBox="1"/>
          <p:nvPr/>
        </p:nvSpPr>
        <p:spPr>
          <a:xfrm>
            <a:off x="731520" y="4389120"/>
            <a:ext cx="10515600" cy="1828800"/>
          </a:xfrm>
          <a:prstGeom prst="rect">
            <a:avLst/>
          </a:prstGeom>
          <a:noFill/>
        </p:spPr>
        <p:txBody>
          <a:bodyPr wrap="square" lIns="0" rIns="0">
            <a:spAutoFit/>
          </a:bodyPr>
          <a:lstStyle/>
          <a:p>
            <a:pPr algn="l">
              <a:defRPr sz="1700" b="0">
                <a:solidFill>
                  <a:srgbClr val="B8B8D0"/>
                </a:solidFill>
                <a:latin typeface="Calibri"/>
              </a:defRPr>
            </a:pPr>
            <a:r>
              <a:t>Harm online doesn't always look like harm in a room. Sometimes it's invisible. Sometimes the thing designed to keep people safe actually makes things worse. This session is about seeing the whole picture — and choosing where you intervene.</a:t>
            </a:r>
          </a:p>
        </p:txBody>
      </p:sp>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Robocode × LIA  ·  Digital Youth Work CPD  ·  Session 3 of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D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00D4DB"/>
                </a:solidFill>
                <a:latin typeface="Calibri"/>
              </a:defRPr>
            </a:pPr>
            <a:r>
              <a:t>DISCOVER</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Harm Mapping</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Two columns on the whiteboard: 'Harm I've seen in person' and 'Harm I've seen online'. Everyone adds 2 sticky notes to each. Group similar ones together. What's different about the online column? What's missing that should be there?</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3  ·  DISCOVER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D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00D4DB"/>
                </a:solidFill>
                <a:latin typeface="Calibri"/>
              </a:defRPr>
            </a:pPr>
            <a:r>
              <a:t>DISCOVER</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Who's Responsible?</a:t>
            </a:r>
          </a:p>
        </p:txBody>
      </p:sp>
      <p:sp>
        <p:nvSpPr>
          <p:cNvPr id="5" name="TextBox 4"/>
          <p:cNvSpPr txBox="1"/>
          <p:nvPr/>
        </p:nvSpPr>
        <p:spPr>
          <a:xfrm>
            <a:off x="731520" y="2103120"/>
            <a:ext cx="10515600" cy="365760"/>
          </a:xfrm>
          <a:prstGeom prst="rect">
            <a:avLst/>
          </a:prstGeom>
          <a:noFill/>
        </p:spPr>
        <p:txBody>
          <a:bodyPr wrap="square" lIns="0" rIns="0">
            <a:spAutoFit/>
          </a:bodyPr>
          <a:lstStyle/>
          <a:p>
            <a:pPr algn="l">
              <a:defRPr sz="1400" b="1">
                <a:solidFill>
                  <a:srgbClr val="E91E8C"/>
                </a:solidFill>
                <a:latin typeface="Calibri"/>
              </a:defRPr>
            </a:pPr>
            <a:r>
              <a:t>🛠  Mentimeter</a:t>
            </a:r>
          </a:p>
        </p:txBody>
      </p:sp>
      <p:sp>
        <p:nvSpPr>
          <p:cNvPr id="6" name="TextBox 5"/>
          <p:cNvSpPr txBox="1"/>
          <p:nvPr/>
        </p:nvSpPr>
        <p:spPr>
          <a:xfrm>
            <a:off x="731520" y="2560320"/>
            <a:ext cx="10515600" cy="2743200"/>
          </a:xfrm>
          <a:prstGeom prst="rect">
            <a:avLst/>
          </a:prstGeom>
          <a:noFill/>
        </p:spPr>
        <p:txBody>
          <a:bodyPr wrap="square" lIns="0" rIns="0">
            <a:spAutoFit/>
          </a:bodyPr>
          <a:lstStyle/>
          <a:p>
            <a:pPr algn="l">
              <a:defRPr sz="1900" b="0">
                <a:solidFill>
                  <a:srgbClr val="FFFFFF"/>
                </a:solidFill>
                <a:latin typeface="Calibri"/>
              </a:defRPr>
            </a:pPr>
            <a:r>
              <a:t>Ranking poll: who's most responsible for online safety? The platform · the young person · the parent · the youth worker · the school · the government. Submit your ranking. Show the aggregate. Discuss where the room splits.</a:t>
            </a:r>
          </a:p>
        </p:txBody>
      </p:sp>
      <p:pic>
        <p:nvPicPr>
          <p:cNvPr id="7" name="Picture 6" descr="logo.png"/>
          <p:cNvPicPr>
            <a:picLocks noChangeAspect="1"/>
          </p:cNvPicPr>
          <p:nvPr/>
        </p:nvPicPr>
        <p:blipFill>
          <a:blip r:embed="rId2"/>
          <a:stretch>
            <a:fillRect/>
          </a:stretch>
        </p:blipFill>
        <p:spPr>
          <a:xfrm>
            <a:off x="10515600" y="6355080"/>
            <a:ext cx="1180586" cy="274320"/>
          </a:xfrm>
          <a:prstGeom prst="rect">
            <a:avLst/>
          </a:prstGeom>
        </p:spPr>
      </p:pic>
      <p:sp>
        <p:nvSpPr>
          <p:cNvPr id="8" name="TextBox 7"/>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3  ·  DISCOVER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D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00D4DB"/>
                </a:solidFill>
                <a:latin typeface="Calibri"/>
              </a:defRPr>
            </a:pPr>
            <a:r>
              <a:t>DISCOVER</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First Word That Comes to Mind</a:t>
            </a:r>
          </a:p>
        </p:txBody>
      </p:sp>
      <p:sp>
        <p:nvSpPr>
          <p:cNvPr id="5" name="TextBox 4"/>
          <p:cNvSpPr txBox="1"/>
          <p:nvPr/>
        </p:nvSpPr>
        <p:spPr>
          <a:xfrm>
            <a:off x="731520" y="2103120"/>
            <a:ext cx="10515600" cy="365760"/>
          </a:xfrm>
          <a:prstGeom prst="rect">
            <a:avLst/>
          </a:prstGeom>
          <a:noFill/>
        </p:spPr>
        <p:txBody>
          <a:bodyPr wrap="square" lIns="0" rIns="0">
            <a:spAutoFit/>
          </a:bodyPr>
          <a:lstStyle/>
          <a:p>
            <a:pPr algn="l">
              <a:defRPr sz="1400" b="1">
                <a:solidFill>
                  <a:srgbClr val="E91E8C"/>
                </a:solidFill>
                <a:latin typeface="Calibri"/>
              </a:defRPr>
            </a:pPr>
            <a:r>
              <a:t>🛠  Mentimeter</a:t>
            </a:r>
          </a:p>
        </p:txBody>
      </p:sp>
      <p:sp>
        <p:nvSpPr>
          <p:cNvPr id="6" name="TextBox 5"/>
          <p:cNvSpPr txBox="1"/>
          <p:nvPr/>
        </p:nvSpPr>
        <p:spPr>
          <a:xfrm>
            <a:off x="731520" y="2560320"/>
            <a:ext cx="10515600" cy="2743200"/>
          </a:xfrm>
          <a:prstGeom prst="rect">
            <a:avLst/>
          </a:prstGeom>
          <a:noFill/>
        </p:spPr>
        <p:txBody>
          <a:bodyPr wrap="square" lIns="0" rIns="0">
            <a:spAutoFit/>
          </a:bodyPr>
          <a:lstStyle/>
          <a:p>
            <a:pPr algn="l">
              <a:defRPr sz="1900" b="0">
                <a:solidFill>
                  <a:srgbClr val="FFFFFF"/>
                </a:solidFill>
                <a:latin typeface="Calibri"/>
              </a:defRPr>
            </a:pPr>
            <a:r>
              <a:t>Three word clouds shown in sequence: 'public space online', 'private group online', 'direct message'. One word each. What's the emotional weight of each context? Where does fear cluster?</a:t>
            </a:r>
          </a:p>
        </p:txBody>
      </p:sp>
      <p:pic>
        <p:nvPicPr>
          <p:cNvPr id="7" name="Picture 6" descr="logo.png"/>
          <p:cNvPicPr>
            <a:picLocks noChangeAspect="1"/>
          </p:cNvPicPr>
          <p:nvPr/>
        </p:nvPicPr>
        <p:blipFill>
          <a:blip r:embed="rId2"/>
          <a:stretch>
            <a:fillRect/>
          </a:stretch>
        </p:blipFill>
        <p:spPr>
          <a:xfrm>
            <a:off x="10515600" y="6355080"/>
            <a:ext cx="1180586" cy="274320"/>
          </a:xfrm>
          <a:prstGeom prst="rect">
            <a:avLst/>
          </a:prstGeom>
        </p:spPr>
      </p:pic>
      <p:sp>
        <p:nvSpPr>
          <p:cNvPr id="8" name="TextBox 7"/>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3  ·  DISCOVER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D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00D4DB"/>
                </a:solidFill>
                <a:latin typeface="Calibri"/>
              </a:defRPr>
            </a:pPr>
            <a:r>
              <a:t>DISCOVER</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Safeguarding Story</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Turn to your neighbour. 60 seconds each: a time you saw a safeguarding response work well — online or off. Swap. No-one presents back. The point is to remember that safeguarding can go right.</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3  ·  DISCOVER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D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00D4DB"/>
                </a:solidFill>
                <a:latin typeface="Calibri"/>
              </a:defRPr>
            </a:pPr>
            <a:r>
              <a:t>DISCOVER</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Risk Rating Check</a:t>
            </a:r>
          </a:p>
        </p:txBody>
      </p:sp>
      <p:sp>
        <p:nvSpPr>
          <p:cNvPr id="5" name="TextBox 4"/>
          <p:cNvSpPr txBox="1"/>
          <p:nvPr/>
        </p:nvSpPr>
        <p:spPr>
          <a:xfrm>
            <a:off x="731520" y="2103120"/>
            <a:ext cx="10515600" cy="365760"/>
          </a:xfrm>
          <a:prstGeom prst="rect">
            <a:avLst/>
          </a:prstGeom>
          <a:noFill/>
        </p:spPr>
        <p:txBody>
          <a:bodyPr wrap="square" lIns="0" rIns="0">
            <a:spAutoFit/>
          </a:bodyPr>
          <a:lstStyle/>
          <a:p>
            <a:pPr algn="l">
              <a:defRPr sz="1400" b="1">
                <a:solidFill>
                  <a:srgbClr val="E91E8C"/>
                </a:solidFill>
                <a:latin typeface="Calibri"/>
              </a:defRPr>
            </a:pPr>
            <a:r>
              <a:t>🛠  Mentimeter</a:t>
            </a:r>
          </a:p>
        </p:txBody>
      </p:sp>
      <p:sp>
        <p:nvSpPr>
          <p:cNvPr id="6" name="TextBox 5"/>
          <p:cNvSpPr txBox="1"/>
          <p:nvPr/>
        </p:nvSpPr>
        <p:spPr>
          <a:xfrm>
            <a:off x="731520" y="2560320"/>
            <a:ext cx="10515600" cy="2743200"/>
          </a:xfrm>
          <a:prstGeom prst="rect">
            <a:avLst/>
          </a:prstGeom>
          <a:noFill/>
        </p:spPr>
        <p:txBody>
          <a:bodyPr wrap="square" lIns="0" rIns="0">
            <a:spAutoFit/>
          </a:bodyPr>
          <a:lstStyle/>
          <a:p>
            <a:pPr algn="l">
              <a:defRPr sz="1900" b="0">
                <a:solidFill>
                  <a:srgbClr val="FFFFFF"/>
                </a:solidFill>
                <a:latin typeface="Calibri"/>
              </a:defRPr>
            </a:pPr>
            <a:r>
              <a:t>Rate each context 1–5 on perceived risk: public Kahoot · private WhatsApp group · Instagram DM with a young person. Submit privately. Show results. Which one surprised you? Which one are you actually most trained for?</a:t>
            </a:r>
          </a:p>
        </p:txBody>
      </p:sp>
      <p:pic>
        <p:nvPicPr>
          <p:cNvPr id="7" name="Picture 6" descr="logo.png"/>
          <p:cNvPicPr>
            <a:picLocks noChangeAspect="1"/>
          </p:cNvPicPr>
          <p:nvPr/>
        </p:nvPicPr>
        <p:blipFill>
          <a:blip r:embed="rId2"/>
          <a:stretch>
            <a:fillRect/>
          </a:stretch>
        </p:blipFill>
        <p:spPr>
          <a:xfrm>
            <a:off x="10515600" y="6355080"/>
            <a:ext cx="1180586" cy="274320"/>
          </a:xfrm>
          <a:prstGeom prst="rect">
            <a:avLst/>
          </a:prstGeom>
        </p:spPr>
      </p:pic>
      <p:sp>
        <p:nvSpPr>
          <p:cNvPr id="8" name="TextBox 7"/>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3  ·  DISCOVER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5486400" cy="365760"/>
          </a:xfrm>
          <a:prstGeom prst="rect">
            <a:avLst/>
          </a:prstGeom>
          <a:noFill/>
        </p:spPr>
        <p:txBody>
          <a:bodyPr wrap="square" lIns="0" rIns="0">
            <a:spAutoFit/>
          </a:bodyPr>
          <a:lstStyle/>
          <a:p>
            <a:pPr algn="l">
              <a:defRPr sz="1400" b="1">
                <a:solidFill>
                  <a:srgbClr val="E91E8C"/>
                </a:solidFill>
                <a:latin typeface="Calibri"/>
              </a:defRPr>
            </a:pPr>
            <a:r>
              <a:t>ACTIVITY</a:t>
            </a:r>
          </a:p>
        </p:txBody>
      </p:sp>
      <p:sp>
        <p:nvSpPr>
          <p:cNvPr id="4" name="TextBox 3"/>
          <p:cNvSpPr txBox="1"/>
          <p:nvPr/>
        </p:nvSpPr>
        <p:spPr>
          <a:xfrm>
            <a:off x="731520" y="868680"/>
            <a:ext cx="5486400" cy="365760"/>
          </a:xfrm>
          <a:prstGeom prst="rect">
            <a:avLst/>
          </a:prstGeom>
          <a:noFill/>
        </p:spPr>
        <p:txBody>
          <a:bodyPr wrap="square" lIns="0" rIns="0">
            <a:spAutoFit/>
          </a:bodyPr>
          <a:lstStyle/>
          <a:p>
            <a:pPr algn="l">
              <a:defRPr sz="1200" b="0">
                <a:solidFill>
                  <a:srgbClr val="7B7B96"/>
                </a:solidFill>
                <a:latin typeface="Calibri"/>
              </a:defRPr>
            </a:pPr>
            <a:r>
              <a:t>15 – 75 min</a:t>
            </a:r>
          </a:p>
        </p:txBody>
      </p:sp>
      <p:sp>
        <p:nvSpPr>
          <p:cNvPr id="5" name="TextBox 4"/>
          <p:cNvSpPr txBox="1"/>
          <p:nvPr/>
        </p:nvSpPr>
        <p:spPr>
          <a:xfrm>
            <a:off x="731520" y="1828800"/>
            <a:ext cx="10515600" cy="1371600"/>
          </a:xfrm>
          <a:prstGeom prst="rect">
            <a:avLst/>
          </a:prstGeom>
          <a:noFill/>
        </p:spPr>
        <p:txBody>
          <a:bodyPr wrap="square" lIns="0" rIns="0">
            <a:spAutoFit/>
          </a:bodyPr>
          <a:lstStyle/>
          <a:p>
            <a:pPr algn="l">
              <a:defRPr sz="3800" b="1">
                <a:solidFill>
                  <a:srgbClr val="FFFFFF"/>
                </a:solidFill>
                <a:latin typeface="Calibri"/>
              </a:defRPr>
            </a:pPr>
            <a:r>
              <a:t>Activity</a:t>
            </a:r>
          </a:p>
        </p:txBody>
      </p:sp>
      <p:sp>
        <p:nvSpPr>
          <p:cNvPr id="6" name="TextBox 5"/>
          <p:cNvSpPr txBox="1"/>
          <p:nvPr/>
        </p:nvSpPr>
        <p:spPr>
          <a:xfrm>
            <a:off x="731520" y="2926080"/>
            <a:ext cx="10515600" cy="457200"/>
          </a:xfrm>
          <a:prstGeom prst="rect">
            <a:avLst/>
          </a:prstGeom>
          <a:noFill/>
        </p:spPr>
        <p:txBody>
          <a:bodyPr wrap="square" lIns="0" rIns="0">
            <a:spAutoFit/>
          </a:bodyPr>
          <a:lstStyle/>
          <a:p>
            <a:pPr algn="l">
              <a:defRPr sz="1400" b="0">
                <a:solidFill>
                  <a:srgbClr val="B8B8D0"/>
                </a:solidFill>
                <a:latin typeface="Calibri"/>
              </a:defRPr>
            </a:pPr>
            <a:r>
              <a:t>6 activities in this block:</a:t>
            </a:r>
          </a:p>
        </p:txBody>
      </p:sp>
      <p:sp>
        <p:nvSpPr>
          <p:cNvPr id="7" name="TextBox 6"/>
          <p:cNvSpPr txBox="1"/>
          <p:nvPr/>
        </p:nvSpPr>
        <p:spPr>
          <a:xfrm>
            <a:off x="731520" y="3383280"/>
            <a:ext cx="10515600" cy="3017520"/>
          </a:xfrm>
          <a:prstGeom prst="rect">
            <a:avLst/>
          </a:prstGeom>
          <a:noFill/>
        </p:spPr>
        <p:txBody>
          <a:bodyPr wrap="square" lIns="0">
            <a:spAutoFit/>
          </a:bodyPr>
          <a:lstStyle/>
          <a:p>
            <a:pPr>
              <a:spcAft>
                <a:spcPts val="800"/>
              </a:spcAft>
              <a:defRPr sz="1600">
                <a:solidFill>
                  <a:srgbClr val="FFFFFF"/>
                </a:solidFill>
                <a:latin typeface="Calibri"/>
              </a:defRPr>
            </a:pPr>
            <a:r>
              <a:t>→  Scenario A — Public Space</a:t>
            </a:r>
          </a:p>
          <a:p>
            <a:pPr>
              <a:spcAft>
                <a:spcPts val="800"/>
              </a:spcAft>
              <a:defRPr sz="1600">
                <a:solidFill>
                  <a:srgbClr val="FFFFFF"/>
                </a:solidFill>
                <a:latin typeface="Calibri"/>
              </a:defRPr>
            </a:pPr>
            <a:r>
              <a:t>→  Scenario B — Private Group</a:t>
            </a:r>
          </a:p>
          <a:p>
            <a:pPr>
              <a:spcAft>
                <a:spcPts val="800"/>
              </a:spcAft>
              <a:defRPr sz="1600">
                <a:solidFill>
                  <a:srgbClr val="FFFFFF"/>
                </a:solidFill>
                <a:latin typeface="Calibri"/>
              </a:defRPr>
            </a:pPr>
            <a:r>
              <a:t>→  Scenario C — Direct Message</a:t>
            </a:r>
          </a:p>
          <a:p>
            <a:pPr>
              <a:spcAft>
                <a:spcPts val="800"/>
              </a:spcAft>
              <a:defRPr sz="1600">
                <a:solidFill>
                  <a:srgbClr val="FFFFFF"/>
                </a:solidFill>
                <a:latin typeface="Calibri"/>
              </a:defRPr>
            </a:pPr>
            <a:r>
              <a:t>→  System vs Verbal Split</a:t>
            </a:r>
          </a:p>
          <a:p>
            <a:pPr>
              <a:spcAft>
                <a:spcPts val="800"/>
              </a:spcAft>
              <a:defRPr sz="1600">
                <a:solidFill>
                  <a:srgbClr val="FFFFFF"/>
                </a:solidFill>
                <a:latin typeface="Calibri"/>
              </a:defRPr>
            </a:pPr>
            <a:r>
              <a:t>→  Platform Settings Safari</a:t>
            </a:r>
          </a:p>
          <a:p>
            <a:pPr>
              <a:spcAft>
                <a:spcPts val="800"/>
              </a:spcAft>
              <a:defRPr sz="1600">
                <a:solidFill>
                  <a:srgbClr val="FFFFFF"/>
                </a:solidFill>
                <a:latin typeface="Calibri"/>
              </a:defRPr>
            </a:pPr>
            <a:r>
              <a:t>→  Anonymous Confession</a:t>
            </a:r>
          </a:p>
        </p:txBody>
      </p:sp>
      <p:sp>
        <p:nvSpPr>
          <p:cNvPr id="8" name="TextBox 7"/>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Robocode × LIA  ·  Digital Youth Work CPD  ·  Session 3 of 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E91E8C"/>
                </a:solidFill>
                <a:latin typeface="Calibri"/>
              </a:defRPr>
            </a:pPr>
            <a:r>
              <a:t>ACTIVITY</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Scenario A — Public Space</a:t>
            </a:r>
          </a:p>
        </p:txBody>
      </p:sp>
      <p:sp>
        <p:nvSpPr>
          <p:cNvPr id="5" name="TextBox 4"/>
          <p:cNvSpPr txBox="1"/>
          <p:nvPr/>
        </p:nvSpPr>
        <p:spPr>
          <a:xfrm>
            <a:off x="731520" y="2103120"/>
            <a:ext cx="10515600" cy="365760"/>
          </a:xfrm>
          <a:prstGeom prst="rect">
            <a:avLst/>
          </a:prstGeom>
          <a:noFill/>
        </p:spPr>
        <p:txBody>
          <a:bodyPr wrap="square" lIns="0" rIns="0">
            <a:spAutoFit/>
          </a:bodyPr>
          <a:lstStyle/>
          <a:p>
            <a:pPr algn="l">
              <a:defRPr sz="1400" b="1">
                <a:solidFill>
                  <a:srgbClr val="E91E8C"/>
                </a:solidFill>
                <a:latin typeface="Calibri"/>
              </a:defRPr>
            </a:pPr>
            <a:r>
              <a:t>🛠  Kahoot (demo)</a:t>
            </a:r>
          </a:p>
        </p:txBody>
      </p:sp>
      <p:sp>
        <p:nvSpPr>
          <p:cNvPr id="6" name="TextBox 5"/>
          <p:cNvSpPr txBox="1"/>
          <p:nvPr/>
        </p:nvSpPr>
        <p:spPr>
          <a:xfrm>
            <a:off x="731520" y="2560320"/>
            <a:ext cx="10515600" cy="2743200"/>
          </a:xfrm>
          <a:prstGeom prst="rect">
            <a:avLst/>
          </a:prstGeom>
          <a:noFill/>
        </p:spPr>
        <p:txBody>
          <a:bodyPr wrap="square" lIns="0" rIns="0">
            <a:spAutoFit/>
          </a:bodyPr>
          <a:lstStyle/>
          <a:p>
            <a:pPr algn="l">
              <a:defRPr sz="1900" b="0">
                <a:solidFill>
                  <a:srgbClr val="FFFFFF"/>
                </a:solidFill>
                <a:latin typeface="Calibri"/>
              </a:defRPr>
            </a:pPr>
            <a:r>
              <a:t>You're running a live Kahoot quiz with 15 young people. Someone's typed answers are clearly mocking another participant — using their name as joke answers. Everyone can see. In small groups: what do you do RIGHT NOW? Then: what SYSTEM change would prevent this next time?</a:t>
            </a:r>
          </a:p>
        </p:txBody>
      </p:sp>
      <p:pic>
        <p:nvPicPr>
          <p:cNvPr id="7" name="Picture 6" descr="logo.png"/>
          <p:cNvPicPr>
            <a:picLocks noChangeAspect="1"/>
          </p:cNvPicPr>
          <p:nvPr/>
        </p:nvPicPr>
        <p:blipFill>
          <a:blip r:embed="rId2"/>
          <a:stretch>
            <a:fillRect/>
          </a:stretch>
        </p:blipFill>
        <p:spPr>
          <a:xfrm>
            <a:off x="10515600" y="6355080"/>
            <a:ext cx="1180586" cy="274320"/>
          </a:xfrm>
          <a:prstGeom prst="rect">
            <a:avLst/>
          </a:prstGeom>
        </p:spPr>
      </p:pic>
      <p:sp>
        <p:nvSpPr>
          <p:cNvPr id="8" name="TextBox 7"/>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3  ·  ACTIVITY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E91E8C"/>
                </a:solidFill>
                <a:latin typeface="Calibri"/>
              </a:defRPr>
            </a:pPr>
            <a:r>
              <a:t>ACTIVITY</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Scenario B — Private Group</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You run a WhatsApp group for your youth club — 12 members, aged 14–16. One member screenshots a personal message from the group and posts it on their Instagram story. A parent calls you, angry. What do you do? Could you have prevented this? What settings does WhatsApp even have for this?</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3  ·  ACTIVITY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E91E8C"/>
                </a:solidFill>
                <a:latin typeface="Calibri"/>
              </a:defRPr>
            </a:pPr>
            <a:r>
              <a:t>ACTIVITY</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Scenario C — Direct Message</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A young person DMs you on Instagram at 10pm: 'I'm worried about my friend. I think they're going to do something stupid tonight.' It's a personal device. It's outside work hours. It's a direct message. What do you do — right now, and in the next 24 hours?</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3  ·  ACTIVITY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E91E8C"/>
                </a:solidFill>
                <a:latin typeface="Calibri"/>
              </a:defRPr>
            </a:pPr>
            <a:r>
              <a:t>ACTIVITY</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System vs Verbal Split</a:t>
            </a:r>
          </a:p>
        </p:txBody>
      </p:sp>
      <p:sp>
        <p:nvSpPr>
          <p:cNvPr id="5" name="TextBox 4"/>
          <p:cNvSpPr txBox="1"/>
          <p:nvPr/>
        </p:nvSpPr>
        <p:spPr>
          <a:xfrm>
            <a:off x="731520" y="2103120"/>
            <a:ext cx="10515600" cy="365760"/>
          </a:xfrm>
          <a:prstGeom prst="rect">
            <a:avLst/>
          </a:prstGeom>
          <a:noFill/>
        </p:spPr>
        <p:txBody>
          <a:bodyPr wrap="square" lIns="0" rIns="0">
            <a:spAutoFit/>
          </a:bodyPr>
          <a:lstStyle/>
          <a:p>
            <a:pPr algn="l">
              <a:defRPr sz="1400" b="1">
                <a:solidFill>
                  <a:srgbClr val="E91E8C"/>
                </a:solidFill>
                <a:latin typeface="Calibri"/>
              </a:defRPr>
            </a:pPr>
            <a:r>
              <a:t>🛠  Mentimeter</a:t>
            </a:r>
          </a:p>
        </p:txBody>
      </p:sp>
      <p:sp>
        <p:nvSpPr>
          <p:cNvPr id="6" name="TextBox 5"/>
          <p:cNvSpPr txBox="1"/>
          <p:nvPr/>
        </p:nvSpPr>
        <p:spPr>
          <a:xfrm>
            <a:off x="731520" y="2560320"/>
            <a:ext cx="10515600" cy="2011680"/>
          </a:xfrm>
          <a:prstGeom prst="rect">
            <a:avLst/>
          </a:prstGeom>
          <a:noFill/>
        </p:spPr>
        <p:txBody>
          <a:bodyPr wrap="square" lIns="0" rIns="0">
            <a:spAutoFit/>
          </a:bodyPr>
          <a:lstStyle/>
          <a:p>
            <a:pPr algn="l">
              <a:defRPr sz="1900" b="0">
                <a:solidFill>
                  <a:srgbClr val="FFFFFF"/>
                </a:solidFill>
                <a:latin typeface="Calibri"/>
              </a:defRPr>
            </a:pPr>
            <a:r>
              <a:t>Ten possible responses appear on screen one at a time. For each, vote: is this a SYSTEM response (a setting, permission, or design choice) or a VERBAL response (something you'd say or do in person)? At the end, tally up: which column had more? Which type of response is stronger — in the moment vs long-term?</a:t>
            </a:r>
          </a:p>
        </p:txBody>
      </p:sp>
      <p:sp>
        <p:nvSpPr>
          <p:cNvPr id="7" name="TextBox 6"/>
          <p:cNvSpPr txBox="1"/>
          <p:nvPr/>
        </p:nvSpPr>
        <p:spPr>
          <a:xfrm>
            <a:off x="731520" y="4663440"/>
            <a:ext cx="10515600" cy="320040"/>
          </a:xfrm>
          <a:prstGeom prst="rect">
            <a:avLst/>
          </a:prstGeom>
          <a:noFill/>
        </p:spPr>
        <p:txBody>
          <a:bodyPr wrap="square" lIns="0" rIns="0">
            <a:spAutoFit/>
          </a:bodyPr>
          <a:lstStyle/>
          <a:p>
            <a:pPr algn="l">
              <a:defRPr sz="1100" b="1">
                <a:solidFill>
                  <a:srgbClr val="E91E8C"/>
                </a:solidFill>
                <a:latin typeface="Calibri"/>
              </a:defRPr>
            </a:pPr>
            <a:r>
              <a:t>PROMPTS</a:t>
            </a:r>
          </a:p>
        </p:txBody>
      </p:sp>
      <p:sp>
        <p:nvSpPr>
          <p:cNvPr id="8" name="TextBox 7"/>
          <p:cNvSpPr txBox="1"/>
          <p:nvPr/>
        </p:nvSpPr>
        <p:spPr>
          <a:xfrm>
            <a:off x="731520" y="4983480"/>
            <a:ext cx="10515600" cy="2103120"/>
          </a:xfrm>
          <a:prstGeom prst="rect">
            <a:avLst/>
          </a:prstGeom>
          <a:noFill/>
        </p:spPr>
        <p:txBody>
          <a:bodyPr wrap="square" lIns="0">
            <a:spAutoFit/>
          </a:bodyPr>
          <a:lstStyle/>
          <a:p>
            <a:pPr>
              <a:spcAft>
                <a:spcPts val="800"/>
              </a:spcAft>
              <a:defRPr sz="1300">
                <a:solidFill>
                  <a:srgbClr val="B8B8D0"/>
                </a:solidFill>
                <a:latin typeface="Calibri"/>
              </a:defRPr>
            </a:pPr>
            <a:r>
              <a:t>•  Turn on moderated answers in Kahoot before the next session</a:t>
            </a:r>
          </a:p>
          <a:p>
            <a:pPr>
              <a:spcAft>
                <a:spcPts val="800"/>
              </a:spcAft>
              <a:defRPr sz="1300">
                <a:solidFill>
                  <a:srgbClr val="B8B8D0"/>
                </a:solidFill>
                <a:latin typeface="Calibri"/>
              </a:defRPr>
            </a:pPr>
            <a:r>
              <a:t>•  Take the person aside and have a quiet word</a:t>
            </a:r>
          </a:p>
          <a:p>
            <a:pPr>
              <a:spcAft>
                <a:spcPts val="800"/>
              </a:spcAft>
              <a:defRPr sz="1300">
                <a:solidFill>
                  <a:srgbClr val="B8B8D0"/>
                </a:solidFill>
                <a:latin typeface="Calibri"/>
              </a:defRPr>
            </a:pPr>
            <a:r>
              <a:t>•  Change the WhatsApp group to admins-only posting</a:t>
            </a:r>
          </a:p>
          <a:p>
            <a:pPr>
              <a:spcAft>
                <a:spcPts val="800"/>
              </a:spcAft>
              <a:defRPr sz="1300">
                <a:solidFill>
                  <a:srgbClr val="B8B8D0"/>
                </a:solidFill>
                <a:latin typeface="Calibri"/>
              </a:defRPr>
            </a:pPr>
            <a:r>
              <a:t>•  Message the young person: 'Can we talk tomorrow at the club?'</a:t>
            </a:r>
          </a:p>
          <a:p>
            <a:pPr>
              <a:spcAft>
                <a:spcPts val="800"/>
              </a:spcAft>
              <a:defRPr sz="1300">
                <a:solidFill>
                  <a:srgbClr val="B8B8D0"/>
                </a:solidFill>
                <a:latin typeface="Calibri"/>
              </a:defRPr>
            </a:pPr>
            <a:r>
              <a:t>•  Set working hours on your work Instagram (DND after 6pm)</a:t>
            </a:r>
          </a:p>
          <a:p>
            <a:pPr>
              <a:spcAft>
                <a:spcPts val="800"/>
              </a:spcAft>
              <a:defRPr sz="1300">
                <a:solidFill>
                  <a:srgbClr val="B8B8D0"/>
                </a:solidFill>
                <a:latin typeface="Calibri"/>
              </a:defRPr>
            </a:pPr>
            <a:r>
              <a:t>•  Remove the leaderboard from the Kahoot permanently</a:t>
            </a:r>
          </a:p>
          <a:p>
            <a:pPr>
              <a:spcAft>
                <a:spcPts val="800"/>
              </a:spcAft>
              <a:defRPr sz="1300">
                <a:solidFill>
                  <a:srgbClr val="B8B8D0"/>
                </a:solidFill>
                <a:latin typeface="Calibri"/>
              </a:defRPr>
            </a:pPr>
            <a:r>
              <a:t>•  Escalate to your DSL (Designated Safeguarding Lead)</a:t>
            </a:r>
          </a:p>
          <a:p>
            <a:pPr>
              <a:spcAft>
                <a:spcPts val="800"/>
              </a:spcAft>
              <a:defRPr sz="1300">
                <a:solidFill>
                  <a:srgbClr val="B8B8D0"/>
                </a:solidFill>
                <a:latin typeface="Calibri"/>
              </a:defRPr>
            </a:pPr>
            <a:r>
              <a:t>•  Post a group rule: 'No screenshots — this is a closed group'</a:t>
            </a:r>
          </a:p>
          <a:p>
            <a:pPr>
              <a:spcAft>
                <a:spcPts val="800"/>
              </a:spcAft>
              <a:defRPr sz="1300">
                <a:solidFill>
                  <a:srgbClr val="B8B8D0"/>
                </a:solidFill>
                <a:latin typeface="Calibri"/>
              </a:defRPr>
            </a:pPr>
            <a:r>
              <a:t>•  Delete the offensive message publicly so everyone sees action</a:t>
            </a:r>
          </a:p>
          <a:p>
            <a:pPr>
              <a:spcAft>
                <a:spcPts val="800"/>
              </a:spcAft>
              <a:defRPr sz="1300">
                <a:solidFill>
                  <a:srgbClr val="B8B8D0"/>
                </a:solidFill>
                <a:latin typeface="Calibri"/>
              </a:defRPr>
            </a:pPr>
            <a:r>
              <a:t>•  Reply to the DM: 'This needs to be in a safer space — can I call you?'</a:t>
            </a:r>
          </a:p>
        </p:txBody>
      </p:sp>
      <p:pic>
        <p:nvPicPr>
          <p:cNvPr id="9" name="Picture 8" descr="logo.png"/>
          <p:cNvPicPr>
            <a:picLocks noChangeAspect="1"/>
          </p:cNvPicPr>
          <p:nvPr/>
        </p:nvPicPr>
        <p:blipFill>
          <a:blip r:embed="rId2"/>
          <a:stretch>
            <a:fillRect/>
          </a:stretch>
        </p:blipFill>
        <p:spPr>
          <a:xfrm>
            <a:off x="10515600" y="6355080"/>
            <a:ext cx="1180586" cy="274320"/>
          </a:xfrm>
          <a:prstGeom prst="rect">
            <a:avLst/>
          </a:prstGeom>
        </p:spPr>
      </p:pic>
      <p:sp>
        <p:nvSpPr>
          <p:cNvPr id="10" name="TextBox 9"/>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3  ·  ACTIVITY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E91E8C"/>
                </a:solidFill>
                <a:latin typeface="Calibri"/>
              </a:defRPr>
            </a:pPr>
            <a:r>
              <a:t>ACTIVITY</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Platform Settings Safari</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On your phone, open ONE platform you use with young people. Find its safety or privacy settings. Screenshot the page. Share to the table. What's there? What's missing? What's hidden three menus deep? You have 5 minutes.</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3  ·  ACTIVITY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E91E8C"/>
                </a:solidFill>
                <a:latin typeface="Calibri"/>
              </a:defRPr>
            </a:pPr>
            <a:r>
              <a:t>ACTIVITY</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Anonymous Confession</a:t>
            </a:r>
          </a:p>
        </p:txBody>
      </p:sp>
      <p:sp>
        <p:nvSpPr>
          <p:cNvPr id="5" name="TextBox 4"/>
          <p:cNvSpPr txBox="1"/>
          <p:nvPr/>
        </p:nvSpPr>
        <p:spPr>
          <a:xfrm>
            <a:off x="731520" y="2103120"/>
            <a:ext cx="10515600" cy="365760"/>
          </a:xfrm>
          <a:prstGeom prst="rect">
            <a:avLst/>
          </a:prstGeom>
          <a:noFill/>
        </p:spPr>
        <p:txBody>
          <a:bodyPr wrap="square" lIns="0" rIns="0">
            <a:spAutoFit/>
          </a:bodyPr>
          <a:lstStyle/>
          <a:p>
            <a:pPr algn="l">
              <a:defRPr sz="1400" b="1">
                <a:solidFill>
                  <a:srgbClr val="E91E8C"/>
                </a:solidFill>
                <a:latin typeface="Calibri"/>
              </a:defRPr>
            </a:pPr>
            <a:r>
              <a:t>🛠  Mentimeter</a:t>
            </a:r>
          </a:p>
        </p:txBody>
      </p:sp>
      <p:sp>
        <p:nvSpPr>
          <p:cNvPr id="6" name="TextBox 5"/>
          <p:cNvSpPr txBox="1"/>
          <p:nvPr/>
        </p:nvSpPr>
        <p:spPr>
          <a:xfrm>
            <a:off x="731520" y="2560320"/>
            <a:ext cx="10515600" cy="2743200"/>
          </a:xfrm>
          <a:prstGeom prst="rect">
            <a:avLst/>
          </a:prstGeom>
          <a:noFill/>
        </p:spPr>
        <p:txBody>
          <a:bodyPr wrap="square" lIns="0" rIns="0">
            <a:spAutoFit/>
          </a:bodyPr>
          <a:lstStyle/>
          <a:p>
            <a:pPr algn="l">
              <a:defRPr sz="1900" b="0">
                <a:solidFill>
                  <a:srgbClr val="FFFFFF"/>
                </a:solidFill>
                <a:latin typeface="Calibri"/>
              </a:defRPr>
            </a:pPr>
            <a:r>
              <a:t>Open text submission, anonymous: 'A safeguarding moment I've handled badly — and what I learned.' Don't name people or orgs. Read a handful aloud without commentary. The pattern is the point.</a:t>
            </a:r>
          </a:p>
        </p:txBody>
      </p:sp>
      <p:pic>
        <p:nvPicPr>
          <p:cNvPr id="7" name="Picture 6" descr="logo.png"/>
          <p:cNvPicPr>
            <a:picLocks noChangeAspect="1"/>
          </p:cNvPicPr>
          <p:nvPr/>
        </p:nvPicPr>
        <p:blipFill>
          <a:blip r:embed="rId2"/>
          <a:stretch>
            <a:fillRect/>
          </a:stretch>
        </p:blipFill>
        <p:spPr>
          <a:xfrm>
            <a:off x="10515600" y="6355080"/>
            <a:ext cx="1180586" cy="274320"/>
          </a:xfrm>
          <a:prstGeom prst="rect">
            <a:avLst/>
          </a:prstGeom>
        </p:spPr>
      </p:pic>
      <p:sp>
        <p:nvSpPr>
          <p:cNvPr id="8" name="TextBox 7"/>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3  ·  ACTIVITY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7B6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5486400" cy="365760"/>
          </a:xfrm>
          <a:prstGeom prst="rect">
            <a:avLst/>
          </a:prstGeom>
          <a:noFill/>
        </p:spPr>
        <p:txBody>
          <a:bodyPr wrap="square" lIns="0" rIns="0">
            <a:spAutoFit/>
          </a:bodyPr>
          <a:lstStyle/>
          <a:p>
            <a:pPr algn="l">
              <a:defRPr sz="1400" b="1">
                <a:solidFill>
                  <a:srgbClr val="7B61FF"/>
                </a:solidFill>
                <a:latin typeface="Calibri"/>
              </a:defRPr>
            </a:pPr>
            <a:r>
              <a:t>KEY IDEAS</a:t>
            </a:r>
          </a:p>
        </p:txBody>
      </p:sp>
      <p:sp>
        <p:nvSpPr>
          <p:cNvPr id="4" name="TextBox 3"/>
          <p:cNvSpPr txBox="1"/>
          <p:nvPr/>
        </p:nvSpPr>
        <p:spPr>
          <a:xfrm>
            <a:off x="731520" y="868680"/>
            <a:ext cx="5486400" cy="365760"/>
          </a:xfrm>
          <a:prstGeom prst="rect">
            <a:avLst/>
          </a:prstGeom>
          <a:noFill/>
        </p:spPr>
        <p:txBody>
          <a:bodyPr wrap="square" lIns="0" rIns="0">
            <a:spAutoFit/>
          </a:bodyPr>
          <a:lstStyle/>
          <a:p>
            <a:pPr algn="l">
              <a:defRPr sz="1200" b="0">
                <a:solidFill>
                  <a:srgbClr val="7B7B96"/>
                </a:solidFill>
                <a:latin typeface="Calibri"/>
              </a:defRPr>
            </a:pPr>
            <a:r>
              <a:t>75 – 95 min</a:t>
            </a:r>
          </a:p>
        </p:txBody>
      </p:sp>
      <p:sp>
        <p:nvSpPr>
          <p:cNvPr id="5" name="TextBox 4"/>
          <p:cNvSpPr txBox="1"/>
          <p:nvPr/>
        </p:nvSpPr>
        <p:spPr>
          <a:xfrm>
            <a:off x="731520" y="1828800"/>
            <a:ext cx="10515600" cy="1371600"/>
          </a:xfrm>
          <a:prstGeom prst="rect">
            <a:avLst/>
          </a:prstGeom>
          <a:noFill/>
        </p:spPr>
        <p:txBody>
          <a:bodyPr wrap="square" lIns="0" rIns="0">
            <a:spAutoFit/>
          </a:bodyPr>
          <a:lstStyle/>
          <a:p>
            <a:pPr algn="l">
              <a:defRPr sz="3800" b="1">
                <a:solidFill>
                  <a:srgbClr val="FFFFFF"/>
                </a:solidFill>
                <a:latin typeface="Calibri"/>
              </a:defRPr>
            </a:pPr>
            <a:r>
              <a:t>Safeguarding by Design, Not Just by Policy</a:t>
            </a:r>
          </a:p>
        </p:txBody>
      </p:sp>
      <p:sp>
        <p:nvSpPr>
          <p:cNvPr id="6" name="TextBox 5"/>
          <p:cNvSpPr txBox="1"/>
          <p:nvPr/>
        </p:nvSpPr>
        <p:spPr>
          <a:xfrm>
            <a:off x="731520" y="3200400"/>
            <a:ext cx="10515600" cy="3200400"/>
          </a:xfrm>
          <a:prstGeom prst="rect">
            <a:avLst/>
          </a:prstGeom>
          <a:noFill/>
        </p:spPr>
        <p:txBody>
          <a:bodyPr wrap="square" lIns="0">
            <a:spAutoFit/>
          </a:bodyPr>
          <a:lstStyle/>
          <a:p>
            <a:pPr>
              <a:spcAft>
                <a:spcPts val="800"/>
              </a:spcAft>
              <a:defRPr sz="1700">
                <a:solidFill>
                  <a:srgbClr val="FFFFFF"/>
                </a:solidFill>
                <a:latin typeface="Calibri"/>
              </a:defRPr>
            </a:pPr>
            <a:r>
              <a:t>•  Three contexts = three risk profiles: public (anyone can see), private group (members see), DM (two people only)</a:t>
            </a:r>
          </a:p>
          <a:p>
            <a:pPr>
              <a:spcAft>
                <a:spcPts val="800"/>
              </a:spcAft>
              <a:defRPr sz="1700">
                <a:solidFill>
                  <a:srgbClr val="FFFFFF"/>
                </a:solidFill>
                <a:latin typeface="Calibri"/>
              </a:defRPr>
            </a:pPr>
            <a:r>
              <a:t>•  System-level safeguards do the work your presence can't: permissions, visibility settings, moderation, logging, reporting pathways</a:t>
            </a:r>
          </a:p>
          <a:p>
            <a:pPr>
              <a:spcAft>
                <a:spcPts val="800"/>
              </a:spcAft>
              <a:defRPr sz="1700">
                <a:solidFill>
                  <a:srgbClr val="FFFFFF"/>
                </a:solidFill>
                <a:latin typeface="Calibri"/>
              </a:defRPr>
            </a:pPr>
            <a:r>
              <a:t>•  The over-control trap: locking everything down removes agency and often just pushes behaviour elsewhere</a:t>
            </a:r>
          </a:p>
          <a:p>
            <a:pPr>
              <a:spcAft>
                <a:spcPts val="800"/>
              </a:spcAft>
              <a:defRPr sz="1700">
                <a:solidFill>
                  <a:srgbClr val="FFFFFF"/>
                </a:solidFill>
                <a:latin typeface="Calibri"/>
              </a:defRPr>
            </a:pPr>
            <a:r>
              <a:t>•  Your legal duties don't disappear because you're online — they apply to all three contexts</a:t>
            </a:r>
          </a:p>
          <a:p>
            <a:pPr>
              <a:spcAft>
                <a:spcPts val="800"/>
              </a:spcAft>
              <a:defRPr sz="1700">
                <a:solidFill>
                  <a:srgbClr val="FFFFFF"/>
                </a:solidFill>
                <a:latin typeface="Calibri"/>
              </a:defRPr>
            </a:pPr>
            <a:r>
              <a:t>•  The honest question: does this rule protect the young person, or does it protect the organisation?</a:t>
            </a:r>
          </a:p>
        </p:txBody>
      </p:sp>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Robocode × LIA  ·  Digital Youth Work CPD  ·  Session 3 of 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B6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7B61FF"/>
                </a:solidFill>
                <a:latin typeface="Calibri"/>
              </a:defRPr>
            </a:pPr>
            <a:r>
              <a:t>KEY IDEAS</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Policy Check</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In pairs, pull up your organisation's safeguarding policy on your phone — or go from memory if you can't find it. Does it mention digital? Does it cover all three contexts? Most don't. Write what's missing on a sticky note. Stick it on the wall.</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3  ·  KEY IDEAS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B6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7B61FF"/>
                </a:solidFill>
                <a:latin typeface="Calibri"/>
              </a:defRPr>
            </a:pPr>
            <a:r>
              <a:t>KEY IDEAS</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Protects Who?</a:t>
            </a:r>
          </a:p>
        </p:txBody>
      </p:sp>
      <p:sp>
        <p:nvSpPr>
          <p:cNvPr id="5" name="TextBox 4"/>
          <p:cNvSpPr txBox="1"/>
          <p:nvPr/>
        </p:nvSpPr>
        <p:spPr>
          <a:xfrm>
            <a:off x="731520" y="2103120"/>
            <a:ext cx="10515600" cy="365760"/>
          </a:xfrm>
          <a:prstGeom prst="rect">
            <a:avLst/>
          </a:prstGeom>
          <a:noFill/>
        </p:spPr>
        <p:txBody>
          <a:bodyPr wrap="square" lIns="0" rIns="0">
            <a:spAutoFit/>
          </a:bodyPr>
          <a:lstStyle/>
          <a:p>
            <a:pPr algn="l">
              <a:defRPr sz="1400" b="1">
                <a:solidFill>
                  <a:srgbClr val="E91E8C"/>
                </a:solidFill>
                <a:latin typeface="Calibri"/>
              </a:defRPr>
            </a:pPr>
            <a:r>
              <a:t>🛠  Mentimeter</a:t>
            </a:r>
          </a:p>
        </p:txBody>
      </p:sp>
      <p:sp>
        <p:nvSpPr>
          <p:cNvPr id="6" name="TextBox 5"/>
          <p:cNvSpPr txBox="1"/>
          <p:nvPr/>
        </p:nvSpPr>
        <p:spPr>
          <a:xfrm>
            <a:off x="731520" y="2560320"/>
            <a:ext cx="10515600" cy="2011680"/>
          </a:xfrm>
          <a:prstGeom prst="rect">
            <a:avLst/>
          </a:prstGeom>
          <a:noFill/>
        </p:spPr>
        <p:txBody>
          <a:bodyPr wrap="square" lIns="0" rIns="0">
            <a:spAutoFit/>
          </a:bodyPr>
          <a:lstStyle/>
          <a:p>
            <a:pPr algn="l">
              <a:defRPr sz="1900" b="0">
                <a:solidFill>
                  <a:srgbClr val="FFFFFF"/>
                </a:solidFill>
                <a:latin typeface="Calibri"/>
              </a:defRPr>
            </a:pPr>
            <a:r>
              <a:t>Seven common rules appear on screen one at a time. For each, vote: does this protect the young person, the organisation, or both? No middle option when it's one-or-the-other. Discuss the splits.</a:t>
            </a:r>
          </a:p>
        </p:txBody>
      </p:sp>
      <p:sp>
        <p:nvSpPr>
          <p:cNvPr id="7" name="TextBox 6"/>
          <p:cNvSpPr txBox="1"/>
          <p:nvPr/>
        </p:nvSpPr>
        <p:spPr>
          <a:xfrm>
            <a:off x="731520" y="4663440"/>
            <a:ext cx="10515600" cy="320040"/>
          </a:xfrm>
          <a:prstGeom prst="rect">
            <a:avLst/>
          </a:prstGeom>
          <a:noFill/>
        </p:spPr>
        <p:txBody>
          <a:bodyPr wrap="square" lIns="0" rIns="0">
            <a:spAutoFit/>
          </a:bodyPr>
          <a:lstStyle/>
          <a:p>
            <a:pPr algn="l">
              <a:defRPr sz="1100" b="1">
                <a:solidFill>
                  <a:srgbClr val="7B61FF"/>
                </a:solidFill>
                <a:latin typeface="Calibri"/>
              </a:defRPr>
            </a:pPr>
            <a:r>
              <a:t>PROMPTS</a:t>
            </a:r>
          </a:p>
        </p:txBody>
      </p:sp>
      <p:sp>
        <p:nvSpPr>
          <p:cNvPr id="8" name="TextBox 7"/>
          <p:cNvSpPr txBox="1"/>
          <p:nvPr/>
        </p:nvSpPr>
        <p:spPr>
          <a:xfrm>
            <a:off x="731520" y="4983480"/>
            <a:ext cx="10515600" cy="2103120"/>
          </a:xfrm>
          <a:prstGeom prst="rect">
            <a:avLst/>
          </a:prstGeom>
          <a:noFill/>
        </p:spPr>
        <p:txBody>
          <a:bodyPr wrap="square" lIns="0">
            <a:spAutoFit/>
          </a:bodyPr>
          <a:lstStyle/>
          <a:p>
            <a:pPr>
              <a:spcAft>
                <a:spcPts val="800"/>
              </a:spcAft>
              <a:defRPr sz="1300">
                <a:solidFill>
                  <a:srgbClr val="B8B8D0"/>
                </a:solidFill>
                <a:latin typeface="Calibri"/>
              </a:defRPr>
            </a:pPr>
            <a:r>
              <a:t>•  No 1-to-1 DMs with young people outside work hours</a:t>
            </a:r>
          </a:p>
          <a:p>
            <a:pPr>
              <a:spcAft>
                <a:spcPts val="800"/>
              </a:spcAft>
              <a:defRPr sz="1300">
                <a:solidFill>
                  <a:srgbClr val="B8B8D0"/>
                </a:solidFill>
                <a:latin typeface="Calibri"/>
              </a:defRPr>
            </a:pPr>
            <a:r>
              <a:t>•  All youth club WhatsApp groups must include two staff members</a:t>
            </a:r>
          </a:p>
          <a:p>
            <a:pPr>
              <a:spcAft>
                <a:spcPts val="800"/>
              </a:spcAft>
              <a:defRPr sz="1300">
                <a:solidFill>
                  <a:srgbClr val="B8B8D0"/>
                </a:solidFill>
                <a:latin typeface="Calibri"/>
              </a:defRPr>
            </a:pPr>
            <a:r>
              <a:t>•  Never add a young person on your personal social media</a:t>
            </a:r>
          </a:p>
          <a:p>
            <a:pPr>
              <a:spcAft>
                <a:spcPts val="800"/>
              </a:spcAft>
              <a:defRPr sz="1300">
                <a:solidFill>
                  <a:srgbClr val="B8B8D0"/>
                </a:solidFill>
                <a:latin typeface="Calibri"/>
              </a:defRPr>
            </a:pPr>
            <a:r>
              <a:t>•  Screenshot and log every safeguarding disclosure</a:t>
            </a:r>
          </a:p>
          <a:p>
            <a:pPr>
              <a:spcAft>
                <a:spcPts val="800"/>
              </a:spcAft>
              <a:defRPr sz="1300">
                <a:solidFill>
                  <a:srgbClr val="B8B8D0"/>
                </a:solidFill>
                <a:latin typeface="Calibri"/>
              </a:defRPr>
            </a:pPr>
            <a:r>
              <a:t>•  Only use approved platforms (the ones signed off by the trustees)</a:t>
            </a:r>
          </a:p>
          <a:p>
            <a:pPr>
              <a:spcAft>
                <a:spcPts val="800"/>
              </a:spcAft>
              <a:defRPr sz="1300">
                <a:solidFill>
                  <a:srgbClr val="B8B8D0"/>
                </a:solidFill>
                <a:latin typeface="Calibri"/>
              </a:defRPr>
            </a:pPr>
            <a:r>
              <a:t>•  All live sessions must be recorded</a:t>
            </a:r>
          </a:p>
          <a:p>
            <a:pPr>
              <a:spcAft>
                <a:spcPts val="800"/>
              </a:spcAft>
              <a:defRPr sz="1300">
                <a:solidFill>
                  <a:srgbClr val="B8B8D0"/>
                </a:solidFill>
                <a:latin typeface="Calibri"/>
              </a:defRPr>
            </a:pPr>
            <a:r>
              <a:t>•  Young people must use their real name on any group you run</a:t>
            </a:r>
          </a:p>
        </p:txBody>
      </p:sp>
      <p:pic>
        <p:nvPicPr>
          <p:cNvPr id="9" name="Picture 8" descr="logo.png"/>
          <p:cNvPicPr>
            <a:picLocks noChangeAspect="1"/>
          </p:cNvPicPr>
          <p:nvPr/>
        </p:nvPicPr>
        <p:blipFill>
          <a:blip r:embed="rId2"/>
          <a:stretch>
            <a:fillRect/>
          </a:stretch>
        </p:blipFill>
        <p:spPr>
          <a:xfrm>
            <a:off x="10515600" y="6355080"/>
            <a:ext cx="1180586" cy="274320"/>
          </a:xfrm>
          <a:prstGeom prst="rect">
            <a:avLst/>
          </a:prstGeom>
        </p:spPr>
      </p:pic>
      <p:sp>
        <p:nvSpPr>
          <p:cNvPr id="10" name="TextBox 9"/>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3  ·  KEY IDEAS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B6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7B61FF"/>
                </a:solidFill>
                <a:latin typeface="Calibri"/>
              </a:defRPr>
            </a:pPr>
            <a:r>
              <a:t>KEY IDEAS</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The Over-Control Trap</a:t>
            </a:r>
          </a:p>
        </p:txBody>
      </p:sp>
      <p:sp>
        <p:nvSpPr>
          <p:cNvPr id="5" name="TextBox 4"/>
          <p:cNvSpPr txBox="1"/>
          <p:nvPr/>
        </p:nvSpPr>
        <p:spPr>
          <a:xfrm>
            <a:off x="731520" y="2103120"/>
            <a:ext cx="10515600" cy="365760"/>
          </a:xfrm>
          <a:prstGeom prst="rect">
            <a:avLst/>
          </a:prstGeom>
          <a:noFill/>
        </p:spPr>
        <p:txBody>
          <a:bodyPr wrap="square" lIns="0" rIns="0">
            <a:spAutoFit/>
          </a:bodyPr>
          <a:lstStyle/>
          <a:p>
            <a:pPr algn="l">
              <a:defRPr sz="1400" b="1">
                <a:solidFill>
                  <a:srgbClr val="E91E8C"/>
                </a:solidFill>
                <a:latin typeface="Calibri"/>
              </a:defRPr>
            </a:pPr>
            <a:r>
              <a:t>🛠  Mentimeter</a:t>
            </a:r>
          </a:p>
        </p:txBody>
      </p:sp>
      <p:sp>
        <p:nvSpPr>
          <p:cNvPr id="6" name="TextBox 5"/>
          <p:cNvSpPr txBox="1"/>
          <p:nvPr/>
        </p:nvSpPr>
        <p:spPr>
          <a:xfrm>
            <a:off x="731520" y="2560320"/>
            <a:ext cx="10515600" cy="2743200"/>
          </a:xfrm>
          <a:prstGeom prst="rect">
            <a:avLst/>
          </a:prstGeom>
          <a:noFill/>
        </p:spPr>
        <p:txBody>
          <a:bodyPr wrap="square" lIns="0" rIns="0">
            <a:spAutoFit/>
          </a:bodyPr>
          <a:lstStyle/>
          <a:p>
            <a:pPr algn="l">
              <a:defRPr sz="1900" b="0">
                <a:solidFill>
                  <a:srgbClr val="FFFFFF"/>
                </a:solidFill>
                <a:latin typeface="Calibri"/>
              </a:defRPr>
            </a:pPr>
            <a:r>
              <a:t>Scale poll 1–5: 'How controlled should a youth club's digital space be?' 1 = total freedom · 5 = total lockdown. Submit. Show distribution. Discuss: what do you gain at each end? What do you push underground at each end?</a:t>
            </a:r>
          </a:p>
        </p:txBody>
      </p:sp>
      <p:pic>
        <p:nvPicPr>
          <p:cNvPr id="7" name="Picture 6" descr="logo.png"/>
          <p:cNvPicPr>
            <a:picLocks noChangeAspect="1"/>
          </p:cNvPicPr>
          <p:nvPr/>
        </p:nvPicPr>
        <p:blipFill>
          <a:blip r:embed="rId2"/>
          <a:stretch>
            <a:fillRect/>
          </a:stretch>
        </p:blipFill>
        <p:spPr>
          <a:xfrm>
            <a:off x="10515600" y="6355080"/>
            <a:ext cx="1180586" cy="274320"/>
          </a:xfrm>
          <a:prstGeom prst="rect">
            <a:avLst/>
          </a:prstGeom>
        </p:spPr>
      </p:pic>
      <p:sp>
        <p:nvSpPr>
          <p:cNvPr id="8" name="TextBox 7"/>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3  ·  KEY IDEAS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B6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7B61FF"/>
                </a:solidFill>
                <a:latin typeface="Calibri"/>
              </a:defRPr>
            </a:pPr>
            <a:r>
              <a:t>KEY IDEAS</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Design vs Document</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Groups of 3. One minute each: name a safeguard that exists in your org's document but doesn't exist in the actual tool setup. Share back: how many 'paper safeguards' did the room find?</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3  ·  KEY IDEAS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5486400" cy="365760"/>
          </a:xfrm>
          <a:prstGeom prst="rect">
            <a:avLst/>
          </a:prstGeom>
          <a:noFill/>
        </p:spPr>
        <p:txBody>
          <a:bodyPr wrap="square" lIns="0" rIns="0">
            <a:spAutoFit/>
          </a:bodyPr>
          <a:lstStyle/>
          <a:p>
            <a:pPr algn="l">
              <a:defRPr sz="1400" b="1">
                <a:solidFill>
                  <a:srgbClr val="FFB800"/>
                </a:solidFill>
                <a:latin typeface="Calibri"/>
              </a:defRPr>
            </a:pPr>
            <a:r>
              <a:t>DISCUSSION</a:t>
            </a:r>
          </a:p>
        </p:txBody>
      </p:sp>
      <p:sp>
        <p:nvSpPr>
          <p:cNvPr id="4" name="TextBox 3"/>
          <p:cNvSpPr txBox="1"/>
          <p:nvPr/>
        </p:nvSpPr>
        <p:spPr>
          <a:xfrm>
            <a:off x="731520" y="868680"/>
            <a:ext cx="5486400" cy="365760"/>
          </a:xfrm>
          <a:prstGeom prst="rect">
            <a:avLst/>
          </a:prstGeom>
          <a:noFill/>
        </p:spPr>
        <p:txBody>
          <a:bodyPr wrap="square" lIns="0" rIns="0">
            <a:spAutoFit/>
          </a:bodyPr>
          <a:lstStyle/>
          <a:p>
            <a:pPr algn="l">
              <a:defRPr sz="1200" b="0">
                <a:solidFill>
                  <a:srgbClr val="7B7B96"/>
                </a:solidFill>
                <a:latin typeface="Calibri"/>
              </a:defRPr>
            </a:pPr>
            <a:r>
              <a:t>95 – 150 min</a:t>
            </a:r>
          </a:p>
        </p:txBody>
      </p:sp>
      <p:sp>
        <p:nvSpPr>
          <p:cNvPr id="5" name="TextBox 4"/>
          <p:cNvSpPr txBox="1"/>
          <p:nvPr/>
        </p:nvSpPr>
        <p:spPr>
          <a:xfrm>
            <a:off x="731520" y="1828800"/>
            <a:ext cx="10515600" cy="1371600"/>
          </a:xfrm>
          <a:prstGeom prst="rect">
            <a:avLst/>
          </a:prstGeom>
          <a:noFill/>
        </p:spPr>
        <p:txBody>
          <a:bodyPr wrap="square" lIns="0" rIns="0">
            <a:spAutoFit/>
          </a:bodyPr>
          <a:lstStyle/>
          <a:p>
            <a:pPr algn="l">
              <a:defRPr sz="3800" b="1">
                <a:solidFill>
                  <a:srgbClr val="FFFFFF"/>
                </a:solidFill>
                <a:latin typeface="Calibri"/>
              </a:defRPr>
            </a:pPr>
            <a:r>
              <a:t>Discussion</a:t>
            </a:r>
          </a:p>
        </p:txBody>
      </p:sp>
      <p:sp>
        <p:nvSpPr>
          <p:cNvPr id="6" name="TextBox 5"/>
          <p:cNvSpPr txBox="1"/>
          <p:nvPr/>
        </p:nvSpPr>
        <p:spPr>
          <a:xfrm>
            <a:off x="731520" y="2926080"/>
            <a:ext cx="10515600" cy="457200"/>
          </a:xfrm>
          <a:prstGeom prst="rect">
            <a:avLst/>
          </a:prstGeom>
          <a:noFill/>
        </p:spPr>
        <p:txBody>
          <a:bodyPr wrap="square" lIns="0" rIns="0">
            <a:spAutoFit/>
          </a:bodyPr>
          <a:lstStyle/>
          <a:p>
            <a:pPr algn="l">
              <a:defRPr sz="1400" b="0">
                <a:solidFill>
                  <a:srgbClr val="B8B8D0"/>
                </a:solidFill>
                <a:latin typeface="Calibri"/>
              </a:defRPr>
            </a:pPr>
            <a:r>
              <a:t>5 activities in this block:</a:t>
            </a:r>
          </a:p>
        </p:txBody>
      </p:sp>
      <p:sp>
        <p:nvSpPr>
          <p:cNvPr id="7" name="TextBox 6"/>
          <p:cNvSpPr txBox="1"/>
          <p:nvPr/>
        </p:nvSpPr>
        <p:spPr>
          <a:xfrm>
            <a:off x="731520" y="3383280"/>
            <a:ext cx="10515600" cy="3017520"/>
          </a:xfrm>
          <a:prstGeom prst="rect">
            <a:avLst/>
          </a:prstGeom>
          <a:noFill/>
        </p:spPr>
        <p:txBody>
          <a:bodyPr wrap="square" lIns="0">
            <a:spAutoFit/>
          </a:bodyPr>
          <a:lstStyle/>
          <a:p>
            <a:pPr>
              <a:spcAft>
                <a:spcPts val="800"/>
              </a:spcAft>
              <a:defRPr sz="1600">
                <a:solidFill>
                  <a:srgbClr val="FFFFFF"/>
                </a:solidFill>
                <a:latin typeface="Calibri"/>
              </a:defRPr>
            </a:pPr>
            <a:r>
              <a:t>→  The Control Slider</a:t>
            </a:r>
          </a:p>
          <a:p>
            <a:pPr>
              <a:spcAft>
                <a:spcPts val="800"/>
              </a:spcAft>
              <a:defRPr sz="1600">
                <a:solidFill>
                  <a:srgbClr val="FFFFFF"/>
                </a:solidFill>
                <a:latin typeface="Calibri"/>
              </a:defRPr>
            </a:pPr>
            <a:r>
              <a:t>→  Write the Missing Policy</a:t>
            </a:r>
          </a:p>
          <a:p>
            <a:pPr>
              <a:spcAft>
                <a:spcPts val="800"/>
              </a:spcAft>
              <a:defRPr sz="1600">
                <a:solidFill>
                  <a:srgbClr val="FFFFFF"/>
                </a:solidFill>
                <a:latin typeface="Calibri"/>
              </a:defRPr>
            </a:pPr>
            <a:r>
              <a:t>→  Present and Challenge</a:t>
            </a:r>
          </a:p>
          <a:p>
            <a:pPr>
              <a:spcAft>
                <a:spcPts val="800"/>
              </a:spcAft>
              <a:defRPr sz="1600">
                <a:solidFill>
                  <a:srgbClr val="FFFFFF"/>
                </a:solidFill>
                <a:latin typeface="Calibri"/>
              </a:defRPr>
            </a:pPr>
            <a:r>
              <a:t>→  The After-Hours Fishbowl</a:t>
            </a:r>
          </a:p>
          <a:p>
            <a:pPr>
              <a:spcAft>
                <a:spcPts val="800"/>
              </a:spcAft>
              <a:defRPr sz="1600">
                <a:solidFill>
                  <a:srgbClr val="FFFFFF"/>
                </a:solidFill>
                <a:latin typeface="Calibri"/>
              </a:defRPr>
            </a:pPr>
            <a:r>
              <a:t>→  Tool Defence</a:t>
            </a:r>
          </a:p>
        </p:txBody>
      </p:sp>
      <p:sp>
        <p:nvSpPr>
          <p:cNvPr id="8" name="TextBox 7"/>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Robocode × LIA  ·  Digital Youth Work CPD  ·  Session 3 of 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FFB800"/>
                </a:solidFill>
                <a:latin typeface="Calibri"/>
              </a:defRPr>
            </a:pPr>
            <a:r>
              <a:t>DISCUSSION</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The Control Slider</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Draw a slider on the whiteboard: left = 'Total control (locked down)' · right = 'Total freedom (no rules)'. For each of the three earlier scenarios, groups place a marker where they'd set it. Discuss: what do you gain at each end? What do you lose? Where do reasonable people disagree?</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3  ·  DISCUSSION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FFB800"/>
                </a:solidFill>
                <a:latin typeface="Calibri"/>
              </a:defRPr>
            </a:pPr>
            <a:r>
              <a:t>DISCUSSION</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Write the Missing Policy</a:t>
            </a:r>
          </a:p>
        </p:txBody>
      </p:sp>
      <p:sp>
        <p:nvSpPr>
          <p:cNvPr id="5" name="TextBox 4"/>
          <p:cNvSpPr txBox="1"/>
          <p:nvPr/>
        </p:nvSpPr>
        <p:spPr>
          <a:xfrm>
            <a:off x="731520" y="2103120"/>
            <a:ext cx="10515600" cy="365760"/>
          </a:xfrm>
          <a:prstGeom prst="rect">
            <a:avLst/>
          </a:prstGeom>
          <a:noFill/>
        </p:spPr>
        <p:txBody>
          <a:bodyPr wrap="square" lIns="0" rIns="0">
            <a:spAutoFit/>
          </a:bodyPr>
          <a:lstStyle/>
          <a:p>
            <a:pPr algn="l">
              <a:defRPr sz="1400" b="1">
                <a:solidFill>
                  <a:srgbClr val="E91E8C"/>
                </a:solidFill>
                <a:latin typeface="Calibri"/>
              </a:defRPr>
            </a:pPr>
            <a:r>
              <a:t>🛠  Padlet</a:t>
            </a:r>
          </a:p>
        </p:txBody>
      </p:sp>
      <p:sp>
        <p:nvSpPr>
          <p:cNvPr id="6" name="TextBox 5"/>
          <p:cNvSpPr txBox="1"/>
          <p:nvPr/>
        </p:nvSpPr>
        <p:spPr>
          <a:xfrm>
            <a:off x="731520" y="2560320"/>
            <a:ext cx="10515600" cy="2743200"/>
          </a:xfrm>
          <a:prstGeom prst="rect">
            <a:avLst/>
          </a:prstGeom>
          <a:noFill/>
        </p:spPr>
        <p:txBody>
          <a:bodyPr wrap="square" lIns="0" rIns="0">
            <a:spAutoFit/>
          </a:bodyPr>
          <a:lstStyle/>
          <a:p>
            <a:pPr algn="l">
              <a:defRPr sz="1900" b="0">
                <a:solidFill>
                  <a:srgbClr val="FFFFFF"/>
                </a:solidFill>
                <a:latin typeface="Calibri"/>
              </a:defRPr>
            </a:pPr>
            <a:r>
              <a:t>In small groups, draft 5 bullet points for a 'Digital Safeguarding' addition to your org's policy. Must cover: which platforms you'll use, boundary rules for DMs, what to do outside work hours, who to escalate to, and one system-level safeguard you'll set up by default. Post on the shared Padlet.</a:t>
            </a:r>
          </a:p>
        </p:txBody>
      </p:sp>
      <p:pic>
        <p:nvPicPr>
          <p:cNvPr id="7" name="Picture 6" descr="logo.png"/>
          <p:cNvPicPr>
            <a:picLocks noChangeAspect="1"/>
          </p:cNvPicPr>
          <p:nvPr/>
        </p:nvPicPr>
        <p:blipFill>
          <a:blip r:embed="rId2"/>
          <a:stretch>
            <a:fillRect/>
          </a:stretch>
        </p:blipFill>
        <p:spPr>
          <a:xfrm>
            <a:off x="10515600" y="6355080"/>
            <a:ext cx="1180586" cy="274320"/>
          </a:xfrm>
          <a:prstGeom prst="rect">
            <a:avLst/>
          </a:prstGeom>
        </p:spPr>
      </p:pic>
      <p:sp>
        <p:nvSpPr>
          <p:cNvPr id="8" name="TextBox 7"/>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3  ·  DISCUSSION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FFB800"/>
                </a:solidFill>
                <a:latin typeface="Calibri"/>
              </a:defRPr>
            </a:pPr>
            <a:r>
              <a:t>DISCUSSION</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Present and Challenge</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Each group presents their 5 points in 90 seconds. Other groups get one challenge each: 'Is that realistic?' · 'What if a young person disagrees?' · 'Does that protect the young person or the organisation?' No defensive answers — just listen and note.</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3  ·  DISCUSSION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FFB800"/>
                </a:solidFill>
                <a:latin typeface="Calibri"/>
              </a:defRPr>
            </a:pPr>
            <a:r>
              <a:t>DISCUSSION</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The After-Hours Fishbowl</a:t>
            </a:r>
          </a:p>
        </p:txBody>
      </p:sp>
      <p:sp>
        <p:nvSpPr>
          <p:cNvPr id="5" name="TextBox 4"/>
          <p:cNvSpPr txBox="1"/>
          <p:nvPr/>
        </p:nvSpPr>
        <p:spPr>
          <a:xfrm>
            <a:off x="731520" y="2103120"/>
            <a:ext cx="10515600" cy="2011680"/>
          </a:xfrm>
          <a:prstGeom prst="rect">
            <a:avLst/>
          </a:prstGeom>
          <a:noFill/>
        </p:spPr>
        <p:txBody>
          <a:bodyPr wrap="square" lIns="0" rIns="0">
            <a:spAutoFit/>
          </a:bodyPr>
          <a:lstStyle/>
          <a:p>
            <a:pPr algn="l">
              <a:defRPr sz="1900" b="0">
                <a:solidFill>
                  <a:srgbClr val="FFFFFF"/>
                </a:solidFill>
                <a:latin typeface="Calibri"/>
              </a:defRPr>
            </a:pPr>
            <a:r>
              <a:t>4 chairs in the middle. Volunteers sit and discuss. Anyone can tap a shoulder to swap in. Everyone else listens in silence. Use the primers — pick whichever one hits hardest, or move through them as the conversation opens up.</a:t>
            </a:r>
          </a:p>
        </p:txBody>
      </p:sp>
      <p:sp>
        <p:nvSpPr>
          <p:cNvPr id="6" name="TextBox 5"/>
          <p:cNvSpPr txBox="1"/>
          <p:nvPr/>
        </p:nvSpPr>
        <p:spPr>
          <a:xfrm>
            <a:off x="731520" y="4206240"/>
            <a:ext cx="10515600" cy="320040"/>
          </a:xfrm>
          <a:prstGeom prst="rect">
            <a:avLst/>
          </a:prstGeom>
          <a:noFill/>
        </p:spPr>
        <p:txBody>
          <a:bodyPr wrap="square" lIns="0" rIns="0">
            <a:spAutoFit/>
          </a:bodyPr>
          <a:lstStyle/>
          <a:p>
            <a:pPr algn="l">
              <a:defRPr sz="1100" b="1">
                <a:solidFill>
                  <a:srgbClr val="FFB800"/>
                </a:solidFill>
                <a:latin typeface="Calibri"/>
              </a:defRPr>
            </a:pPr>
            <a:r>
              <a:t>PROMPTS</a:t>
            </a:r>
          </a:p>
        </p:txBody>
      </p:sp>
      <p:sp>
        <p:nvSpPr>
          <p:cNvPr id="7" name="TextBox 6"/>
          <p:cNvSpPr txBox="1"/>
          <p:nvPr/>
        </p:nvSpPr>
        <p:spPr>
          <a:xfrm>
            <a:off x="731520" y="4526280"/>
            <a:ext cx="10515600" cy="2103120"/>
          </a:xfrm>
          <a:prstGeom prst="rect">
            <a:avLst/>
          </a:prstGeom>
          <a:noFill/>
        </p:spPr>
        <p:txBody>
          <a:bodyPr wrap="square" lIns="0">
            <a:spAutoFit/>
          </a:bodyPr>
          <a:lstStyle/>
          <a:p>
            <a:pPr>
              <a:spcAft>
                <a:spcPts val="800"/>
              </a:spcAft>
              <a:defRPr sz="1300">
                <a:solidFill>
                  <a:srgbClr val="B8B8D0"/>
                </a:solidFill>
                <a:latin typeface="Calibri"/>
              </a:defRPr>
            </a:pPr>
            <a:r>
              <a:t>•  When is it OK to reply to a young person's DM outside work hours — and when isn't it?</a:t>
            </a:r>
          </a:p>
          <a:p>
            <a:pPr>
              <a:spcAft>
                <a:spcPts val="800"/>
              </a:spcAft>
              <a:defRPr sz="1300">
                <a:solidFill>
                  <a:srgbClr val="B8B8D0"/>
                </a:solidFill>
                <a:latin typeface="Calibri"/>
              </a:defRPr>
            </a:pPr>
            <a:r>
              <a:t>•  If a young person discloses something in a DM at 11pm, what's the right first sentence back?</a:t>
            </a:r>
          </a:p>
          <a:p>
            <a:pPr>
              <a:spcAft>
                <a:spcPts val="800"/>
              </a:spcAft>
              <a:defRPr sz="1300">
                <a:solidFill>
                  <a:srgbClr val="B8B8D0"/>
                </a:solidFill>
                <a:latin typeface="Calibri"/>
              </a:defRPr>
            </a:pPr>
            <a:r>
              <a:t>•  Should youth workers use their personal number or social media to reach young people? If not, why does everyone do it?</a:t>
            </a:r>
          </a:p>
          <a:p>
            <a:pPr>
              <a:spcAft>
                <a:spcPts val="800"/>
              </a:spcAft>
              <a:defRPr sz="1300">
                <a:solidFill>
                  <a:srgbClr val="B8B8D0"/>
                </a:solidFill>
                <a:latin typeface="Calibri"/>
              </a:defRPr>
            </a:pPr>
            <a:r>
              <a:t>•  You see a concerning post on a young person's public profile. They haven't told you. Do you raise it — and how?</a:t>
            </a:r>
          </a:p>
          <a:p>
            <a:pPr>
              <a:spcAft>
                <a:spcPts val="800"/>
              </a:spcAft>
              <a:defRPr sz="1300">
                <a:solidFill>
                  <a:srgbClr val="B8B8D0"/>
                </a:solidFill>
                <a:latin typeface="Calibri"/>
              </a:defRPr>
            </a:pPr>
            <a:r>
              <a:t>•  Has your organisation ever had a digital safeguarding policy that existed only on paper? What made it stay that way?</a:t>
            </a:r>
          </a:p>
          <a:p>
            <a:pPr>
              <a:spcAft>
                <a:spcPts val="800"/>
              </a:spcAft>
              <a:defRPr sz="1300">
                <a:solidFill>
                  <a:srgbClr val="B8B8D0"/>
                </a:solidFill>
                <a:latin typeface="Calibri"/>
              </a:defRPr>
            </a:pPr>
            <a:r>
              <a:t>•  What's a safeguarding rule you've quietly broken because it would have made things worse to follow it?</a:t>
            </a:r>
          </a:p>
        </p:txBody>
      </p:sp>
      <p:pic>
        <p:nvPicPr>
          <p:cNvPr id="8" name="Picture 7" descr="logo.png"/>
          <p:cNvPicPr>
            <a:picLocks noChangeAspect="1"/>
          </p:cNvPicPr>
          <p:nvPr/>
        </p:nvPicPr>
        <p:blipFill>
          <a:blip r:embed="rId2"/>
          <a:stretch>
            <a:fillRect/>
          </a:stretch>
        </p:blipFill>
        <p:spPr>
          <a:xfrm>
            <a:off x="10515600" y="6355080"/>
            <a:ext cx="1180586" cy="274320"/>
          </a:xfrm>
          <a:prstGeom prst="rect">
            <a:avLst/>
          </a:prstGeom>
        </p:spPr>
      </p:pic>
      <p:sp>
        <p:nvSpPr>
          <p:cNvPr id="9" name="TextBox 8"/>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3  ·  DISCUSSION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FFB800"/>
                </a:solidFill>
                <a:latin typeface="Calibri"/>
              </a:defRPr>
            </a:pPr>
            <a:r>
              <a:t>DISCUSSION</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Tool Defence</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In pairs. One of you picks a platform you use with young people (WhatsApp, Instagram, Discord, whatever). Defend it out loud for 60 seconds — why it's the right tool for your young people. The other pushes back: 'But what about…' Swap. Share back one tension in one sentence.</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3  ·  DISCUSSION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5486400" cy="365760"/>
          </a:xfrm>
          <a:prstGeom prst="rect">
            <a:avLst/>
          </a:prstGeom>
          <a:noFill/>
        </p:spPr>
        <p:txBody>
          <a:bodyPr wrap="square" lIns="0" rIns="0">
            <a:spAutoFit/>
          </a:bodyPr>
          <a:lstStyle/>
          <a:p>
            <a:pPr algn="l">
              <a:defRPr sz="1400" b="1">
                <a:solidFill>
                  <a:srgbClr val="00E676"/>
                </a:solidFill>
                <a:latin typeface="Calibri"/>
              </a:defRPr>
            </a:pPr>
            <a:r>
              <a:t>CLOSING</a:t>
            </a:r>
          </a:p>
        </p:txBody>
      </p:sp>
      <p:sp>
        <p:nvSpPr>
          <p:cNvPr id="4" name="TextBox 3"/>
          <p:cNvSpPr txBox="1"/>
          <p:nvPr/>
        </p:nvSpPr>
        <p:spPr>
          <a:xfrm>
            <a:off x="731520" y="868680"/>
            <a:ext cx="5486400" cy="365760"/>
          </a:xfrm>
          <a:prstGeom prst="rect">
            <a:avLst/>
          </a:prstGeom>
          <a:noFill/>
        </p:spPr>
        <p:txBody>
          <a:bodyPr wrap="square" lIns="0" rIns="0">
            <a:spAutoFit/>
          </a:bodyPr>
          <a:lstStyle/>
          <a:p>
            <a:pPr algn="l">
              <a:defRPr sz="1200" b="0">
                <a:solidFill>
                  <a:srgbClr val="7B7B96"/>
                </a:solidFill>
                <a:latin typeface="Calibri"/>
              </a:defRPr>
            </a:pPr>
            <a:r>
              <a:t>150 – 180 min</a:t>
            </a:r>
          </a:p>
        </p:txBody>
      </p:sp>
      <p:sp>
        <p:nvSpPr>
          <p:cNvPr id="5" name="TextBox 4"/>
          <p:cNvSpPr txBox="1"/>
          <p:nvPr/>
        </p:nvSpPr>
        <p:spPr>
          <a:xfrm>
            <a:off x="731520" y="1828800"/>
            <a:ext cx="10515600" cy="2286000"/>
          </a:xfrm>
          <a:prstGeom prst="rect">
            <a:avLst/>
          </a:prstGeom>
          <a:noFill/>
        </p:spPr>
        <p:txBody>
          <a:bodyPr wrap="square" lIns="0" rIns="0">
            <a:spAutoFit/>
          </a:bodyPr>
          <a:lstStyle/>
          <a:p>
            <a:pPr algn="l">
              <a:defRPr sz="3800" b="1">
                <a:solidFill>
                  <a:srgbClr val="FFFFFF"/>
                </a:solidFill>
                <a:latin typeface="Calibri"/>
              </a:defRPr>
            </a:pPr>
            <a:r>
              <a:t>"Which safeguards protect young people — and which ones just protect organisations?"</a:t>
            </a:r>
          </a:p>
        </p:txBody>
      </p:sp>
      <p:sp>
        <p:nvSpPr>
          <p:cNvPr id="6" name="TextBox 5"/>
          <p:cNvSpPr txBox="1"/>
          <p:nvPr/>
        </p:nvSpPr>
        <p:spPr>
          <a:xfrm>
            <a:off x="731520" y="4389120"/>
            <a:ext cx="10515600" cy="1828800"/>
          </a:xfrm>
          <a:prstGeom prst="rect">
            <a:avLst/>
          </a:prstGeom>
          <a:noFill/>
        </p:spPr>
        <p:txBody>
          <a:bodyPr wrap="square" lIns="0" rIns="0">
            <a:spAutoFit/>
          </a:bodyPr>
          <a:lstStyle/>
          <a:p>
            <a:pPr algn="l">
              <a:defRPr sz="1700" b="0">
                <a:solidFill>
                  <a:srgbClr val="B8B8D0"/>
                </a:solidFill>
                <a:latin typeface="Calibri"/>
              </a:defRPr>
            </a:pPr>
            <a:r>
              <a:t>Some rules exist to keep young people safe. Others exist so the organisation can say 'we had a policy'. Knowing the difference is the job.</a:t>
            </a:r>
          </a:p>
        </p:txBody>
      </p:sp>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Robocode × LIA  ·  Digital Youth Work CPD  ·  Session 3 of 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00E676"/>
                </a:solidFill>
                <a:latin typeface="Calibri"/>
              </a:defRPr>
            </a:pPr>
            <a:r>
              <a:t>CLOSING</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Two Lists</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On two different coloured stickies: one rule that genuinely helps young people · one rule that mostly covers the organisation. Stick both on the wall. Walk the wall silently. Photograph it before you leave.</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3  ·  CLOSING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00E676"/>
                </a:solidFill>
                <a:latin typeface="Calibri"/>
              </a:defRPr>
            </a:pPr>
            <a:r>
              <a:t>CLOSING</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The Safeguard I'll Change</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Open your phone's reminders or calendar. Set a reminder for next Monday morning: 'Change [one specific safeguarding setup] on [one specific tool].' Share with your neighbour — they're your check-in.</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3  ·  CLOSING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00E676"/>
                </a:solidFill>
                <a:latin typeface="Calibri"/>
              </a:defRPr>
            </a:pPr>
            <a:r>
              <a:t>CLOSING</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Principle Commitment</a:t>
            </a:r>
          </a:p>
        </p:txBody>
      </p:sp>
      <p:sp>
        <p:nvSpPr>
          <p:cNvPr id="5" name="TextBox 4"/>
          <p:cNvSpPr txBox="1"/>
          <p:nvPr/>
        </p:nvSpPr>
        <p:spPr>
          <a:xfrm>
            <a:off x="731520" y="2103120"/>
            <a:ext cx="10515600" cy="365760"/>
          </a:xfrm>
          <a:prstGeom prst="rect">
            <a:avLst/>
          </a:prstGeom>
          <a:noFill/>
        </p:spPr>
        <p:txBody>
          <a:bodyPr wrap="square" lIns="0" rIns="0">
            <a:spAutoFit/>
          </a:bodyPr>
          <a:lstStyle/>
          <a:p>
            <a:pPr algn="l">
              <a:defRPr sz="1400" b="1">
                <a:solidFill>
                  <a:srgbClr val="E91E8C"/>
                </a:solidFill>
                <a:latin typeface="Calibri"/>
              </a:defRPr>
            </a:pPr>
            <a:r>
              <a:t>🛠  Mentimeter</a:t>
            </a:r>
          </a:p>
        </p:txBody>
      </p:sp>
      <p:sp>
        <p:nvSpPr>
          <p:cNvPr id="6" name="TextBox 5"/>
          <p:cNvSpPr txBox="1"/>
          <p:nvPr/>
        </p:nvSpPr>
        <p:spPr>
          <a:xfrm>
            <a:off x="731520" y="2560320"/>
            <a:ext cx="10515600" cy="2743200"/>
          </a:xfrm>
          <a:prstGeom prst="rect">
            <a:avLst/>
          </a:prstGeom>
          <a:noFill/>
        </p:spPr>
        <p:txBody>
          <a:bodyPr wrap="square" lIns="0" rIns="0">
            <a:spAutoFit/>
          </a:bodyPr>
          <a:lstStyle/>
          <a:p>
            <a:pPr algn="l">
              <a:defRPr sz="1900" b="0">
                <a:solidFill>
                  <a:srgbClr val="FFFFFF"/>
                </a:solidFill>
                <a:latin typeface="Calibri"/>
              </a:defRPr>
            </a:pPr>
            <a:r>
              <a:t>Complete the sentence in Menti: 'Regardless of context — public, private, or DM — I will always ___.' Submit live. Read a few aloud. Screenshot the wall.</a:t>
            </a:r>
          </a:p>
        </p:txBody>
      </p:sp>
      <p:pic>
        <p:nvPicPr>
          <p:cNvPr id="7" name="Picture 6" descr="logo.png"/>
          <p:cNvPicPr>
            <a:picLocks noChangeAspect="1"/>
          </p:cNvPicPr>
          <p:nvPr/>
        </p:nvPicPr>
        <p:blipFill>
          <a:blip r:embed="rId2"/>
          <a:stretch>
            <a:fillRect/>
          </a:stretch>
        </p:blipFill>
        <p:spPr>
          <a:xfrm>
            <a:off x="10515600" y="6355080"/>
            <a:ext cx="1180586" cy="274320"/>
          </a:xfrm>
          <a:prstGeom prst="rect">
            <a:avLst/>
          </a:prstGeom>
        </p:spPr>
      </p:pic>
      <p:sp>
        <p:nvSpPr>
          <p:cNvPr id="8" name="TextBox 7"/>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3  ·  CLOSING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61627"/>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00E676"/>
                </a:solidFill>
                <a:latin typeface="Calibri"/>
              </a:defRPr>
            </a:pPr>
            <a:r>
              <a:t>CLOSING</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Exit Ticket</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Sticky on the door frame as you leave: one word for the context you're going to pay more attention to (public / private / DM). Read them back at the start of Session 4.</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3  ·  CLOSING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274320" cy="2286000"/>
          </a:xfrm>
          <a:prstGeom prst="rect">
            <a:avLst/>
          </a:prstGeom>
          <a:solidFill>
            <a:srgbClr val="00D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0"/>
            <a:ext cx="274320" cy="2286000"/>
          </a:xfrm>
          <a:prstGeom prst="rect">
            <a:avLst/>
          </a:prstGeom>
          <a:solidFill>
            <a:srgbClr val="7B6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572000"/>
            <a:ext cx="274320" cy="2286000"/>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11480"/>
            <a:ext cx="5486400" cy="365760"/>
          </a:xfrm>
          <a:prstGeom prst="rect">
            <a:avLst/>
          </a:prstGeom>
          <a:noFill/>
        </p:spPr>
        <p:txBody>
          <a:bodyPr wrap="square" lIns="0" rIns="0">
            <a:spAutoFit/>
          </a:bodyPr>
          <a:lstStyle/>
          <a:p>
            <a:pPr algn="l">
              <a:defRPr sz="1300" b="1">
                <a:solidFill>
                  <a:srgbClr val="00D4DB"/>
                </a:solidFill>
                <a:latin typeface="Calibri"/>
              </a:defRPr>
            </a:pPr>
            <a:r>
              <a:t>YOUR TAKEAWAY</a:t>
            </a:r>
          </a:p>
        </p:txBody>
      </p:sp>
      <p:sp>
        <p:nvSpPr>
          <p:cNvPr id="6" name="TextBox 5"/>
          <p:cNvSpPr txBox="1"/>
          <p:nvPr/>
        </p:nvSpPr>
        <p:spPr>
          <a:xfrm>
            <a:off x="822960" y="2194560"/>
            <a:ext cx="10515600" cy="2743200"/>
          </a:xfrm>
          <a:prstGeom prst="rect">
            <a:avLst/>
          </a:prstGeom>
          <a:noFill/>
        </p:spPr>
        <p:txBody>
          <a:bodyPr wrap="square" lIns="0" rIns="0">
            <a:spAutoFit/>
          </a:bodyPr>
          <a:lstStyle/>
          <a:p>
            <a:pPr algn="l">
              <a:defRPr sz="3000" b="1">
                <a:solidFill>
                  <a:srgbClr val="FFFFFF"/>
                </a:solidFill>
                <a:latin typeface="Calibri"/>
              </a:defRPr>
            </a:pPr>
            <a:r>
              <a:t>Review the safeguarding setup on one digital tool you use with young people. Check it covers all three contexts: public, private, and DM. Change one setting this week.</a:t>
            </a:r>
          </a:p>
        </p:txBody>
      </p:sp>
      <p:sp>
        <p:nvSpPr>
          <p:cNvPr id="7" name="TextBox 6"/>
          <p:cNvSpPr txBox="1"/>
          <p:nvPr/>
        </p:nvSpPr>
        <p:spPr>
          <a:xfrm>
            <a:off x="822960" y="5486400"/>
            <a:ext cx="10058400" cy="457200"/>
          </a:xfrm>
          <a:prstGeom prst="rect">
            <a:avLst/>
          </a:prstGeom>
          <a:noFill/>
        </p:spPr>
        <p:txBody>
          <a:bodyPr wrap="square" lIns="0" rIns="0">
            <a:spAutoFit/>
          </a:bodyPr>
          <a:lstStyle/>
          <a:p>
            <a:pPr algn="l">
              <a:defRPr sz="1500" b="1">
                <a:solidFill>
                  <a:srgbClr val="E91E8C"/>
                </a:solidFill>
                <a:latin typeface="Calibri"/>
              </a:defRPr>
            </a:pPr>
            <a:r>
              <a:t>Next: Session 4 — Social Media and Engagement</a:t>
            </a:r>
          </a:p>
        </p:txBody>
      </p:sp>
      <p:pic>
        <p:nvPicPr>
          <p:cNvPr id="8" name="Picture 7" descr="mascot.png"/>
          <p:cNvPicPr>
            <a:picLocks noChangeAspect="1"/>
          </p:cNvPicPr>
          <p:nvPr/>
        </p:nvPicPr>
        <p:blipFill>
          <a:blip r:embed="rId2"/>
          <a:stretch>
            <a:fillRect/>
          </a:stretch>
        </p:blipFill>
        <p:spPr>
          <a:xfrm>
            <a:off x="9601200" y="4114800"/>
            <a:ext cx="1335417" cy="1645920"/>
          </a:xfrm>
          <a:prstGeom prst="rect">
            <a:avLst/>
          </a:prstGeom>
        </p:spPr>
      </p:pic>
      <p:sp>
        <p:nvSpPr>
          <p:cNvPr id="9" name="TextBox 8"/>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Robocode × LIA  ·  Digital Youth Work CPD  ·  Session 3 of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