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84848"/>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84848"/>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png"/>
          <p:cNvPicPr>
            <a:picLocks noChangeAspect="1"/>
          </p:cNvPicPr>
          <p:nvPr/>
        </p:nvPicPr>
        <p:blipFill>
          <a:blip r:embed="rId2"/>
          <a:stretch>
            <a:fillRect/>
          </a:stretch>
        </p:blipFill>
        <p:spPr>
          <a:xfrm>
            <a:off x="457200" y="365760"/>
            <a:ext cx="1967643" cy="457200"/>
          </a:xfrm>
          <a:prstGeom prst="rect">
            <a:avLst/>
          </a:prstGeom>
        </p:spPr>
      </p:pic>
      <p:sp>
        <p:nvSpPr>
          <p:cNvPr id="9" name="TextBox 8"/>
          <p:cNvSpPr txBox="1"/>
          <p:nvPr/>
        </p:nvSpPr>
        <p:spPr>
          <a:xfrm>
            <a:off x="731520" y="1463040"/>
            <a:ext cx="10058400" cy="457200"/>
          </a:xfrm>
          <a:prstGeom prst="rect">
            <a:avLst/>
          </a:prstGeom>
          <a:noFill/>
        </p:spPr>
        <p:txBody>
          <a:bodyPr wrap="square" lIns="0" rIns="0">
            <a:spAutoFit/>
          </a:bodyPr>
          <a:lstStyle/>
          <a:p>
            <a:pPr algn="l">
              <a:defRPr sz="1400" b="1">
                <a:solidFill>
                  <a:srgbClr val="00D4DB"/>
                </a:solidFill>
                <a:latin typeface="Calibri"/>
              </a:defRPr>
            </a:pPr>
            <a:r>
              <a:t>Session 4 of 6  ·  Digital Youth Work CPD</a:t>
            </a:r>
          </a:p>
        </p:txBody>
      </p:sp>
      <p:sp>
        <p:nvSpPr>
          <p:cNvPr id="10" name="TextBox 9"/>
          <p:cNvSpPr txBox="1"/>
          <p:nvPr/>
        </p:nvSpPr>
        <p:spPr>
          <a:xfrm>
            <a:off x="731520" y="2103120"/>
            <a:ext cx="10515600" cy="2286000"/>
          </a:xfrm>
          <a:prstGeom prst="rect">
            <a:avLst/>
          </a:prstGeom>
          <a:noFill/>
        </p:spPr>
        <p:txBody>
          <a:bodyPr wrap="square" lIns="0" rIns="0">
            <a:spAutoFit/>
          </a:bodyPr>
          <a:lstStyle/>
          <a:p>
            <a:pPr algn="l">
              <a:defRPr sz="5200" b="1">
                <a:solidFill>
                  <a:srgbClr val="FFFFFF"/>
                </a:solidFill>
                <a:latin typeface="Calibri"/>
              </a:defRPr>
            </a:pPr>
            <a:r>
              <a:t>Social Media and Youth Work Practices</a:t>
            </a:r>
          </a:p>
        </p:txBody>
      </p:sp>
      <p:sp>
        <p:nvSpPr>
          <p:cNvPr id="11" name="TextBox 10"/>
          <p:cNvSpPr txBox="1"/>
          <p:nvPr/>
        </p:nvSpPr>
        <p:spPr>
          <a:xfrm>
            <a:off x="731520" y="4389120"/>
            <a:ext cx="10058400" cy="1371600"/>
          </a:xfrm>
          <a:prstGeom prst="rect">
            <a:avLst/>
          </a:prstGeom>
          <a:noFill/>
        </p:spPr>
        <p:txBody>
          <a:bodyPr wrap="square" lIns="0" rIns="0">
            <a:spAutoFit/>
          </a:bodyPr>
          <a:lstStyle/>
          <a:p>
            <a:pPr algn="l">
              <a:defRPr sz="1700" b="0">
                <a:solidFill>
                  <a:srgbClr val="B8B8D0"/>
                </a:solidFill>
                <a:latin typeface="Calibri"/>
              </a:defRPr>
            </a:pPr>
            <a:r>
              <a:t>Practitioners develop youth work practices that work alongside — and sometimes against — the design logic of social media, so young people can use, critique, and survive platforms that are not neutral.</a:t>
            </a:r>
          </a:p>
        </p:txBody>
      </p:sp>
      <p:pic>
        <p:nvPicPr>
          <p:cNvPr id="12" name="Picture 11" descr="mascot.png"/>
          <p:cNvPicPr>
            <a:picLocks noChangeAspect="1"/>
          </p:cNvPicPr>
          <p:nvPr/>
        </p:nvPicPr>
        <p:blipFill>
          <a:blip r:embed="rId3"/>
          <a:stretch>
            <a:fillRect/>
          </a:stretch>
        </p:blipFill>
        <p:spPr>
          <a:xfrm>
            <a:off x="10332720" y="4846320"/>
            <a:ext cx="1187037" cy="1463040"/>
          </a:xfrm>
          <a:prstGeom prst="rect">
            <a:avLst/>
          </a:prstGeom>
        </p:spPr>
      </p:pic>
      <p:sp>
        <p:nvSpPr>
          <p:cNvPr id="13" name="TextBox 12"/>
          <p:cNvSpPr txBox="1"/>
          <p:nvPr/>
        </p:nvSpPr>
        <p:spPr>
          <a:xfrm>
            <a:off x="731520" y="6217920"/>
            <a:ext cx="5486400" cy="274320"/>
          </a:xfrm>
          <a:prstGeom prst="rect">
            <a:avLst/>
          </a:prstGeom>
          <a:noFill/>
        </p:spPr>
        <p:txBody>
          <a:bodyPr wrap="square" lIns="0" rIns="0">
            <a:spAutoFit/>
          </a:bodyPr>
          <a:lstStyle/>
          <a:p>
            <a:pPr algn="l">
              <a:defRPr sz="1100" b="1">
                <a:solidFill>
                  <a:srgbClr val="7B7B96"/>
                </a:solidFill>
                <a:latin typeface="Calibri"/>
              </a:defRPr>
            </a:pPr>
            <a:r>
              <a:t>Robocode × 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5486400" cy="365760"/>
          </a:xfrm>
          <a:prstGeom prst="rect">
            <a:avLst/>
          </a:prstGeom>
          <a:noFill/>
        </p:spPr>
        <p:txBody>
          <a:bodyPr wrap="square" lIns="0" rIns="0">
            <a:spAutoFit/>
          </a:bodyPr>
          <a:lstStyle/>
          <a:p>
            <a:pPr algn="l">
              <a:defRPr sz="1300" b="1">
                <a:solidFill>
                  <a:srgbClr val="7B61FF"/>
                </a:solidFill>
                <a:latin typeface="Calibri"/>
              </a:defRPr>
            </a:pPr>
            <a:r>
              <a:t>LEARNING OBJECTIVES</a:t>
            </a:r>
          </a:p>
        </p:txBody>
      </p:sp>
      <p:sp>
        <p:nvSpPr>
          <p:cNvPr id="6" name="TextBox 5"/>
          <p:cNvSpPr txBox="1"/>
          <p:nvPr/>
        </p:nvSpPr>
        <p:spPr>
          <a:xfrm>
            <a:off x="731520" y="914400"/>
            <a:ext cx="10058400" cy="640080"/>
          </a:xfrm>
          <a:prstGeom prst="rect">
            <a:avLst/>
          </a:prstGeom>
          <a:noFill/>
        </p:spPr>
        <p:txBody>
          <a:bodyPr wrap="square" lIns="0" rIns="0">
            <a:spAutoFit/>
          </a:bodyPr>
          <a:lstStyle/>
          <a:p>
            <a:pPr algn="l">
              <a:defRPr sz="3200" b="1">
                <a:solidFill>
                  <a:srgbClr val="FFFFFF"/>
                </a:solidFill>
                <a:latin typeface="Calibri"/>
              </a:defRPr>
            </a:pPr>
            <a:r>
              <a:t>What we're here to do</a:t>
            </a:r>
          </a:p>
        </p:txBody>
      </p:sp>
      <p:sp>
        <p:nvSpPr>
          <p:cNvPr id="7" name="TextBox 6"/>
          <p:cNvSpPr txBox="1"/>
          <p:nvPr/>
        </p:nvSpPr>
        <p:spPr>
          <a:xfrm>
            <a:off x="731520" y="2011680"/>
            <a:ext cx="4572000" cy="365760"/>
          </a:xfrm>
          <a:prstGeom prst="rect">
            <a:avLst/>
          </a:prstGeom>
          <a:noFill/>
        </p:spPr>
        <p:txBody>
          <a:bodyPr wrap="square" lIns="0" rIns="0">
            <a:spAutoFit/>
          </a:bodyPr>
          <a:lstStyle/>
          <a:p>
            <a:pPr algn="l">
              <a:defRPr sz="1200" b="1">
                <a:solidFill>
                  <a:srgbClr val="00D4DB"/>
                </a:solidFill>
                <a:latin typeface="Calibri"/>
              </a:defRPr>
            </a:pPr>
            <a:r>
              <a:t>AIM</a:t>
            </a:r>
          </a:p>
        </p:txBody>
      </p:sp>
      <p:sp>
        <p:nvSpPr>
          <p:cNvPr id="8" name="TextBox 7"/>
          <p:cNvSpPr txBox="1"/>
          <p:nvPr/>
        </p:nvSpPr>
        <p:spPr>
          <a:xfrm>
            <a:off x="731520" y="2331720"/>
            <a:ext cx="10515600" cy="1188720"/>
          </a:xfrm>
          <a:prstGeom prst="rect">
            <a:avLst/>
          </a:prstGeom>
          <a:noFill/>
        </p:spPr>
        <p:txBody>
          <a:bodyPr wrap="square" lIns="0" rIns="0">
            <a:spAutoFit/>
          </a:bodyPr>
          <a:lstStyle/>
          <a:p>
            <a:pPr algn="l">
              <a:defRPr sz="1400" b="0">
                <a:solidFill>
                  <a:srgbClr val="B8B8D0"/>
                </a:solidFill>
                <a:latin typeface="Calibri"/>
              </a:defRPr>
            </a:pPr>
            <a:r>
              <a:t>Practitioners develop youth work practices that work alongside — and sometimes against — the design logic of social media, so young people can use, critique, and survive platforms that are not neutral.</a:t>
            </a:r>
          </a:p>
        </p:txBody>
      </p:sp>
      <p:sp>
        <p:nvSpPr>
          <p:cNvPr id="9" name="TextBox 8"/>
          <p:cNvSpPr txBox="1"/>
          <p:nvPr/>
        </p:nvSpPr>
        <p:spPr>
          <a:xfrm>
            <a:off x="731520" y="3566160"/>
            <a:ext cx="4572000" cy="365760"/>
          </a:xfrm>
          <a:prstGeom prst="rect">
            <a:avLst/>
          </a:prstGeom>
          <a:noFill/>
        </p:spPr>
        <p:txBody>
          <a:bodyPr wrap="square" lIns="0" rIns="0">
            <a:spAutoFit/>
          </a:bodyPr>
          <a:lstStyle/>
          <a:p>
            <a:pPr algn="l">
              <a:defRPr sz="1200" b="1">
                <a:solidFill>
                  <a:srgbClr val="00D4DB"/>
                </a:solidFill>
                <a:latin typeface="Calibri"/>
              </a:defRPr>
            </a:pPr>
            <a:r>
              <a:t>OBJECTIVES</a:t>
            </a:r>
          </a:p>
        </p:txBody>
      </p:sp>
      <p:sp>
        <p:nvSpPr>
          <p:cNvPr id="10" name="TextBox 9"/>
          <p:cNvSpPr txBox="1"/>
          <p:nvPr/>
        </p:nvSpPr>
        <p:spPr>
          <a:xfrm>
            <a:off x="731520" y="3886200"/>
            <a:ext cx="10515600" cy="2286000"/>
          </a:xfrm>
          <a:prstGeom prst="rect">
            <a:avLst/>
          </a:prstGeom>
          <a:noFill/>
        </p:spPr>
        <p:txBody>
          <a:bodyPr wrap="square" lIns="0">
            <a:spAutoFit/>
          </a:bodyPr>
          <a:lstStyle/>
          <a:p>
            <a:pPr>
              <a:spcAft>
                <a:spcPts val="800"/>
              </a:spcAft>
              <a:defRPr sz="1300">
                <a:solidFill>
                  <a:srgbClr val="FFFFFF"/>
                </a:solidFill>
                <a:latin typeface="Calibri"/>
              </a:defRPr>
            </a:pPr>
            <a:r>
              <a:t>•  Test engagement mechanics by adding and removing them in real time</a:t>
            </a:r>
          </a:p>
          <a:p>
            <a:pPr>
              <a:spcAft>
                <a:spcPts val="800"/>
              </a:spcAft>
              <a:defRPr sz="1300">
                <a:solidFill>
                  <a:srgbClr val="FFFFFF"/>
                </a:solidFill>
                <a:latin typeface="Calibri"/>
              </a:defRPr>
            </a:pPr>
            <a:r>
              <a:t>•  Distinguish motivation (serves the young person) from manipulation (serves the platform)</a:t>
            </a:r>
          </a:p>
          <a:p>
            <a:pPr>
              <a:spcAft>
                <a:spcPts val="800"/>
              </a:spcAft>
              <a:defRPr sz="1300">
                <a:solidFill>
                  <a:srgbClr val="FFFFFF"/>
                </a:solidFill>
                <a:latin typeface="Calibri"/>
              </a:defRPr>
            </a:pPr>
            <a:r>
              <a:t>•  Take a position on current legal and regulatory debates about young people's digital access</a:t>
            </a:r>
          </a:p>
          <a:p>
            <a:pPr>
              <a:spcAft>
                <a:spcPts val="800"/>
              </a:spcAft>
              <a:defRPr sz="1300">
                <a:solidFill>
                  <a:srgbClr val="FFFFFF"/>
                </a:solidFill>
                <a:latin typeface="Calibri"/>
              </a:defRPr>
            </a:pPr>
            <a:r>
              <a:t>•  Decide personal red lines: which platform behaviours they will and won't replicate in their practice</a:t>
            </a:r>
          </a:p>
        </p:txBody>
      </p:sp>
      <p:sp>
        <p:nvSpPr>
          <p:cNvPr id="11" name="TextBox 10"/>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4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00D4DB"/>
                </a:solidFill>
                <a:latin typeface="Calibri"/>
              </a:defRPr>
            </a:pPr>
            <a:r>
              <a:t>DISCOVER</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0 – 15 min</a:t>
            </a:r>
          </a:p>
        </p:txBody>
      </p:sp>
      <p:sp>
        <p:nvSpPr>
          <p:cNvPr id="5" name="TextBox 4"/>
          <p:cNvSpPr txBox="1"/>
          <p:nvPr/>
        </p:nvSpPr>
        <p:spPr>
          <a:xfrm>
            <a:off x="731520" y="1828800"/>
            <a:ext cx="10515600" cy="2286000"/>
          </a:xfrm>
          <a:prstGeom prst="rect">
            <a:avLst/>
          </a:prstGeom>
          <a:noFill/>
        </p:spPr>
        <p:txBody>
          <a:bodyPr wrap="square" lIns="0" rIns="0">
            <a:spAutoFit/>
          </a:bodyPr>
          <a:lstStyle/>
          <a:p>
            <a:pPr algn="l">
              <a:defRPr sz="3800" b="1">
                <a:solidFill>
                  <a:srgbClr val="FFFFFF"/>
                </a:solidFill>
                <a:latin typeface="Calibri"/>
              </a:defRPr>
            </a:pPr>
            <a:r>
              <a:t>"How much time online is enough?"</a:t>
            </a:r>
          </a:p>
        </p:txBody>
      </p:sp>
      <p:sp>
        <p:nvSpPr>
          <p:cNvPr id="6" name="TextBox 5"/>
          <p:cNvSpPr txBox="1"/>
          <p:nvPr/>
        </p:nvSpPr>
        <p:spPr>
          <a:xfrm>
            <a:off x="731520" y="4389120"/>
            <a:ext cx="10515600" cy="1828800"/>
          </a:xfrm>
          <a:prstGeom prst="rect">
            <a:avLst/>
          </a:prstGeom>
          <a:noFill/>
        </p:spPr>
        <p:txBody>
          <a:bodyPr wrap="square" lIns="0" rIns="0">
            <a:spAutoFit/>
          </a:bodyPr>
          <a:lstStyle/>
          <a:p>
            <a:pPr algn="l">
              <a:defRPr sz="1700" b="0">
                <a:solidFill>
                  <a:srgbClr val="B8B8D0"/>
                </a:solidFill>
                <a:latin typeface="Calibri"/>
              </a:defRPr>
            </a:pPr>
            <a:r>
              <a:t>Everyone has an answer — and almost everyone frames it as how much. But the real issue isn't how long young people are online. It's what the platform is designed to make them do while they're there, and what your practice does to work with or against that.</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4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Anonymous Number</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Open number submission: hours per day you think is 'appropriate' for the young people you work with. Show the range. Then the honest follow-up: who decided that number — you, the young person, or the platform?</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Screen Time vs Screen Quality</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Two columns on the whiteboard: '2 hours of ___ is great' and '2 hours of ___ is harmful'. Fill both in as a group. The point isn't the time — it's what the design of the space does during those hours.</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Where Young People Actually Are</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Word cloud: one platform where your young people spend real time that you DON'T fully understand yet. Submit. Show the cloud. The big words are where your practice has a gap.</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Platform Ranking</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Ranking poll: which platforms are most shaping young people right now? TikTok · Instagram · Snapchat · Discord · YouTube · Roblox · WhatsApp · Reddit. Submit. Show the aggregate. Discuss: is your practice working on the platforms that actually matter?</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DISCOVER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Practice Gap Story</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Turn to your neighbour. 60 seconds each: something young people do online that your practice currently doesn't address at all. Swap. No-one presents back — just a marker for what this session has to do.</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DISCOVER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E91E8C"/>
                </a:solidFill>
                <a:latin typeface="Calibri"/>
              </a:defRPr>
            </a:pPr>
            <a:r>
              <a:t>ACTIVITY</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15 – 75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Activity</a:t>
            </a:r>
          </a:p>
        </p:txBody>
      </p:sp>
      <p:sp>
        <p:nvSpPr>
          <p:cNvPr id="6" name="TextBox 5"/>
          <p:cNvSpPr txBox="1"/>
          <p:nvPr/>
        </p:nvSpPr>
        <p:spPr>
          <a:xfrm>
            <a:off x="731520" y="2926080"/>
            <a:ext cx="10515600" cy="457200"/>
          </a:xfrm>
          <a:prstGeom prst="rect">
            <a:avLst/>
          </a:prstGeom>
          <a:noFill/>
        </p:spPr>
        <p:txBody>
          <a:bodyPr wrap="square" lIns="0" rIns="0">
            <a:spAutoFit/>
          </a:bodyPr>
          <a:lstStyle/>
          <a:p>
            <a:pPr algn="l">
              <a:defRPr sz="1400" b="0">
                <a:solidFill>
                  <a:srgbClr val="B8B8D0"/>
                </a:solidFill>
                <a:latin typeface="Calibri"/>
              </a:defRPr>
            </a:pPr>
            <a:r>
              <a:t>6 activities in this block:</a:t>
            </a:r>
          </a:p>
        </p:txBody>
      </p:sp>
      <p:sp>
        <p:nvSpPr>
          <p:cNvPr id="7" name="TextBox 6"/>
          <p:cNvSpPr txBox="1"/>
          <p:nvPr/>
        </p:nvSpPr>
        <p:spPr>
          <a:xfrm>
            <a:off x="731520" y="3383280"/>
            <a:ext cx="10515600" cy="3017520"/>
          </a:xfrm>
          <a:prstGeom prst="rect">
            <a:avLst/>
          </a:prstGeom>
          <a:noFill/>
        </p:spPr>
        <p:txBody>
          <a:bodyPr wrap="square" lIns="0">
            <a:spAutoFit/>
          </a:bodyPr>
          <a:lstStyle/>
          <a:p>
            <a:pPr>
              <a:spcAft>
                <a:spcPts val="800"/>
              </a:spcAft>
              <a:defRPr sz="1600">
                <a:solidFill>
                  <a:srgbClr val="FFFFFF"/>
                </a:solidFill>
                <a:latin typeface="Calibri"/>
              </a:defRPr>
            </a:pPr>
            <a:r>
              <a:t>→  Baseline Quiz</a:t>
            </a:r>
          </a:p>
          <a:p>
            <a:pPr>
              <a:spcAft>
                <a:spcPts val="800"/>
              </a:spcAft>
              <a:defRPr sz="1600">
                <a:solidFill>
                  <a:srgbClr val="FFFFFF"/>
                </a:solidFill>
                <a:latin typeface="Calibri"/>
              </a:defRPr>
            </a:pPr>
            <a:r>
              <a:t>→  Add a Mechanic</a:t>
            </a:r>
          </a:p>
          <a:p>
            <a:pPr>
              <a:spcAft>
                <a:spcPts val="800"/>
              </a:spcAft>
              <a:defRPr sz="1600">
                <a:solidFill>
                  <a:srgbClr val="FFFFFF"/>
                </a:solidFill>
                <a:latin typeface="Calibri"/>
              </a:defRPr>
            </a:pPr>
            <a:r>
              <a:t>→  Break the Mechanic</a:t>
            </a:r>
          </a:p>
          <a:p>
            <a:pPr>
              <a:spcAft>
                <a:spcPts val="800"/>
              </a:spcAft>
              <a:defRPr sz="1600">
                <a:solidFill>
                  <a:srgbClr val="FFFFFF"/>
                </a:solidFill>
                <a:latin typeface="Calibri"/>
              </a:defRPr>
            </a:pPr>
            <a:r>
              <a:t>→  Mechanic Autopsy</a:t>
            </a:r>
          </a:p>
          <a:p>
            <a:pPr>
              <a:spcAft>
                <a:spcPts val="800"/>
              </a:spcAft>
              <a:defRPr sz="1600">
                <a:solidFill>
                  <a:srgbClr val="FFFFFF"/>
                </a:solidFill>
                <a:latin typeface="Calibri"/>
              </a:defRPr>
            </a:pPr>
            <a:r>
              <a:t>→  Spot It in the Wild</a:t>
            </a:r>
          </a:p>
          <a:p>
            <a:pPr>
              <a:spcAft>
                <a:spcPts val="800"/>
              </a:spcAft>
              <a:defRPr sz="1600">
                <a:solidFill>
                  <a:srgbClr val="FFFFFF"/>
                </a:solidFill>
                <a:latin typeface="Calibri"/>
              </a:defRPr>
            </a:pPr>
            <a:r>
              <a:t>→  Design the Counter-Mechanic</a:t>
            </a:r>
          </a:p>
        </p:txBody>
      </p:sp>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4 of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Baseline Quiz</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Kahoot</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Play a simple 8-question Kahoot. No leaderboard, no timer beyond the default, no prizes. Nothing fancy. Observers (half the room, not playing) watch: how competitive are people? How relaxed? Does anyone check out?</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ACTIVITY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Add a Mechanic</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Kahoot + Mentimeter</a:t>
            </a:r>
          </a:p>
        </p:txBody>
      </p:sp>
      <p:sp>
        <p:nvSpPr>
          <p:cNvPr id="6" name="TextBox 5"/>
          <p:cNvSpPr txBox="1"/>
          <p:nvPr/>
        </p:nvSpPr>
        <p:spPr>
          <a:xfrm>
            <a:off x="731520" y="2560320"/>
            <a:ext cx="10515600" cy="2011680"/>
          </a:xfrm>
          <a:prstGeom prst="rect">
            <a:avLst/>
          </a:prstGeom>
          <a:noFill/>
        </p:spPr>
        <p:txBody>
          <a:bodyPr wrap="square" lIns="0" rIns="0">
            <a:spAutoFit/>
          </a:bodyPr>
          <a:lstStyle/>
          <a:p>
            <a:pPr algn="l">
              <a:defRPr sz="1900" b="0">
                <a:solidFill>
                  <a:srgbClr val="FFFFFF"/>
                </a:solidFill>
                <a:latin typeface="Calibri"/>
              </a:defRPr>
            </a:pPr>
            <a:r>
              <a:t>Re-run the same quiz with ONE mechanic added. Each table gets a different mechanic (see prompts). Observers track: competitiveness, stress, disengagement, collaboration. Is the room different? Who's louder? Who went quiet?</a:t>
            </a:r>
          </a:p>
        </p:txBody>
      </p:sp>
      <p:sp>
        <p:nvSpPr>
          <p:cNvPr id="7" name="TextBox 6"/>
          <p:cNvSpPr txBox="1"/>
          <p:nvPr/>
        </p:nvSpPr>
        <p:spPr>
          <a:xfrm>
            <a:off x="731520" y="4663440"/>
            <a:ext cx="10515600" cy="320040"/>
          </a:xfrm>
          <a:prstGeom prst="rect">
            <a:avLst/>
          </a:prstGeom>
          <a:noFill/>
        </p:spPr>
        <p:txBody>
          <a:bodyPr wrap="square" lIns="0" rIns="0">
            <a:spAutoFit/>
          </a:bodyPr>
          <a:lstStyle/>
          <a:p>
            <a:pPr algn="l">
              <a:defRPr sz="1100" b="1">
                <a:solidFill>
                  <a:srgbClr val="E91E8C"/>
                </a:solidFill>
                <a:latin typeface="Calibri"/>
              </a:defRPr>
            </a:pPr>
            <a:r>
              <a:t>PROMPTS</a:t>
            </a:r>
          </a:p>
        </p:txBody>
      </p:sp>
      <p:sp>
        <p:nvSpPr>
          <p:cNvPr id="8" name="TextBox 7"/>
          <p:cNvSpPr txBox="1"/>
          <p:nvPr/>
        </p:nvSpPr>
        <p:spPr>
          <a:xfrm>
            <a:off x="731520" y="49834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Table 1: Visible leaderboard + a (fake) prize for the winner</a:t>
            </a:r>
          </a:p>
          <a:p>
            <a:pPr>
              <a:spcAft>
                <a:spcPts val="800"/>
              </a:spcAft>
              <a:defRPr sz="1300">
                <a:solidFill>
                  <a:srgbClr val="B8B8D0"/>
                </a:solidFill>
                <a:latin typeface="Calibri"/>
              </a:defRPr>
            </a:pPr>
            <a:r>
              <a:t>•  Table 2: Streak bonus — 3 correct in a row doubles points</a:t>
            </a:r>
          </a:p>
          <a:p>
            <a:pPr>
              <a:spcAft>
                <a:spcPts val="800"/>
              </a:spcAft>
              <a:defRPr sz="1300">
                <a:solidFill>
                  <a:srgbClr val="B8B8D0"/>
                </a:solidFill>
                <a:latin typeface="Calibri"/>
              </a:defRPr>
            </a:pPr>
            <a:r>
              <a:t>•  Table 3: Live reactions after each answer via Mentimeter (thumbs up/down on the answerer)</a:t>
            </a:r>
          </a:p>
          <a:p>
            <a:pPr>
              <a:spcAft>
                <a:spcPts val="800"/>
              </a:spcAft>
              <a:defRPr sz="1300">
                <a:solidFill>
                  <a:srgbClr val="B8B8D0"/>
                </a:solidFill>
                <a:latin typeface="Calibri"/>
              </a:defRPr>
            </a:pPr>
            <a:r>
              <a:t>•  Table 4: Time pressure — 5 seconds per question instead of 20</a:t>
            </a:r>
          </a:p>
        </p:txBody>
      </p:sp>
      <p:pic>
        <p:nvPicPr>
          <p:cNvPr id="9" name="Picture 8" descr="logo.png"/>
          <p:cNvPicPr>
            <a:picLocks noChangeAspect="1"/>
          </p:cNvPicPr>
          <p:nvPr/>
        </p:nvPicPr>
        <p:blipFill>
          <a:blip r:embed="rId2"/>
          <a:stretch>
            <a:fillRect/>
          </a:stretch>
        </p:blipFill>
        <p:spPr>
          <a:xfrm>
            <a:off x="10515600" y="6355080"/>
            <a:ext cx="1180586" cy="274320"/>
          </a:xfrm>
          <a:prstGeom prst="rect">
            <a:avLst/>
          </a:prstGeom>
        </p:spPr>
      </p:pic>
      <p:sp>
        <p:nvSpPr>
          <p:cNvPr id="10" name="TextBox 9"/>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ACTIVITY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Break the Mechanic</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Kahoot</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Remove the mechanic mid-quiz. Turn off the leaderboard. Drop the timer. Stop the reactions. Keep playing. What changes? Does engagement drop? Does anything get BETTER — less stress, more collaboration? The behaviour that disappeared when the mechanic left was manufactured, not real.</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ACTIVITY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Mechanic Autopsy</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On the whiteboard, each table fills in four boxes for their mechanic: What it did · What was REAL engagement (would have happened without it) · What was MANUFACTURED engagement (only happened because the mechanic was there) · Would we use this with young people — yes / no / it depends because…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ACTIVITY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Spot It in the Wild</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Open any app on your phone. Find ONE engagement mechanic in the first 60 seconds of using it. Show the person next to you. Name what it's designed to make you do. How fast did you find it?</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ACTIVITY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Design the Counter-Mechanic</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Padlet</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In pairs, design ONE engagement mechanic that serves the young person instead of the platform. What does it reward? What behaviour does it encourage? How do you know it's not just manipulation in a nicer wrapper? Post to the shared Padlet in one short paragraph.</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ACTIVITY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7B61FF"/>
                </a:solidFill>
                <a:latin typeface="Calibri"/>
              </a:defRPr>
            </a:pPr>
            <a:r>
              <a:t>KEY IDEAS</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75 – 95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Platforms Are Not Neutral — And the Law Is Catching Up</a:t>
            </a:r>
          </a:p>
        </p:txBody>
      </p:sp>
      <p:sp>
        <p:nvSpPr>
          <p:cNvPr id="6" name="TextBox 5"/>
          <p:cNvSpPr txBox="1"/>
          <p:nvPr/>
        </p:nvSpPr>
        <p:spPr>
          <a:xfrm>
            <a:off x="731520" y="3200400"/>
            <a:ext cx="10515600" cy="3200400"/>
          </a:xfrm>
          <a:prstGeom prst="rect">
            <a:avLst/>
          </a:prstGeom>
          <a:noFill/>
        </p:spPr>
        <p:txBody>
          <a:bodyPr wrap="square" lIns="0">
            <a:spAutoFit/>
          </a:bodyPr>
          <a:lstStyle/>
          <a:p>
            <a:pPr>
              <a:spcAft>
                <a:spcPts val="800"/>
              </a:spcAft>
              <a:defRPr sz="1700">
                <a:solidFill>
                  <a:srgbClr val="FFFFFF"/>
                </a:solidFill>
                <a:latin typeface="Calibri"/>
              </a:defRPr>
            </a:pPr>
            <a:r>
              <a:t>•  Platforms make money from attention, not from value to the user</a:t>
            </a:r>
          </a:p>
          <a:p>
            <a:pPr>
              <a:spcAft>
                <a:spcPts val="800"/>
              </a:spcAft>
              <a:defRPr sz="1700">
                <a:solidFill>
                  <a:srgbClr val="FFFFFF"/>
                </a:solidFill>
                <a:latin typeface="Calibri"/>
              </a:defRPr>
            </a:pPr>
            <a:r>
              <a:t>•  Motivation = helping users reach THEIR goal · Manipulation = serving the platform's goal at the user's expense</a:t>
            </a:r>
          </a:p>
          <a:p>
            <a:pPr>
              <a:spcAft>
                <a:spcPts val="800"/>
              </a:spcAft>
              <a:defRPr sz="1700">
                <a:solidFill>
                  <a:srgbClr val="FFFFFF"/>
                </a:solidFill>
                <a:latin typeface="Calibri"/>
              </a:defRPr>
            </a:pPr>
            <a:r>
              <a:t>•  Mechanics that look like engagement (points, streaks, leaderboards) can be compliance or anxiety in disguise</a:t>
            </a:r>
          </a:p>
          <a:p>
            <a:pPr>
              <a:spcAft>
                <a:spcPts val="800"/>
              </a:spcAft>
              <a:defRPr sz="1700">
                <a:solidFill>
                  <a:srgbClr val="FFFFFF"/>
                </a:solidFill>
                <a:latin typeface="Calibri"/>
              </a:defRPr>
            </a:pPr>
            <a:r>
              <a:t>•  High completion rates and long session times can mask compulsion, not interest</a:t>
            </a:r>
          </a:p>
          <a:p>
            <a:pPr>
              <a:spcAft>
                <a:spcPts val="800"/>
              </a:spcAft>
              <a:defRPr sz="1700">
                <a:solidFill>
                  <a:srgbClr val="FFFFFF"/>
                </a:solidFill>
                <a:latin typeface="Calibri"/>
              </a:defRPr>
            </a:pPr>
            <a:r>
              <a:t>•  Governments are now legislating on what platforms can do to young people — and youth work has to keep up with the debate</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4 of 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Motivation or Manipulation?</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011680"/>
          </a:xfrm>
          <a:prstGeom prst="rect">
            <a:avLst/>
          </a:prstGeom>
          <a:noFill/>
        </p:spPr>
        <p:txBody>
          <a:bodyPr wrap="square" lIns="0" rIns="0">
            <a:spAutoFit/>
          </a:bodyPr>
          <a:lstStyle/>
          <a:p>
            <a:pPr algn="l">
              <a:defRPr sz="1900" b="0">
                <a:solidFill>
                  <a:srgbClr val="FFFFFF"/>
                </a:solidFill>
                <a:latin typeface="Calibri"/>
              </a:defRPr>
            </a:pPr>
            <a:r>
              <a:t>Eight real mechanics from platforms young people actually use appear on screen one at a time. For each, vote: MOTIVATION (serves the user's goal) or MANIPULATION (serves the platform)? No middle option. The blurry votes are the real discussion.</a:t>
            </a:r>
          </a:p>
        </p:txBody>
      </p:sp>
      <p:sp>
        <p:nvSpPr>
          <p:cNvPr id="7" name="TextBox 6"/>
          <p:cNvSpPr txBox="1"/>
          <p:nvPr/>
        </p:nvSpPr>
        <p:spPr>
          <a:xfrm>
            <a:off x="731520" y="4663440"/>
            <a:ext cx="10515600" cy="320040"/>
          </a:xfrm>
          <a:prstGeom prst="rect">
            <a:avLst/>
          </a:prstGeom>
          <a:noFill/>
        </p:spPr>
        <p:txBody>
          <a:bodyPr wrap="square" lIns="0" rIns="0">
            <a:spAutoFit/>
          </a:bodyPr>
          <a:lstStyle/>
          <a:p>
            <a:pPr algn="l">
              <a:defRPr sz="1100" b="1">
                <a:solidFill>
                  <a:srgbClr val="7B61FF"/>
                </a:solidFill>
                <a:latin typeface="Calibri"/>
              </a:defRPr>
            </a:pPr>
            <a:r>
              <a:t>PROMPTS</a:t>
            </a:r>
          </a:p>
        </p:txBody>
      </p:sp>
      <p:sp>
        <p:nvSpPr>
          <p:cNvPr id="8" name="TextBox 7"/>
          <p:cNvSpPr txBox="1"/>
          <p:nvPr/>
        </p:nvSpPr>
        <p:spPr>
          <a:xfrm>
            <a:off x="731520" y="49834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Duolingo: a guilt notification if you miss a day</a:t>
            </a:r>
          </a:p>
          <a:p>
            <a:pPr>
              <a:spcAft>
                <a:spcPts val="800"/>
              </a:spcAft>
              <a:defRPr sz="1300">
                <a:solidFill>
                  <a:srgbClr val="B8B8D0"/>
                </a:solidFill>
                <a:latin typeface="Calibri"/>
              </a:defRPr>
            </a:pPr>
            <a:r>
              <a:t>•  YouTube: autoplay next video without asking</a:t>
            </a:r>
          </a:p>
          <a:p>
            <a:pPr>
              <a:spcAft>
                <a:spcPts val="800"/>
              </a:spcAft>
              <a:defRPr sz="1300">
                <a:solidFill>
                  <a:srgbClr val="B8B8D0"/>
                </a:solidFill>
                <a:latin typeface="Calibri"/>
              </a:defRPr>
            </a:pPr>
            <a:r>
              <a:t>•  Kahoot: leaderboard showing top 5</a:t>
            </a:r>
          </a:p>
          <a:p>
            <a:pPr>
              <a:spcAft>
                <a:spcPts val="800"/>
              </a:spcAft>
              <a:defRPr sz="1300">
                <a:solidFill>
                  <a:srgbClr val="B8B8D0"/>
                </a:solidFill>
                <a:latin typeface="Calibri"/>
              </a:defRPr>
            </a:pPr>
            <a:r>
              <a:t>•  Discord: role badges for active community members</a:t>
            </a:r>
          </a:p>
          <a:p>
            <a:pPr>
              <a:spcAft>
                <a:spcPts val="800"/>
              </a:spcAft>
              <a:defRPr sz="1300">
                <a:solidFill>
                  <a:srgbClr val="B8B8D0"/>
                </a:solidFill>
                <a:latin typeface="Calibri"/>
              </a:defRPr>
            </a:pPr>
            <a:r>
              <a:t>•  TikTok: 'People you may know' using your contacts</a:t>
            </a:r>
          </a:p>
          <a:p>
            <a:pPr>
              <a:spcAft>
                <a:spcPts val="800"/>
              </a:spcAft>
              <a:defRPr sz="1300">
                <a:solidFill>
                  <a:srgbClr val="B8B8D0"/>
                </a:solidFill>
                <a:latin typeface="Calibri"/>
              </a:defRPr>
            </a:pPr>
            <a:r>
              <a:t>•  Snapchat: streaks that break if you miss a day</a:t>
            </a:r>
          </a:p>
          <a:p>
            <a:pPr>
              <a:spcAft>
                <a:spcPts val="800"/>
              </a:spcAft>
              <a:defRPr sz="1300">
                <a:solidFill>
                  <a:srgbClr val="B8B8D0"/>
                </a:solidFill>
                <a:latin typeface="Calibri"/>
              </a:defRPr>
            </a:pPr>
            <a:r>
              <a:t>•  Instagram: hiding like counts (added in 2019)</a:t>
            </a:r>
          </a:p>
          <a:p>
            <a:pPr>
              <a:spcAft>
                <a:spcPts val="800"/>
              </a:spcAft>
              <a:defRPr sz="1300">
                <a:solidFill>
                  <a:srgbClr val="B8B8D0"/>
                </a:solidFill>
                <a:latin typeface="Calibri"/>
              </a:defRPr>
            </a:pPr>
            <a:r>
              <a:t>•  BeReal: you only have 2 minutes once a day to post</a:t>
            </a:r>
          </a:p>
        </p:txBody>
      </p:sp>
      <p:pic>
        <p:nvPicPr>
          <p:cNvPr id="9" name="Picture 8" descr="logo.png"/>
          <p:cNvPicPr>
            <a:picLocks noChangeAspect="1"/>
          </p:cNvPicPr>
          <p:nvPr/>
        </p:nvPicPr>
        <p:blipFill>
          <a:blip r:embed="rId2"/>
          <a:stretch>
            <a:fillRect/>
          </a:stretch>
        </p:blipFill>
        <p:spPr>
          <a:xfrm>
            <a:off x="10515600" y="6355080"/>
            <a:ext cx="1180586" cy="274320"/>
          </a:xfrm>
          <a:prstGeom prst="rect">
            <a:avLst/>
          </a:prstGeom>
        </p:spPr>
      </p:pic>
      <p:sp>
        <p:nvSpPr>
          <p:cNvPr id="10" name="TextBox 9"/>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KEY IDEAS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Current Legal Debates</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011680"/>
          </a:xfrm>
          <a:prstGeom prst="rect">
            <a:avLst/>
          </a:prstGeom>
          <a:noFill/>
        </p:spPr>
        <p:txBody>
          <a:bodyPr wrap="square" lIns="0" rIns="0">
            <a:spAutoFit/>
          </a:bodyPr>
          <a:lstStyle/>
          <a:p>
            <a:pPr algn="l">
              <a:defRPr sz="1900" b="0">
                <a:solidFill>
                  <a:srgbClr val="FFFFFF"/>
                </a:solidFill>
                <a:latin typeface="Calibri"/>
              </a:defRPr>
            </a:pPr>
            <a:r>
              <a:t>Six live debates about young people's digital access appear on screen. For each, vote: FOR · AGAINST · UNSURE. Show results live. Where the room splits most is where your practice needs a position.</a:t>
            </a:r>
          </a:p>
        </p:txBody>
      </p:sp>
      <p:sp>
        <p:nvSpPr>
          <p:cNvPr id="7" name="TextBox 6"/>
          <p:cNvSpPr txBox="1"/>
          <p:nvPr/>
        </p:nvSpPr>
        <p:spPr>
          <a:xfrm>
            <a:off x="731520" y="4663440"/>
            <a:ext cx="10515600" cy="320040"/>
          </a:xfrm>
          <a:prstGeom prst="rect">
            <a:avLst/>
          </a:prstGeom>
          <a:noFill/>
        </p:spPr>
        <p:txBody>
          <a:bodyPr wrap="square" lIns="0" rIns="0">
            <a:spAutoFit/>
          </a:bodyPr>
          <a:lstStyle/>
          <a:p>
            <a:pPr algn="l">
              <a:defRPr sz="1100" b="1">
                <a:solidFill>
                  <a:srgbClr val="7B61FF"/>
                </a:solidFill>
                <a:latin typeface="Calibri"/>
              </a:defRPr>
            </a:pPr>
            <a:r>
              <a:t>PROMPTS</a:t>
            </a:r>
          </a:p>
        </p:txBody>
      </p:sp>
      <p:sp>
        <p:nvSpPr>
          <p:cNvPr id="8" name="TextBox 7"/>
          <p:cNvSpPr txBox="1"/>
          <p:nvPr/>
        </p:nvSpPr>
        <p:spPr>
          <a:xfrm>
            <a:off x="731520" y="49834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Australia's under-16 social media ban (in force since late 2025) — should the UK copy it?</a:t>
            </a:r>
          </a:p>
          <a:p>
            <a:pPr>
              <a:spcAft>
                <a:spcPts val="800"/>
              </a:spcAft>
              <a:defRPr sz="1300">
                <a:solidFill>
                  <a:srgbClr val="B8B8D0"/>
                </a:solidFill>
                <a:latin typeface="Calibri"/>
              </a:defRPr>
            </a:pPr>
            <a:r>
              <a:t>•  UK Online Safety Act age verification — should all adult content sites require ID to access?</a:t>
            </a:r>
          </a:p>
          <a:p>
            <a:pPr>
              <a:spcAft>
                <a:spcPts val="800"/>
              </a:spcAft>
              <a:defRPr sz="1300">
                <a:solidFill>
                  <a:srgbClr val="B8B8D0"/>
                </a:solidFill>
                <a:latin typeface="Calibri"/>
              </a:defRPr>
            </a:pPr>
            <a:r>
              <a:t>•  Smartphones banned in schools during the day — policy or personal choice?</a:t>
            </a:r>
          </a:p>
          <a:p>
            <a:pPr>
              <a:spcAft>
                <a:spcPts val="800"/>
              </a:spcAft>
              <a:defRPr sz="1300">
                <a:solidFill>
                  <a:srgbClr val="B8B8D0"/>
                </a:solidFill>
                <a:latin typeface="Calibri"/>
              </a:defRPr>
            </a:pPr>
            <a:r>
              <a:t>•  Mandatory algorithmic transparency — should platforms have to disclose what their feed is optimising for?</a:t>
            </a:r>
          </a:p>
          <a:p>
            <a:pPr>
              <a:spcAft>
                <a:spcPts val="800"/>
              </a:spcAft>
              <a:defRPr sz="1300">
                <a:solidFill>
                  <a:srgbClr val="B8B8D0"/>
                </a:solidFill>
                <a:latin typeface="Calibri"/>
              </a:defRPr>
            </a:pPr>
            <a:r>
              <a:t>•  A statutory duty of care on platforms for under-18 users (beyond current Online Safety Act)</a:t>
            </a:r>
          </a:p>
          <a:p>
            <a:pPr>
              <a:spcAft>
                <a:spcPts val="800"/>
              </a:spcAft>
              <a:defRPr sz="1300">
                <a:solidFill>
                  <a:srgbClr val="B8B8D0"/>
                </a:solidFill>
                <a:latin typeface="Calibri"/>
              </a:defRPr>
            </a:pPr>
            <a:r>
              <a:t>•  Raising the minimum age to hold a social media account from 13 to 16</a:t>
            </a:r>
          </a:p>
        </p:txBody>
      </p:sp>
      <p:pic>
        <p:nvPicPr>
          <p:cNvPr id="9" name="Picture 8" descr="logo.png"/>
          <p:cNvPicPr>
            <a:picLocks noChangeAspect="1"/>
          </p:cNvPicPr>
          <p:nvPr/>
        </p:nvPicPr>
        <p:blipFill>
          <a:blip r:embed="rId2"/>
          <a:stretch>
            <a:fillRect/>
          </a:stretch>
        </p:blipFill>
        <p:spPr>
          <a:xfrm>
            <a:off x="10515600" y="6355080"/>
            <a:ext cx="1180586" cy="274320"/>
          </a:xfrm>
          <a:prstGeom prst="rect">
            <a:avLst/>
          </a:prstGeom>
        </p:spPr>
      </p:pic>
      <p:sp>
        <p:nvSpPr>
          <p:cNvPr id="10" name="TextBox 9"/>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KEY IDEAS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What Practice Follows?</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For each legal debate the room voted FOR, groups write on the whiteboard: 'If this law passed, what would change in MY practice?' For each they voted AGAINST: 'What does my practice have to do INSTEAD?' The law is coming either way — your practice needs a position.</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KEY IDEAS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Access Is Not Neutral</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Groups of 3. 90 seconds: name one group of young people for whom 'restricting access' and 'protecting them' are the same thing. Name another group for whom those two things are opposites. The same law affects both groups — differently.</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KEY IDEAS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FFB800"/>
                </a:solidFill>
                <a:latin typeface="Calibri"/>
              </a:defRPr>
            </a:pPr>
            <a:r>
              <a:t>DISCUSSION</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95 – 150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Discussion</a:t>
            </a:r>
          </a:p>
        </p:txBody>
      </p:sp>
      <p:sp>
        <p:nvSpPr>
          <p:cNvPr id="6" name="TextBox 5"/>
          <p:cNvSpPr txBox="1"/>
          <p:nvPr/>
        </p:nvSpPr>
        <p:spPr>
          <a:xfrm>
            <a:off x="731520" y="2926080"/>
            <a:ext cx="10515600" cy="457200"/>
          </a:xfrm>
          <a:prstGeom prst="rect">
            <a:avLst/>
          </a:prstGeom>
          <a:noFill/>
        </p:spPr>
        <p:txBody>
          <a:bodyPr wrap="square" lIns="0" rIns="0">
            <a:spAutoFit/>
          </a:bodyPr>
          <a:lstStyle/>
          <a:p>
            <a:pPr algn="l">
              <a:defRPr sz="1400" b="0">
                <a:solidFill>
                  <a:srgbClr val="B8B8D0"/>
                </a:solidFill>
                <a:latin typeface="Calibri"/>
              </a:defRPr>
            </a:pPr>
            <a:r>
              <a:t>5 activities in this block:</a:t>
            </a:r>
          </a:p>
        </p:txBody>
      </p:sp>
      <p:sp>
        <p:nvSpPr>
          <p:cNvPr id="7" name="TextBox 6"/>
          <p:cNvSpPr txBox="1"/>
          <p:nvPr/>
        </p:nvSpPr>
        <p:spPr>
          <a:xfrm>
            <a:off x="731520" y="3383280"/>
            <a:ext cx="10515600" cy="3017520"/>
          </a:xfrm>
          <a:prstGeom prst="rect">
            <a:avLst/>
          </a:prstGeom>
          <a:noFill/>
        </p:spPr>
        <p:txBody>
          <a:bodyPr wrap="square" lIns="0">
            <a:spAutoFit/>
          </a:bodyPr>
          <a:lstStyle/>
          <a:p>
            <a:pPr>
              <a:spcAft>
                <a:spcPts val="800"/>
              </a:spcAft>
              <a:defRPr sz="1600">
                <a:solidFill>
                  <a:srgbClr val="FFFFFF"/>
                </a:solidFill>
                <a:latin typeface="Calibri"/>
              </a:defRPr>
            </a:pPr>
            <a:r>
              <a:t>→  Platform Comparison</a:t>
            </a:r>
          </a:p>
          <a:p>
            <a:pPr>
              <a:spcAft>
                <a:spcPts val="800"/>
              </a:spcAft>
              <a:defRPr sz="1600">
                <a:solidFill>
                  <a:srgbClr val="FFFFFF"/>
                </a:solidFill>
                <a:latin typeface="Calibri"/>
              </a:defRPr>
            </a:pPr>
            <a:r>
              <a:t>→  Red Line Ranking</a:t>
            </a:r>
          </a:p>
          <a:p>
            <a:pPr>
              <a:spcAft>
                <a:spcPts val="800"/>
              </a:spcAft>
              <a:defRPr sz="1600">
                <a:solidFill>
                  <a:srgbClr val="FFFFFF"/>
                </a:solidFill>
                <a:latin typeface="Calibri"/>
              </a:defRPr>
            </a:pPr>
            <a:r>
              <a:t>→  The Ban Debate Fishbowl</a:t>
            </a:r>
          </a:p>
          <a:p>
            <a:pPr>
              <a:spcAft>
                <a:spcPts val="800"/>
              </a:spcAft>
              <a:defRPr sz="1600">
                <a:solidFill>
                  <a:srgbClr val="FFFFFF"/>
                </a:solidFill>
                <a:latin typeface="Calibri"/>
              </a:defRPr>
            </a:pPr>
            <a:r>
              <a:t>→  What Would You Legislate?</a:t>
            </a:r>
          </a:p>
          <a:p>
            <a:pPr>
              <a:spcAft>
                <a:spcPts val="800"/>
              </a:spcAft>
              <a:defRPr sz="1600">
                <a:solidFill>
                  <a:srgbClr val="FFFFFF"/>
                </a:solidFill>
                <a:latin typeface="Calibri"/>
              </a:defRPr>
            </a:pPr>
            <a:r>
              <a:t>→  Practice Under the Current Law</a:t>
            </a:r>
          </a:p>
        </p:txBody>
      </p:sp>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4 of 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Platform Comparison</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In groups of 3, pick two platforms your young people use. For each platform, identify 3 engagement mechanics, decide if each is motivation or manipulation, and name who benefits. Present to the room in 90 seconds flat. No slides, no prep beyond the thinking.</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DISCUSSION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Red Line Ranking</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011680"/>
          </a:xfrm>
          <a:prstGeom prst="rect">
            <a:avLst/>
          </a:prstGeom>
          <a:noFill/>
        </p:spPr>
        <p:txBody>
          <a:bodyPr wrap="square" lIns="0" rIns="0">
            <a:spAutoFit/>
          </a:bodyPr>
          <a:lstStyle/>
          <a:p>
            <a:pPr algn="l">
              <a:defRPr sz="1900" b="0">
                <a:solidFill>
                  <a:srgbClr val="FFFFFF"/>
                </a:solidFill>
                <a:latin typeface="Calibri"/>
              </a:defRPr>
            </a:pPr>
            <a:r>
              <a:t>Ten mechanics appear on screen. Everyone votes on each: 'Would use', 'Would never use', 'Depends on context'. Show results live. The 'depends' votes are the most honest and the most useful — drill into them.</a:t>
            </a:r>
          </a:p>
        </p:txBody>
      </p:sp>
      <p:sp>
        <p:nvSpPr>
          <p:cNvPr id="7" name="TextBox 6"/>
          <p:cNvSpPr txBox="1"/>
          <p:nvPr/>
        </p:nvSpPr>
        <p:spPr>
          <a:xfrm>
            <a:off x="731520" y="4663440"/>
            <a:ext cx="10515600" cy="320040"/>
          </a:xfrm>
          <a:prstGeom prst="rect">
            <a:avLst/>
          </a:prstGeom>
          <a:noFill/>
        </p:spPr>
        <p:txBody>
          <a:bodyPr wrap="square" lIns="0" rIns="0">
            <a:spAutoFit/>
          </a:bodyPr>
          <a:lstStyle/>
          <a:p>
            <a:pPr algn="l">
              <a:defRPr sz="1100" b="1">
                <a:solidFill>
                  <a:srgbClr val="FFB800"/>
                </a:solidFill>
                <a:latin typeface="Calibri"/>
              </a:defRPr>
            </a:pPr>
            <a:r>
              <a:t>PROMPTS</a:t>
            </a:r>
          </a:p>
        </p:txBody>
      </p:sp>
      <p:sp>
        <p:nvSpPr>
          <p:cNvPr id="8" name="TextBox 7"/>
          <p:cNvSpPr txBox="1"/>
          <p:nvPr/>
        </p:nvSpPr>
        <p:spPr>
          <a:xfrm>
            <a:off x="731520" y="49834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Leaderboards with real names</a:t>
            </a:r>
          </a:p>
          <a:p>
            <a:pPr>
              <a:spcAft>
                <a:spcPts val="800"/>
              </a:spcAft>
              <a:defRPr sz="1300">
                <a:solidFill>
                  <a:srgbClr val="B8B8D0"/>
                </a:solidFill>
                <a:latin typeface="Calibri"/>
              </a:defRPr>
            </a:pPr>
            <a:r>
              <a:t>•  Streaks that break if you miss a day</a:t>
            </a:r>
          </a:p>
          <a:p>
            <a:pPr>
              <a:spcAft>
                <a:spcPts val="800"/>
              </a:spcAft>
              <a:defRPr sz="1300">
                <a:solidFill>
                  <a:srgbClr val="B8B8D0"/>
                </a:solidFill>
                <a:latin typeface="Calibri"/>
              </a:defRPr>
            </a:pPr>
            <a:r>
              <a:t>•  Badges for completion</a:t>
            </a:r>
          </a:p>
          <a:p>
            <a:pPr>
              <a:spcAft>
                <a:spcPts val="800"/>
              </a:spcAft>
              <a:defRPr sz="1300">
                <a:solidFill>
                  <a:srgbClr val="B8B8D0"/>
                </a:solidFill>
                <a:latin typeface="Calibri"/>
              </a:defRPr>
            </a:pPr>
            <a:r>
              <a:t>•  Anonymous reactions</a:t>
            </a:r>
          </a:p>
          <a:p>
            <a:pPr>
              <a:spcAft>
                <a:spcPts val="800"/>
              </a:spcAft>
              <a:defRPr sz="1300">
                <a:solidFill>
                  <a:srgbClr val="B8B8D0"/>
                </a:solidFill>
                <a:latin typeface="Calibri"/>
              </a:defRPr>
            </a:pPr>
            <a:r>
              <a:t>•  Public like/heart counts</a:t>
            </a:r>
          </a:p>
          <a:p>
            <a:pPr>
              <a:spcAft>
                <a:spcPts val="800"/>
              </a:spcAft>
              <a:defRPr sz="1300">
                <a:solidFill>
                  <a:srgbClr val="B8B8D0"/>
                </a:solidFill>
                <a:latin typeface="Calibri"/>
              </a:defRPr>
            </a:pPr>
            <a:r>
              <a:t>•  Time-pressure countdowns</a:t>
            </a:r>
          </a:p>
          <a:p>
            <a:pPr>
              <a:spcAft>
                <a:spcPts val="800"/>
              </a:spcAft>
              <a:defRPr sz="1300">
                <a:solidFill>
                  <a:srgbClr val="B8B8D0"/>
                </a:solidFill>
                <a:latin typeface="Calibri"/>
              </a:defRPr>
            </a:pPr>
            <a:r>
              <a:t>•  Peer voting on submissions</a:t>
            </a:r>
          </a:p>
          <a:p>
            <a:pPr>
              <a:spcAft>
                <a:spcPts val="800"/>
              </a:spcAft>
              <a:defRPr sz="1300">
                <a:solidFill>
                  <a:srgbClr val="B8B8D0"/>
                </a:solidFill>
                <a:latin typeface="Calibri"/>
              </a:defRPr>
            </a:pPr>
            <a:r>
              <a:t>•  Push notifications outside of session hours</a:t>
            </a:r>
          </a:p>
          <a:p>
            <a:pPr>
              <a:spcAft>
                <a:spcPts val="800"/>
              </a:spcAft>
              <a:defRPr sz="1300">
                <a:solidFill>
                  <a:srgbClr val="B8B8D0"/>
                </a:solidFill>
                <a:latin typeface="Calibri"/>
              </a:defRPr>
            </a:pPr>
            <a:r>
              <a:t>•  Requiring real names</a:t>
            </a:r>
          </a:p>
          <a:p>
            <a:pPr>
              <a:spcAft>
                <a:spcPts val="800"/>
              </a:spcAft>
              <a:defRPr sz="1300">
                <a:solidFill>
                  <a:srgbClr val="B8B8D0"/>
                </a:solidFill>
                <a:latin typeface="Calibri"/>
              </a:defRPr>
            </a:pPr>
            <a:r>
              <a:t>•  Showing session time spent</a:t>
            </a:r>
          </a:p>
        </p:txBody>
      </p:sp>
      <p:pic>
        <p:nvPicPr>
          <p:cNvPr id="9" name="Picture 8" descr="logo.png"/>
          <p:cNvPicPr>
            <a:picLocks noChangeAspect="1"/>
          </p:cNvPicPr>
          <p:nvPr/>
        </p:nvPicPr>
        <p:blipFill>
          <a:blip r:embed="rId2"/>
          <a:stretch>
            <a:fillRect/>
          </a:stretch>
        </p:blipFill>
        <p:spPr>
          <a:xfrm>
            <a:off x="10515600" y="6355080"/>
            <a:ext cx="1180586" cy="274320"/>
          </a:xfrm>
          <a:prstGeom prst="rect">
            <a:avLst/>
          </a:prstGeom>
        </p:spPr>
      </p:pic>
      <p:sp>
        <p:nvSpPr>
          <p:cNvPr id="10" name="TextBox 9"/>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DISCUSSION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Ban Debate Fishbowl</a:t>
            </a:r>
          </a:p>
        </p:txBody>
      </p:sp>
      <p:sp>
        <p:nvSpPr>
          <p:cNvPr id="5" name="TextBox 4"/>
          <p:cNvSpPr txBox="1"/>
          <p:nvPr/>
        </p:nvSpPr>
        <p:spPr>
          <a:xfrm>
            <a:off x="731520" y="2103120"/>
            <a:ext cx="10515600" cy="2011680"/>
          </a:xfrm>
          <a:prstGeom prst="rect">
            <a:avLst/>
          </a:prstGeom>
          <a:noFill/>
        </p:spPr>
        <p:txBody>
          <a:bodyPr wrap="square" lIns="0" rIns="0">
            <a:spAutoFit/>
          </a:bodyPr>
          <a:lstStyle/>
          <a:p>
            <a:pPr algn="l">
              <a:defRPr sz="1900" b="0">
                <a:solidFill>
                  <a:srgbClr val="FFFFFF"/>
                </a:solidFill>
                <a:latin typeface="Calibri"/>
              </a:defRPr>
            </a:pPr>
            <a:r>
              <a:t>4 chairs in the middle of the room. Volunteers sit and discuss. Anyone can tap a shoulder to swap in. Everyone else listens in silence. Use the primers to get going — pick whichever hits hardest, or move through them as the conversation opens up.</a:t>
            </a:r>
          </a:p>
        </p:txBody>
      </p:sp>
      <p:sp>
        <p:nvSpPr>
          <p:cNvPr id="6" name="TextBox 5"/>
          <p:cNvSpPr txBox="1"/>
          <p:nvPr/>
        </p:nvSpPr>
        <p:spPr>
          <a:xfrm>
            <a:off x="731520" y="4206240"/>
            <a:ext cx="10515600" cy="320040"/>
          </a:xfrm>
          <a:prstGeom prst="rect">
            <a:avLst/>
          </a:prstGeom>
          <a:noFill/>
        </p:spPr>
        <p:txBody>
          <a:bodyPr wrap="square" lIns="0" rIns="0">
            <a:spAutoFit/>
          </a:bodyPr>
          <a:lstStyle/>
          <a:p>
            <a:pPr algn="l">
              <a:defRPr sz="1100" b="1">
                <a:solidFill>
                  <a:srgbClr val="FFB800"/>
                </a:solidFill>
                <a:latin typeface="Calibri"/>
              </a:defRPr>
            </a:pPr>
            <a:r>
              <a:t>PROMPTS</a:t>
            </a:r>
          </a:p>
        </p:txBody>
      </p:sp>
      <p:sp>
        <p:nvSpPr>
          <p:cNvPr id="7" name="TextBox 6"/>
          <p:cNvSpPr txBox="1"/>
          <p:nvPr/>
        </p:nvSpPr>
        <p:spPr>
          <a:xfrm>
            <a:off x="731520" y="45262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Should the UK copy Australia's under-16 social media ban? What do young people gain? What do they lose?</a:t>
            </a:r>
          </a:p>
          <a:p>
            <a:pPr>
              <a:spcAft>
                <a:spcPts val="800"/>
              </a:spcAft>
              <a:defRPr sz="1300">
                <a:solidFill>
                  <a:srgbClr val="B8B8D0"/>
                </a:solidFill>
                <a:latin typeface="Calibri"/>
              </a:defRPr>
            </a:pPr>
            <a:r>
              <a:t>•  If under-16s are legally banned from social media, what happens to LGBTQ+ young people finding community online? Care-experienced young people? Young carers?</a:t>
            </a:r>
          </a:p>
          <a:p>
            <a:pPr>
              <a:spcAft>
                <a:spcPts val="800"/>
              </a:spcAft>
              <a:defRPr sz="1300">
                <a:solidFill>
                  <a:srgbClr val="B8B8D0"/>
                </a:solidFill>
                <a:latin typeface="Calibri"/>
              </a:defRPr>
            </a:pPr>
            <a:r>
              <a:t>•  Are we legislating because we can't parent, or because platforms won't change?</a:t>
            </a:r>
          </a:p>
          <a:p>
            <a:pPr>
              <a:spcAft>
                <a:spcPts val="800"/>
              </a:spcAft>
              <a:defRPr sz="1300">
                <a:solidFill>
                  <a:srgbClr val="B8B8D0"/>
                </a:solidFill>
                <a:latin typeface="Calibri"/>
              </a:defRPr>
            </a:pPr>
            <a:r>
              <a:t>•  Whose responsibility is it when a platform harms a young person — the platform, the parent, the school, the youth worker, or the law?</a:t>
            </a:r>
          </a:p>
          <a:p>
            <a:pPr>
              <a:spcAft>
                <a:spcPts val="800"/>
              </a:spcAft>
              <a:defRPr sz="1300">
                <a:solidFill>
                  <a:srgbClr val="B8B8D0"/>
                </a:solidFill>
                <a:latin typeface="Calibri"/>
              </a:defRPr>
            </a:pPr>
            <a:r>
              <a:t>•  Would you support a ban even if you knew some young people would lose their safest space?</a:t>
            </a:r>
          </a:p>
          <a:p>
            <a:pPr>
              <a:spcAft>
                <a:spcPts val="800"/>
              </a:spcAft>
              <a:defRPr sz="1300">
                <a:solidFill>
                  <a:srgbClr val="B8B8D0"/>
                </a:solidFill>
                <a:latin typeface="Calibri"/>
              </a:defRPr>
            </a:pPr>
            <a:r>
              <a:t>•  If age verification becomes mandatory, where does the data go — and do you trust that chain?</a:t>
            </a:r>
          </a:p>
        </p:txBody>
      </p:sp>
      <p:pic>
        <p:nvPicPr>
          <p:cNvPr id="8" name="Picture 7" descr="logo.png"/>
          <p:cNvPicPr>
            <a:picLocks noChangeAspect="1"/>
          </p:cNvPicPr>
          <p:nvPr/>
        </p:nvPicPr>
        <p:blipFill>
          <a:blip r:embed="rId2"/>
          <a:stretch>
            <a:fillRect/>
          </a:stretch>
        </p:blipFill>
        <p:spPr>
          <a:xfrm>
            <a:off x="10515600" y="6355080"/>
            <a:ext cx="1180586" cy="274320"/>
          </a:xfrm>
          <a:prstGeom prst="rect">
            <a:avLst/>
          </a:prstGeom>
        </p:spPr>
      </p:pic>
      <p:sp>
        <p:nvSpPr>
          <p:cNvPr id="9" name="TextBox 8"/>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DISCUSSION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What Would You Legislate?</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Padlet</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In pairs: draft ONE law you would actually pass about young people and social media. One sentence. Post to the shared Padlet. Walk the wall as a group. Which laws would actually help? Which would backfire?</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DISCUSSION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Practice Under the Current Law</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Groups of 3: pick ONE piece of current UK law that affects your digital practice (Online Safety Act · Data Protection Act · safeguarding legislation · your org's trustee-level policy). What does it actually require of you this week? What does it NOT require that you still have to handle? Share back one gap.</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DISCUSSION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00E676"/>
                </a:solidFill>
                <a:latin typeface="Calibri"/>
              </a:defRPr>
            </a:pPr>
            <a:r>
              <a:t>CLOSING</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150 – 180 min</a:t>
            </a:r>
          </a:p>
        </p:txBody>
      </p:sp>
      <p:sp>
        <p:nvSpPr>
          <p:cNvPr id="5" name="TextBox 4"/>
          <p:cNvSpPr txBox="1"/>
          <p:nvPr/>
        </p:nvSpPr>
        <p:spPr>
          <a:xfrm>
            <a:off x="731520" y="1828800"/>
            <a:ext cx="10515600" cy="2286000"/>
          </a:xfrm>
          <a:prstGeom prst="rect">
            <a:avLst/>
          </a:prstGeom>
          <a:noFill/>
        </p:spPr>
        <p:txBody>
          <a:bodyPr wrap="square" lIns="0" rIns="0">
            <a:spAutoFit/>
          </a:bodyPr>
          <a:lstStyle/>
          <a:p>
            <a:pPr algn="l">
              <a:defRPr sz="3800" b="1">
                <a:solidFill>
                  <a:srgbClr val="FFFFFF"/>
                </a:solidFill>
                <a:latin typeface="Calibri"/>
              </a:defRPr>
            </a:pPr>
            <a:r>
              <a:t>"Which mechanics would you never use with young people — and why?"</a:t>
            </a:r>
          </a:p>
        </p:txBody>
      </p:sp>
      <p:sp>
        <p:nvSpPr>
          <p:cNvPr id="6" name="TextBox 5"/>
          <p:cNvSpPr txBox="1"/>
          <p:nvPr/>
        </p:nvSpPr>
        <p:spPr>
          <a:xfrm>
            <a:off x="731520" y="4389120"/>
            <a:ext cx="10515600" cy="1828800"/>
          </a:xfrm>
          <a:prstGeom prst="rect">
            <a:avLst/>
          </a:prstGeom>
          <a:noFill/>
        </p:spPr>
        <p:txBody>
          <a:bodyPr wrap="square" lIns="0" rIns="0">
            <a:spAutoFit/>
          </a:bodyPr>
          <a:lstStyle/>
          <a:p>
            <a:pPr algn="l">
              <a:defRPr sz="1700" b="0">
                <a:solidFill>
                  <a:srgbClr val="B8B8D0"/>
                </a:solidFill>
                <a:latin typeface="Calibri"/>
              </a:defRPr>
            </a:pPr>
            <a:r>
              <a:t>This isn't about banning tools or ignoring the law. It's about knowing what a mechanic is designed to do, noticing when the law catches up, and deciding whether your practice serves young people or the platform.</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4 of 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My Red Line</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On a sticky: 'I would never use ___ with young people because ___.' One sentence. Read it aloud when you stick it on the wall. No discussion — just a room full of red lines next to each other.</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CLOSING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One Mechanic I'll Change</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Open your phone's reminders or calendar. Set a reminder for next Monday: 'Audit [one tool I use] and remove / adjust [one specific mechanic].' Share it with your neighbour — they're your check-in.</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CLOSING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Practice Statement</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Complete the sentence in Menti: 'In my practice, regardless of what platform I use, I will always ___.' Submit live. Read a few aloud. Screenshot the wall.</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CLOSING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Exit Ticket</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Sticky on the door frame as you leave: one word for where you stand on the access debate right now (Ban · Restrict · Protect · Educate · Trust). Read them back at the start of Session 5.</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4  ·  CLOSING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74320" cy="2286000"/>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274320" cy="2286000"/>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274320" cy="228600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5486400" cy="365760"/>
          </a:xfrm>
          <a:prstGeom prst="rect">
            <a:avLst/>
          </a:prstGeom>
          <a:noFill/>
        </p:spPr>
        <p:txBody>
          <a:bodyPr wrap="square" lIns="0" rIns="0">
            <a:spAutoFit/>
          </a:bodyPr>
          <a:lstStyle/>
          <a:p>
            <a:pPr algn="l">
              <a:defRPr sz="1300" b="1">
                <a:solidFill>
                  <a:srgbClr val="00D4DB"/>
                </a:solidFill>
                <a:latin typeface="Calibri"/>
              </a:defRPr>
            </a:pPr>
            <a:r>
              <a:t>YOUR TAKEAWAY</a:t>
            </a:r>
          </a:p>
        </p:txBody>
      </p:sp>
      <p:sp>
        <p:nvSpPr>
          <p:cNvPr id="6" name="TextBox 5"/>
          <p:cNvSpPr txBox="1"/>
          <p:nvPr/>
        </p:nvSpPr>
        <p:spPr>
          <a:xfrm>
            <a:off x="822960" y="2194560"/>
            <a:ext cx="10515600" cy="2743200"/>
          </a:xfrm>
          <a:prstGeom prst="rect">
            <a:avLst/>
          </a:prstGeom>
          <a:noFill/>
        </p:spPr>
        <p:txBody>
          <a:bodyPr wrap="square" lIns="0" rIns="0">
            <a:spAutoFit/>
          </a:bodyPr>
          <a:lstStyle/>
          <a:p>
            <a:pPr algn="l">
              <a:defRPr sz="3000" b="1">
                <a:solidFill>
                  <a:srgbClr val="FFFFFF"/>
                </a:solidFill>
                <a:latin typeface="Calibri"/>
              </a:defRPr>
            </a:pPr>
            <a:r>
              <a:t>Audit one digital tool you use with young people. List every engagement mechanic. Decide which serve the user and which serve the platform. Change or remove ONE this week.</a:t>
            </a:r>
          </a:p>
        </p:txBody>
      </p:sp>
      <p:sp>
        <p:nvSpPr>
          <p:cNvPr id="7" name="TextBox 6"/>
          <p:cNvSpPr txBox="1"/>
          <p:nvPr/>
        </p:nvSpPr>
        <p:spPr>
          <a:xfrm>
            <a:off x="822960" y="5486400"/>
            <a:ext cx="10058400" cy="457200"/>
          </a:xfrm>
          <a:prstGeom prst="rect">
            <a:avLst/>
          </a:prstGeom>
          <a:noFill/>
        </p:spPr>
        <p:txBody>
          <a:bodyPr wrap="square" lIns="0" rIns="0">
            <a:spAutoFit/>
          </a:bodyPr>
          <a:lstStyle/>
          <a:p>
            <a:pPr algn="l">
              <a:defRPr sz="1500" b="1">
                <a:solidFill>
                  <a:srgbClr val="E91E8C"/>
                </a:solidFill>
                <a:latin typeface="Calibri"/>
              </a:defRPr>
            </a:pPr>
            <a:r>
              <a:t>Next: Session 5 — Where Are Young People Online?</a:t>
            </a:r>
          </a:p>
        </p:txBody>
      </p:sp>
      <p:pic>
        <p:nvPicPr>
          <p:cNvPr id="8" name="Picture 7" descr="mascot.png"/>
          <p:cNvPicPr>
            <a:picLocks noChangeAspect="1"/>
          </p:cNvPicPr>
          <p:nvPr/>
        </p:nvPicPr>
        <p:blipFill>
          <a:blip r:embed="rId2"/>
          <a:stretch>
            <a:fillRect/>
          </a:stretch>
        </p:blipFill>
        <p:spPr>
          <a:xfrm>
            <a:off x="9601200" y="4114800"/>
            <a:ext cx="1335417" cy="1645920"/>
          </a:xfrm>
          <a:prstGeom prst="rect">
            <a:avLst/>
          </a:prstGeom>
        </p:spPr>
      </p:pic>
      <p:sp>
        <p:nvSpPr>
          <p:cNvPr id="9" name="TextBox 8"/>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4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