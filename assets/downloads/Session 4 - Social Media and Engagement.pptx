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731520" y="457200"/>
            <a:ext cx="5486400" cy="548640"/>
          </a:xfrm>
          <a:prstGeom prst="rect">
            <a:avLst/>
          </a:prstGeom>
          <a:noFill/>
        </p:spPr>
        <p:txBody>
          <a:bodyPr wrap="square">
            <a:spAutoFit/>
          </a:bodyPr>
          <a:lstStyle/>
          <a:p>
            <a:pPr algn="l">
              <a:defRPr sz="1400" b="0">
                <a:solidFill>
                  <a:srgbClr val="AAAAAA"/>
                </a:solidFill>
              </a:defRPr>
            </a:pPr>
            <a:r>
              <a:t>Session 4 of 6</a:t>
            </a:r>
          </a:p>
        </p:txBody>
      </p:sp>
      <p:sp>
        <p:nvSpPr>
          <p:cNvPr id="3" name="TextBox 2"/>
          <p:cNvSpPr txBox="1"/>
          <p:nvPr/>
        </p:nvSpPr>
        <p:spPr>
          <a:xfrm>
            <a:off x="731520" y="1371600"/>
            <a:ext cx="10058400" cy="1828800"/>
          </a:xfrm>
          <a:prstGeom prst="rect">
            <a:avLst/>
          </a:prstGeom>
          <a:noFill/>
        </p:spPr>
        <p:txBody>
          <a:bodyPr wrap="square">
            <a:spAutoFit/>
          </a:bodyPr>
          <a:lstStyle/>
          <a:p>
            <a:pPr algn="l">
              <a:defRPr sz="4400" b="1">
                <a:solidFill>
                  <a:srgbClr val="FFFFFF"/>
                </a:solidFill>
              </a:defRPr>
            </a:pPr>
            <a:r>
              <a:t>Social Media and Engagement</a:t>
            </a:r>
          </a:p>
        </p:txBody>
      </p:sp>
      <p:sp>
        <p:nvSpPr>
          <p:cNvPr id="4" name="TextBox 3"/>
          <p:cNvSpPr txBox="1"/>
          <p:nvPr/>
        </p:nvSpPr>
        <p:spPr>
          <a:xfrm>
            <a:off x="731520" y="3657600"/>
            <a:ext cx="9144000" cy="914400"/>
          </a:xfrm>
          <a:prstGeom prst="rect">
            <a:avLst/>
          </a:prstGeom>
          <a:noFill/>
        </p:spPr>
        <p:txBody>
          <a:bodyPr wrap="square">
            <a:spAutoFit/>
          </a:bodyPr>
          <a:lstStyle/>
          <a:p>
            <a:pPr algn="l">
              <a:defRPr sz="2000" b="0">
                <a:solidFill>
                  <a:srgbClr val="4EA8E6"/>
                </a:solidFill>
              </a:defRPr>
            </a:pPr>
            <a:r>
              <a:t>Digital Youth Work CPD Programme</a:t>
            </a:r>
          </a:p>
        </p:txBody>
      </p:sp>
      <p:sp>
        <p:nvSpPr>
          <p:cNvPr id="5" name="TextBox 4"/>
          <p:cNvSpPr txBox="1"/>
          <p:nvPr/>
        </p:nvSpPr>
        <p:spPr>
          <a:xfrm>
            <a:off x="731520" y="5669280"/>
            <a:ext cx="5486400" cy="457200"/>
          </a:xfrm>
          <a:prstGeom prst="rect">
            <a:avLst/>
          </a:prstGeom>
          <a:noFill/>
        </p:spPr>
        <p:txBody>
          <a:bodyPr wrap="square">
            <a:spAutoFit/>
          </a:bodyPr>
          <a:lstStyle/>
          <a:p>
            <a:pPr algn="l">
              <a:defRPr sz="1400" b="0">
                <a:solidFill>
                  <a:srgbClr val="AAAAAA"/>
                </a:solidFill>
              </a:defRPr>
            </a:pPr>
            <a:r>
              <a:t>Robocode x LIA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731520" y="457200"/>
            <a:ext cx="3657600" cy="457200"/>
          </a:xfrm>
          <a:prstGeom prst="rect">
            <a:avLst/>
          </a:prstGeom>
          <a:noFill/>
        </p:spPr>
        <p:txBody>
          <a:bodyPr wrap="square">
            <a:spAutoFit/>
          </a:bodyPr>
          <a:lstStyle/>
          <a:p>
            <a:pPr algn="l">
              <a:defRPr sz="1400" b="1">
                <a:solidFill>
                  <a:srgbClr val="4EA8E6"/>
                </a:solidFill>
              </a:defRPr>
            </a:pPr>
            <a:r>
              <a:t>DISCOVER</a:t>
            </a:r>
          </a:p>
        </p:txBody>
      </p:sp>
      <p:sp>
        <p:nvSpPr>
          <p:cNvPr id="3" name="TextBox 2"/>
          <p:cNvSpPr txBox="1"/>
          <p:nvPr/>
        </p:nvSpPr>
        <p:spPr>
          <a:xfrm>
            <a:off x="731520" y="731520"/>
            <a:ext cx="3657600" cy="365760"/>
          </a:xfrm>
          <a:prstGeom prst="rect">
            <a:avLst/>
          </a:prstGeom>
          <a:noFill/>
        </p:spPr>
        <p:txBody>
          <a:bodyPr wrap="square">
            <a:spAutoFit/>
          </a:bodyPr>
          <a:lstStyle/>
          <a:p>
            <a:pPr algn="l">
              <a:defRPr sz="1200" b="0">
                <a:solidFill>
                  <a:srgbClr val="AAAAAA"/>
                </a:solidFill>
              </a:defRPr>
            </a:pPr>
            <a:r>
              <a:t>0 – 15 min</a:t>
            </a:r>
          </a:p>
        </p:txBody>
      </p:sp>
      <p:sp>
        <p:nvSpPr>
          <p:cNvPr id="4" name="TextBox 3"/>
          <p:cNvSpPr txBox="1"/>
          <p:nvPr/>
        </p:nvSpPr>
        <p:spPr>
          <a:xfrm>
            <a:off x="731520" y="1645920"/>
            <a:ext cx="10058400" cy="1828800"/>
          </a:xfrm>
          <a:prstGeom prst="rect">
            <a:avLst/>
          </a:prstGeom>
          <a:noFill/>
        </p:spPr>
        <p:txBody>
          <a:bodyPr wrap="square">
            <a:spAutoFit/>
          </a:bodyPr>
          <a:lstStyle/>
          <a:p>
            <a:pPr algn="l">
              <a:defRPr sz="3400" b="1">
                <a:solidFill>
                  <a:srgbClr val="FFFFFF"/>
                </a:solidFill>
              </a:defRPr>
            </a:pPr>
            <a:r>
              <a:t>"How much time online is enough?"</a:t>
            </a:r>
          </a:p>
        </p:txBody>
      </p:sp>
      <p:sp>
        <p:nvSpPr>
          <p:cNvPr id="5" name="TextBox 4"/>
          <p:cNvSpPr txBox="1"/>
          <p:nvPr/>
        </p:nvSpPr>
        <p:spPr>
          <a:xfrm>
            <a:off x="731520" y="3840480"/>
            <a:ext cx="9144000" cy="1828800"/>
          </a:xfrm>
          <a:prstGeom prst="rect">
            <a:avLst/>
          </a:prstGeom>
          <a:noFill/>
        </p:spPr>
        <p:txBody>
          <a:bodyPr wrap="square">
            <a:spAutoFit/>
          </a:bodyPr>
          <a:lstStyle/>
          <a:p>
            <a:pPr algn="l">
              <a:defRPr sz="1700" b="0">
                <a:solidFill>
                  <a:srgbClr val="AAAAAA"/>
                </a:solidFill>
              </a:defRPr>
            </a:pPr>
            <a:r>
              <a:t>Everyone has an answer — and almost everyone frames it as how much. But the real issue isn't how long young people are online. It's what the platform is designed to make them do while they're there.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731520" y="457200"/>
            <a:ext cx="7315200" cy="457200"/>
          </a:xfrm>
          <a:prstGeom prst="rect">
            <a:avLst/>
          </a:prstGeom>
          <a:noFill/>
        </p:spPr>
        <p:txBody>
          <a:bodyPr wrap="square">
            <a:spAutoFit/>
          </a:bodyPr>
          <a:lstStyle/>
          <a:p>
            <a:pPr algn="l">
              <a:defRPr sz="1200" b="1">
                <a:solidFill>
                  <a:srgbClr val="4EA8E6"/>
                </a:solidFill>
              </a:defRPr>
            </a:pPr>
            <a:r>
              <a:t>DISCOVER  •  5 min</a:t>
            </a:r>
          </a:p>
        </p:txBody>
      </p:sp>
      <p:sp>
        <p:nvSpPr>
          <p:cNvPr id="3" name="TextBox 2"/>
          <p:cNvSpPr txBox="1"/>
          <p:nvPr/>
        </p:nvSpPr>
        <p:spPr>
          <a:xfrm>
            <a:off x="731520" y="1005840"/>
            <a:ext cx="10058400" cy="914400"/>
          </a:xfrm>
          <a:prstGeom prst="rect">
            <a:avLst/>
          </a:prstGeom>
          <a:noFill/>
        </p:spPr>
        <p:txBody>
          <a:bodyPr wrap="square">
            <a:spAutoFit/>
          </a:bodyPr>
          <a:lstStyle/>
          <a:p>
            <a:pPr algn="l">
              <a:defRPr sz="3000" b="1">
                <a:solidFill>
                  <a:srgbClr val="FFFFFF"/>
                </a:solidFill>
              </a:defRPr>
            </a:pPr>
            <a:r>
              <a:t>Anonymous Number</a:t>
            </a:r>
          </a:p>
        </p:txBody>
      </p:sp>
      <p:sp>
        <p:nvSpPr>
          <p:cNvPr id="4" name="TextBox 3"/>
          <p:cNvSpPr txBox="1"/>
          <p:nvPr/>
        </p:nvSpPr>
        <p:spPr>
          <a:xfrm>
            <a:off x="731520" y="1828800"/>
            <a:ext cx="10058400" cy="457200"/>
          </a:xfrm>
          <a:prstGeom prst="rect">
            <a:avLst/>
          </a:prstGeom>
          <a:noFill/>
        </p:spPr>
        <p:txBody>
          <a:bodyPr wrap="square">
            <a:spAutoFit/>
          </a:bodyPr>
          <a:lstStyle/>
          <a:p>
            <a:pPr algn="l">
              <a:defRPr sz="1400" b="0">
                <a:solidFill>
                  <a:srgbClr val="4EA8E6"/>
                </a:solidFill>
              </a:defRPr>
            </a:pPr>
            <a:r>
              <a:t>Tool: Mentimeter (open number)</a:t>
            </a:r>
          </a:p>
        </p:txBody>
      </p:sp>
      <p:sp>
        <p:nvSpPr>
          <p:cNvPr id="5" name="TextBox 4"/>
          <p:cNvSpPr txBox="1"/>
          <p:nvPr/>
        </p:nvSpPr>
        <p:spPr>
          <a:xfrm>
            <a:off x="731520" y="2377440"/>
            <a:ext cx="10058400" cy="1371600"/>
          </a:xfrm>
          <a:prstGeom prst="rect">
            <a:avLst/>
          </a:prstGeom>
          <a:noFill/>
        </p:spPr>
        <p:txBody>
          <a:bodyPr wrap="square">
            <a:spAutoFit/>
          </a:bodyPr>
          <a:lstStyle/>
          <a:p>
            <a:pPr algn="l">
              <a:defRPr sz="1800" b="0">
                <a:solidFill>
                  <a:srgbClr val="FFFFFF"/>
                </a:solidFill>
              </a:defRPr>
            </a:pPr>
            <a:r>
              <a:t>Everyone submits a number: hours per day they think is 'appropriate' for the young people they work with. Show the range. Then ask: 'Who decided that number — you, the young person, or the platform?'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731520" y="457200"/>
            <a:ext cx="7315200" cy="457200"/>
          </a:xfrm>
          <a:prstGeom prst="rect">
            <a:avLst/>
          </a:prstGeom>
          <a:noFill/>
        </p:spPr>
        <p:txBody>
          <a:bodyPr wrap="square">
            <a:spAutoFit/>
          </a:bodyPr>
          <a:lstStyle/>
          <a:p>
            <a:pPr algn="l">
              <a:defRPr sz="1200" b="1">
                <a:solidFill>
                  <a:srgbClr val="4EA8E6"/>
                </a:solidFill>
              </a:defRPr>
            </a:pPr>
            <a:r>
              <a:t>DISCOVER  •  5 min</a:t>
            </a:r>
          </a:p>
        </p:txBody>
      </p:sp>
      <p:sp>
        <p:nvSpPr>
          <p:cNvPr id="3" name="TextBox 2"/>
          <p:cNvSpPr txBox="1"/>
          <p:nvPr/>
        </p:nvSpPr>
        <p:spPr>
          <a:xfrm>
            <a:off x="731520" y="1005840"/>
            <a:ext cx="10058400" cy="914400"/>
          </a:xfrm>
          <a:prstGeom prst="rect">
            <a:avLst/>
          </a:prstGeom>
          <a:noFill/>
        </p:spPr>
        <p:txBody>
          <a:bodyPr wrap="square">
            <a:spAutoFit/>
          </a:bodyPr>
          <a:lstStyle/>
          <a:p>
            <a:pPr algn="l">
              <a:defRPr sz="3000" b="1">
                <a:solidFill>
                  <a:srgbClr val="FFFFFF"/>
                </a:solidFill>
              </a:defRPr>
            </a:pPr>
            <a:r>
              <a:t>Screen Time vs Screen Quality</a:t>
            </a:r>
          </a:p>
        </p:txBody>
      </p:sp>
      <p:sp>
        <p:nvSpPr>
          <p:cNvPr id="4" name="TextBox 3"/>
          <p:cNvSpPr txBox="1"/>
          <p:nvPr/>
        </p:nvSpPr>
        <p:spPr>
          <a:xfrm>
            <a:off x="731520" y="1828800"/>
            <a:ext cx="10058400" cy="457200"/>
          </a:xfrm>
          <a:prstGeom prst="rect">
            <a:avLst/>
          </a:prstGeom>
          <a:noFill/>
        </p:spPr>
        <p:txBody>
          <a:bodyPr wrap="square">
            <a:spAutoFit/>
          </a:bodyPr>
          <a:lstStyle/>
          <a:p>
            <a:pPr algn="l">
              <a:defRPr sz="1400" b="0">
                <a:solidFill>
                  <a:srgbClr val="4EA8E6"/>
                </a:solidFill>
              </a:defRPr>
            </a:pPr>
            <a:r>
              <a:t>Tool: Whiteboard</a:t>
            </a:r>
          </a:p>
        </p:txBody>
      </p:sp>
      <p:sp>
        <p:nvSpPr>
          <p:cNvPr id="5" name="TextBox 4"/>
          <p:cNvSpPr txBox="1"/>
          <p:nvPr/>
        </p:nvSpPr>
        <p:spPr>
          <a:xfrm>
            <a:off x="731520" y="2377440"/>
            <a:ext cx="10058400" cy="1371600"/>
          </a:xfrm>
          <a:prstGeom prst="rect">
            <a:avLst/>
          </a:prstGeom>
          <a:noFill/>
        </p:spPr>
        <p:txBody>
          <a:bodyPr wrap="square">
            <a:spAutoFit/>
          </a:bodyPr>
          <a:lstStyle/>
          <a:p>
            <a:pPr algn="l">
              <a:defRPr sz="1800" b="0">
                <a:solidFill>
                  <a:srgbClr val="FFFFFF"/>
                </a:solidFill>
              </a:defRPr>
            </a:pPr>
            <a:r>
              <a:t>Two columns: '2 hours of _____ is great' and '2 hours of _____ is harmful'. Fill them in as a group. Point: the time isn't the issue. The design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731520" y="457200"/>
            <a:ext cx="7315200" cy="457200"/>
          </a:xfrm>
          <a:prstGeom prst="rect">
            <a:avLst/>
          </a:prstGeom>
          <a:noFill/>
        </p:spPr>
        <p:txBody>
          <a:bodyPr wrap="square">
            <a:spAutoFit/>
          </a:bodyPr>
          <a:lstStyle/>
          <a:p>
            <a:pPr algn="l">
              <a:defRPr sz="1200" b="1">
                <a:solidFill>
                  <a:srgbClr val="4EA8E6"/>
                </a:solidFill>
              </a:defRPr>
            </a:pPr>
            <a:r>
              <a:t>ACTIVITY  •  10 min</a:t>
            </a:r>
          </a:p>
        </p:txBody>
      </p:sp>
      <p:sp>
        <p:nvSpPr>
          <p:cNvPr id="3" name="TextBox 2"/>
          <p:cNvSpPr txBox="1"/>
          <p:nvPr/>
        </p:nvSpPr>
        <p:spPr>
          <a:xfrm>
            <a:off x="731520" y="1005840"/>
            <a:ext cx="10058400" cy="914400"/>
          </a:xfrm>
          <a:prstGeom prst="rect">
            <a:avLst/>
          </a:prstGeom>
          <a:noFill/>
        </p:spPr>
        <p:txBody>
          <a:bodyPr wrap="square">
            <a:spAutoFit/>
          </a:bodyPr>
          <a:lstStyle/>
          <a:p>
            <a:pPr algn="l">
              <a:defRPr sz="3000" b="1">
                <a:solidFill>
                  <a:srgbClr val="FFFFFF"/>
                </a:solidFill>
              </a:defRPr>
            </a:pPr>
            <a:r>
              <a:t>Baseline Quiz</a:t>
            </a:r>
          </a:p>
        </p:txBody>
      </p:sp>
      <p:sp>
        <p:nvSpPr>
          <p:cNvPr id="4" name="TextBox 3"/>
          <p:cNvSpPr txBox="1"/>
          <p:nvPr/>
        </p:nvSpPr>
        <p:spPr>
          <a:xfrm>
            <a:off x="731520" y="1828800"/>
            <a:ext cx="10058400" cy="457200"/>
          </a:xfrm>
          <a:prstGeom prst="rect">
            <a:avLst/>
          </a:prstGeom>
          <a:noFill/>
        </p:spPr>
        <p:txBody>
          <a:bodyPr wrap="square">
            <a:spAutoFit/>
          </a:bodyPr>
          <a:lstStyle/>
          <a:p>
            <a:pPr algn="l">
              <a:defRPr sz="1400" b="0">
                <a:solidFill>
                  <a:srgbClr val="4EA8E6"/>
                </a:solidFill>
              </a:defRPr>
            </a:pPr>
            <a:r>
              <a:t>Tool: Kahoot</a:t>
            </a:r>
          </a:p>
        </p:txBody>
      </p:sp>
      <p:sp>
        <p:nvSpPr>
          <p:cNvPr id="5" name="TextBox 4"/>
          <p:cNvSpPr txBox="1"/>
          <p:nvPr/>
        </p:nvSpPr>
        <p:spPr>
          <a:xfrm>
            <a:off x="731520" y="2377440"/>
            <a:ext cx="10058400" cy="1371600"/>
          </a:xfrm>
          <a:prstGeom prst="rect">
            <a:avLst/>
          </a:prstGeom>
          <a:noFill/>
        </p:spPr>
        <p:txBody>
          <a:bodyPr wrap="square">
            <a:spAutoFit/>
          </a:bodyPr>
          <a:lstStyle/>
          <a:p>
            <a:pPr algn="l">
              <a:defRPr sz="1800" b="0">
                <a:solidFill>
                  <a:srgbClr val="FFFFFF"/>
                </a:solidFill>
              </a:defRPr>
            </a:pPr>
            <a:r>
              <a:t>Run a simple 8-question Kahoot quiz. No extras. Observers note: How competitive are people? How relaxed? Anyone check out?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731520" y="457200"/>
            <a:ext cx="7315200" cy="457200"/>
          </a:xfrm>
          <a:prstGeom prst="rect">
            <a:avLst/>
          </a:prstGeom>
          <a:noFill/>
        </p:spPr>
        <p:txBody>
          <a:bodyPr wrap="square">
            <a:spAutoFit/>
          </a:bodyPr>
          <a:lstStyle/>
          <a:p>
            <a:pPr algn="l">
              <a:defRPr sz="1200" b="1">
                <a:solidFill>
                  <a:srgbClr val="4EA8E6"/>
                </a:solidFill>
              </a:defRPr>
            </a:pPr>
            <a:r>
              <a:t>ACTIVITY  •  15 min</a:t>
            </a:r>
          </a:p>
        </p:txBody>
      </p:sp>
      <p:sp>
        <p:nvSpPr>
          <p:cNvPr id="3" name="TextBox 2"/>
          <p:cNvSpPr txBox="1"/>
          <p:nvPr/>
        </p:nvSpPr>
        <p:spPr>
          <a:xfrm>
            <a:off x="731520" y="1005840"/>
            <a:ext cx="10058400" cy="914400"/>
          </a:xfrm>
          <a:prstGeom prst="rect">
            <a:avLst/>
          </a:prstGeom>
          <a:noFill/>
        </p:spPr>
        <p:txBody>
          <a:bodyPr wrap="square">
            <a:spAutoFit/>
          </a:bodyPr>
          <a:lstStyle/>
          <a:p>
            <a:pPr algn="l">
              <a:defRPr sz="3000" b="1">
                <a:solidFill>
                  <a:srgbClr val="FFFFFF"/>
                </a:solidFill>
              </a:defRPr>
            </a:pPr>
            <a:r>
              <a:t>Add a Mechanic</a:t>
            </a:r>
          </a:p>
        </p:txBody>
      </p:sp>
      <p:sp>
        <p:nvSpPr>
          <p:cNvPr id="4" name="TextBox 3"/>
          <p:cNvSpPr txBox="1"/>
          <p:nvPr/>
        </p:nvSpPr>
        <p:spPr>
          <a:xfrm>
            <a:off x="731520" y="1828800"/>
            <a:ext cx="10058400" cy="457200"/>
          </a:xfrm>
          <a:prstGeom prst="rect">
            <a:avLst/>
          </a:prstGeom>
          <a:noFill/>
        </p:spPr>
        <p:txBody>
          <a:bodyPr wrap="square">
            <a:spAutoFit/>
          </a:bodyPr>
          <a:lstStyle/>
          <a:p>
            <a:pPr algn="l">
              <a:defRPr sz="1400" b="0">
                <a:solidFill>
                  <a:srgbClr val="4EA8E6"/>
                </a:solidFill>
              </a:defRPr>
            </a:pPr>
            <a:r>
              <a:t>Tool: Kahoot + Mentimeter</a:t>
            </a:r>
          </a:p>
        </p:txBody>
      </p:sp>
      <p:sp>
        <p:nvSpPr>
          <p:cNvPr id="5" name="TextBox 4"/>
          <p:cNvSpPr txBox="1"/>
          <p:nvPr/>
        </p:nvSpPr>
        <p:spPr>
          <a:xfrm>
            <a:off x="731520" y="2377440"/>
            <a:ext cx="10058400" cy="1371600"/>
          </a:xfrm>
          <a:prstGeom prst="rect">
            <a:avLst/>
          </a:prstGeom>
          <a:noFill/>
        </p:spPr>
        <p:txBody>
          <a:bodyPr wrap="square">
            <a:spAutoFit/>
          </a:bodyPr>
          <a:lstStyle/>
          <a:p>
            <a:pPr algn="l">
              <a:defRPr sz="1800" b="0">
                <a:solidFill>
                  <a:srgbClr val="FFFFFF"/>
                </a:solidFill>
              </a:defRPr>
            </a:pPr>
            <a:r>
              <a:t>Re-run the same quiz but add ONE mechanic. Options across tables:</a:t>
            </a:r>
            <a:br/>
            <a:r>
              <a:t>- Table 1: Visible leaderboard + prize for winner</a:t>
            </a:r>
            <a:br/>
            <a:r>
              <a:t>- Table 2: Streak bonus (3 in a row = double points)</a:t>
            </a:r>
            <a:br/>
            <a:r>
              <a:t>- Table 3: Live reactions after each answer (Mentimeter thumbs up/down)</a:t>
            </a:r>
            <a:br/>
            <a:r>
              <a:t>- Table 4: Time pressure (5 seconds per question instead of 20)</a:t>
            </a:r>
            <a:br/>
            <a:r>
              <a:t>Observers track: competitiveness, stress, disengagement, collaboration.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731520" y="457200"/>
            <a:ext cx="7315200" cy="457200"/>
          </a:xfrm>
          <a:prstGeom prst="rect">
            <a:avLst/>
          </a:prstGeom>
          <a:noFill/>
        </p:spPr>
        <p:txBody>
          <a:bodyPr wrap="square">
            <a:spAutoFit/>
          </a:bodyPr>
          <a:lstStyle/>
          <a:p>
            <a:pPr algn="l">
              <a:defRPr sz="1200" b="1">
                <a:solidFill>
                  <a:srgbClr val="4EA8E6"/>
                </a:solidFill>
              </a:defRPr>
            </a:pPr>
            <a:r>
              <a:t>ACTIVITY  •  15 min</a:t>
            </a:r>
          </a:p>
        </p:txBody>
      </p:sp>
      <p:sp>
        <p:nvSpPr>
          <p:cNvPr id="3" name="TextBox 2"/>
          <p:cNvSpPr txBox="1"/>
          <p:nvPr/>
        </p:nvSpPr>
        <p:spPr>
          <a:xfrm>
            <a:off x="731520" y="1005840"/>
            <a:ext cx="10058400" cy="914400"/>
          </a:xfrm>
          <a:prstGeom prst="rect">
            <a:avLst/>
          </a:prstGeom>
          <a:noFill/>
        </p:spPr>
        <p:txBody>
          <a:bodyPr wrap="square">
            <a:spAutoFit/>
          </a:bodyPr>
          <a:lstStyle/>
          <a:p>
            <a:pPr algn="l">
              <a:defRPr sz="3000" b="1">
                <a:solidFill>
                  <a:srgbClr val="FFFFFF"/>
                </a:solidFill>
              </a:defRPr>
            </a:pPr>
            <a:r>
              <a:t>Break the Mechanic</a:t>
            </a:r>
          </a:p>
        </p:txBody>
      </p:sp>
      <p:sp>
        <p:nvSpPr>
          <p:cNvPr id="4" name="TextBox 3"/>
          <p:cNvSpPr txBox="1"/>
          <p:nvPr/>
        </p:nvSpPr>
        <p:spPr>
          <a:xfrm>
            <a:off x="731520" y="1828800"/>
            <a:ext cx="10058400" cy="457200"/>
          </a:xfrm>
          <a:prstGeom prst="rect">
            <a:avLst/>
          </a:prstGeom>
          <a:noFill/>
        </p:spPr>
        <p:txBody>
          <a:bodyPr wrap="square">
            <a:spAutoFit/>
          </a:bodyPr>
          <a:lstStyle/>
          <a:p>
            <a:pPr algn="l">
              <a:defRPr sz="1400" b="0">
                <a:solidFill>
                  <a:srgbClr val="4EA8E6"/>
                </a:solidFill>
              </a:defRPr>
            </a:pPr>
            <a:r>
              <a:t>Tool: Kahoot</a:t>
            </a:r>
          </a:p>
        </p:txBody>
      </p:sp>
      <p:sp>
        <p:nvSpPr>
          <p:cNvPr id="5" name="TextBox 4"/>
          <p:cNvSpPr txBox="1"/>
          <p:nvPr/>
        </p:nvSpPr>
        <p:spPr>
          <a:xfrm>
            <a:off x="731520" y="2377440"/>
            <a:ext cx="10058400" cy="1371600"/>
          </a:xfrm>
          <a:prstGeom prst="rect">
            <a:avLst/>
          </a:prstGeom>
          <a:noFill/>
        </p:spPr>
        <p:txBody>
          <a:bodyPr wrap="square">
            <a:spAutoFit/>
          </a:bodyPr>
          <a:lstStyle/>
          <a:p>
            <a:pPr algn="l">
              <a:defRPr sz="1800" b="0">
                <a:solidFill>
                  <a:srgbClr val="FFFFFF"/>
                </a:solidFill>
              </a:defRPr>
            </a:pPr>
            <a:r>
              <a:t>Remove the mechanic mid-quiz (turn off leaderboard, remove timer, stop reactions). Keep playing. What changes? Does engagement drop? Does anything get better? Observers: what behaviour disappeared when the mechanic was removed? That behaviour was manufactured.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731520" y="457200"/>
            <a:ext cx="7315200" cy="457200"/>
          </a:xfrm>
          <a:prstGeom prst="rect">
            <a:avLst/>
          </a:prstGeom>
          <a:noFill/>
        </p:spPr>
        <p:txBody>
          <a:bodyPr wrap="square">
            <a:spAutoFit/>
          </a:bodyPr>
          <a:lstStyle/>
          <a:p>
            <a:pPr algn="l">
              <a:defRPr sz="1200" b="1">
                <a:solidFill>
                  <a:srgbClr val="4EA8E6"/>
                </a:solidFill>
              </a:defRPr>
            </a:pPr>
            <a:r>
              <a:t>ACTIVITY  •  15 min</a:t>
            </a:r>
          </a:p>
        </p:txBody>
      </p:sp>
      <p:sp>
        <p:nvSpPr>
          <p:cNvPr id="3" name="TextBox 2"/>
          <p:cNvSpPr txBox="1"/>
          <p:nvPr/>
        </p:nvSpPr>
        <p:spPr>
          <a:xfrm>
            <a:off x="731520" y="1005840"/>
            <a:ext cx="10058400" cy="914400"/>
          </a:xfrm>
          <a:prstGeom prst="rect">
            <a:avLst/>
          </a:prstGeom>
          <a:noFill/>
        </p:spPr>
        <p:txBody>
          <a:bodyPr wrap="square">
            <a:spAutoFit/>
          </a:bodyPr>
          <a:lstStyle/>
          <a:p>
            <a:pPr algn="l">
              <a:defRPr sz="3000" b="1">
                <a:solidFill>
                  <a:srgbClr val="FFFFFF"/>
                </a:solidFill>
              </a:defRPr>
            </a:pPr>
            <a:r>
              <a:t>Mechanic Autopsy</a:t>
            </a:r>
          </a:p>
        </p:txBody>
      </p:sp>
      <p:sp>
        <p:nvSpPr>
          <p:cNvPr id="4" name="TextBox 3"/>
          <p:cNvSpPr txBox="1"/>
          <p:nvPr/>
        </p:nvSpPr>
        <p:spPr>
          <a:xfrm>
            <a:off x="731520" y="2011680"/>
            <a:ext cx="10058400" cy="1371600"/>
          </a:xfrm>
          <a:prstGeom prst="rect">
            <a:avLst/>
          </a:prstGeom>
          <a:noFill/>
        </p:spPr>
        <p:txBody>
          <a:bodyPr wrap="square">
            <a:spAutoFit/>
          </a:bodyPr>
          <a:lstStyle/>
          <a:p>
            <a:pPr algn="l">
              <a:defRPr sz="1800" b="0">
                <a:solidFill>
                  <a:srgbClr val="FFFFFF"/>
                </a:solidFill>
              </a:defRPr>
            </a:pPr>
            <a:r>
              <a:t>Each table fills in a card: 'Mechanic: ___. What it did: ___. What was real engagement: ___. What was manufactured: ___. Would we use this with young people: Yes / No / It depends because ___.'</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731520" y="457200"/>
            <a:ext cx="7315200" cy="457200"/>
          </a:xfrm>
          <a:prstGeom prst="rect">
            <a:avLst/>
          </a:prstGeom>
          <a:noFill/>
        </p:spPr>
        <p:txBody>
          <a:bodyPr wrap="square">
            <a:spAutoFit/>
          </a:bodyPr>
          <a:lstStyle/>
          <a:p>
            <a:pPr algn="l">
              <a:defRPr sz="1200" b="1">
                <a:solidFill>
                  <a:srgbClr val="4EA8E6"/>
                </a:solidFill>
              </a:defRPr>
            </a:pPr>
            <a:r>
              <a:t>ACTIVITY  •  5 min</a:t>
            </a:r>
          </a:p>
        </p:txBody>
      </p:sp>
      <p:sp>
        <p:nvSpPr>
          <p:cNvPr id="3" name="TextBox 2"/>
          <p:cNvSpPr txBox="1"/>
          <p:nvPr/>
        </p:nvSpPr>
        <p:spPr>
          <a:xfrm>
            <a:off x="731520" y="1005840"/>
            <a:ext cx="10058400" cy="914400"/>
          </a:xfrm>
          <a:prstGeom prst="rect">
            <a:avLst/>
          </a:prstGeom>
          <a:noFill/>
        </p:spPr>
        <p:txBody>
          <a:bodyPr wrap="square">
            <a:spAutoFit/>
          </a:bodyPr>
          <a:lstStyle/>
          <a:p>
            <a:pPr algn="l">
              <a:defRPr sz="3000" b="1">
                <a:solidFill>
                  <a:srgbClr val="FFFFFF"/>
                </a:solidFill>
              </a:defRPr>
            </a:pPr>
            <a:r>
              <a:t>Spot It in the Wild</a:t>
            </a:r>
          </a:p>
        </p:txBody>
      </p:sp>
      <p:sp>
        <p:nvSpPr>
          <p:cNvPr id="4" name="TextBox 3"/>
          <p:cNvSpPr txBox="1"/>
          <p:nvPr/>
        </p:nvSpPr>
        <p:spPr>
          <a:xfrm>
            <a:off x="731520" y="1828800"/>
            <a:ext cx="10058400" cy="457200"/>
          </a:xfrm>
          <a:prstGeom prst="rect">
            <a:avLst/>
          </a:prstGeom>
          <a:noFill/>
        </p:spPr>
        <p:txBody>
          <a:bodyPr wrap="square">
            <a:spAutoFit/>
          </a:bodyPr>
          <a:lstStyle/>
          <a:p>
            <a:pPr algn="l">
              <a:defRPr sz="1400" b="0">
                <a:solidFill>
                  <a:srgbClr val="4EA8E6"/>
                </a:solidFill>
              </a:defRPr>
            </a:pPr>
            <a:r>
              <a:t>Tool: Phones</a:t>
            </a:r>
          </a:p>
        </p:txBody>
      </p:sp>
      <p:sp>
        <p:nvSpPr>
          <p:cNvPr id="5" name="TextBox 4"/>
          <p:cNvSpPr txBox="1"/>
          <p:nvPr/>
        </p:nvSpPr>
        <p:spPr>
          <a:xfrm>
            <a:off x="731520" y="2377440"/>
            <a:ext cx="10058400" cy="1371600"/>
          </a:xfrm>
          <a:prstGeom prst="rect">
            <a:avLst/>
          </a:prstGeom>
          <a:noFill/>
        </p:spPr>
        <p:txBody>
          <a:bodyPr wrap="square">
            <a:spAutoFit/>
          </a:bodyPr>
          <a:lstStyle/>
          <a:p>
            <a:pPr algn="l">
              <a:defRPr sz="1800" b="0">
                <a:solidFill>
                  <a:srgbClr val="FFFFFF"/>
                </a:solidFill>
              </a:defRPr>
            </a:pPr>
            <a:r>
              <a:t>Open any app on your phone. Find one engagement mechanic. Show the person next to you. Name what it's designed to do.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D2D2D"/>
        </a:solidFill>
        <a:effectLst/>
      </p:bgPr>
    </p:bg>
    <p:spTree>
      <p:nvGrpSpPr>
        <p:cNvPr id="1" name=""/>
        <p:cNvGrpSpPr/>
        <p:nvPr/>
      </p:nvGrpSpPr>
      <p:grpSpPr/>
      <p:sp>
        <p:nvSpPr>
          <p:cNvPr id="2" name="TextBox 1"/>
          <p:cNvSpPr txBox="1"/>
          <p:nvPr/>
        </p:nvSpPr>
        <p:spPr>
          <a:xfrm>
            <a:off x="731520" y="457200"/>
            <a:ext cx="3657600" cy="457200"/>
          </a:xfrm>
          <a:prstGeom prst="rect">
            <a:avLst/>
          </a:prstGeom>
          <a:noFill/>
        </p:spPr>
        <p:txBody>
          <a:bodyPr wrap="square">
            <a:spAutoFit/>
          </a:bodyPr>
          <a:lstStyle/>
          <a:p>
            <a:pPr algn="l">
              <a:defRPr sz="1400" b="1">
                <a:solidFill>
                  <a:srgbClr val="4EA8E6"/>
                </a:solidFill>
              </a:defRPr>
            </a:pPr>
            <a:r>
              <a:t>KEY IDEAS</a:t>
            </a:r>
          </a:p>
        </p:txBody>
      </p:sp>
      <p:sp>
        <p:nvSpPr>
          <p:cNvPr id="3" name="TextBox 2"/>
          <p:cNvSpPr txBox="1"/>
          <p:nvPr/>
        </p:nvSpPr>
        <p:spPr>
          <a:xfrm>
            <a:off x="731520" y="1097280"/>
            <a:ext cx="10058400" cy="914400"/>
          </a:xfrm>
          <a:prstGeom prst="rect">
            <a:avLst/>
          </a:prstGeom>
          <a:noFill/>
        </p:spPr>
        <p:txBody>
          <a:bodyPr wrap="square">
            <a:spAutoFit/>
          </a:bodyPr>
          <a:lstStyle/>
          <a:p>
            <a:pPr algn="l">
              <a:defRPr sz="2800" b="1">
                <a:solidFill>
                  <a:srgbClr val="FFFFFF"/>
                </a:solidFill>
              </a:defRPr>
            </a:pPr>
            <a:r>
              <a:t>Platforms Are Not Neutral</a:t>
            </a:r>
          </a:p>
        </p:txBody>
      </p:sp>
      <p:sp>
        <p:nvSpPr>
          <p:cNvPr id="4" name="TextBox 3"/>
          <p:cNvSpPr txBox="1"/>
          <p:nvPr/>
        </p:nvSpPr>
        <p:spPr>
          <a:xfrm>
            <a:off x="731520" y="2286000"/>
            <a:ext cx="10058400" cy="4114800"/>
          </a:xfrm>
          <a:prstGeom prst="rect">
            <a:avLst/>
          </a:prstGeom>
          <a:noFill/>
        </p:spPr>
        <p:txBody>
          <a:bodyPr wrap="square">
            <a:spAutoFit/>
          </a:bodyPr>
          <a:lstStyle/>
          <a:p>
            <a:pPr>
              <a:spcAft>
                <a:spcPts val="600"/>
              </a:spcAft>
              <a:defRPr sz="1700">
                <a:solidFill>
                  <a:srgbClr val="FFFFFF"/>
                </a:solidFill>
              </a:defRPr>
            </a:pPr>
            <a:r>
              <a:t>•  Platforms make money from attention, not from value to the user</a:t>
            </a:r>
          </a:p>
          <a:p>
            <a:pPr>
              <a:spcAft>
                <a:spcPts val="600"/>
              </a:spcAft>
              <a:defRPr sz="1700">
                <a:solidFill>
                  <a:srgbClr val="FFFFFF"/>
                </a:solidFill>
              </a:defRPr>
            </a:pPr>
            <a:r>
              <a:t>•  Motivation = helping users reach THEIR goal. Manipulation = serving the platform's goal at the user's expense</a:t>
            </a:r>
          </a:p>
          <a:p>
            <a:pPr>
              <a:spcAft>
                <a:spcPts val="600"/>
              </a:spcAft>
              <a:defRPr sz="1700">
                <a:solidFill>
                  <a:srgbClr val="FFFFFF"/>
                </a:solidFill>
              </a:defRPr>
            </a:pPr>
            <a:r>
              <a:t>•  Mechanics that look like engagement (points, streaks, leaderboards) can be compliance or anxiety in disguise</a:t>
            </a:r>
          </a:p>
          <a:p>
            <a:pPr>
              <a:spcAft>
                <a:spcPts val="600"/>
              </a:spcAft>
              <a:defRPr sz="1700">
                <a:solidFill>
                  <a:srgbClr val="FFFFFF"/>
                </a:solidFill>
              </a:defRPr>
            </a:pPr>
            <a:r>
              <a:t>•  High completion rates and long session times can mask compulsion, not interest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731520" y="457200"/>
            <a:ext cx="7315200" cy="457200"/>
          </a:xfrm>
          <a:prstGeom prst="rect">
            <a:avLst/>
          </a:prstGeom>
          <a:noFill/>
        </p:spPr>
        <p:txBody>
          <a:bodyPr wrap="square">
            <a:spAutoFit/>
          </a:bodyPr>
          <a:lstStyle/>
          <a:p>
            <a:pPr algn="l">
              <a:defRPr sz="1200" b="1">
                <a:solidFill>
                  <a:srgbClr val="4EA8E6"/>
                </a:solidFill>
              </a:defRPr>
            </a:pPr>
            <a:r>
              <a:t>KEY IDEAS  •  10 min</a:t>
            </a:r>
          </a:p>
        </p:txBody>
      </p:sp>
      <p:sp>
        <p:nvSpPr>
          <p:cNvPr id="3" name="TextBox 2"/>
          <p:cNvSpPr txBox="1"/>
          <p:nvPr/>
        </p:nvSpPr>
        <p:spPr>
          <a:xfrm>
            <a:off x="731520" y="1005840"/>
            <a:ext cx="10058400" cy="914400"/>
          </a:xfrm>
          <a:prstGeom prst="rect">
            <a:avLst/>
          </a:prstGeom>
          <a:noFill/>
        </p:spPr>
        <p:txBody>
          <a:bodyPr wrap="square">
            <a:spAutoFit/>
          </a:bodyPr>
          <a:lstStyle/>
          <a:p>
            <a:pPr algn="l">
              <a:defRPr sz="3000" b="1">
                <a:solidFill>
                  <a:srgbClr val="FFFFFF"/>
                </a:solidFill>
              </a:defRPr>
            </a:pPr>
            <a:r>
              <a:t>Motivation or Manipulation?</a:t>
            </a:r>
          </a:p>
        </p:txBody>
      </p:sp>
      <p:sp>
        <p:nvSpPr>
          <p:cNvPr id="4" name="TextBox 3"/>
          <p:cNvSpPr txBox="1"/>
          <p:nvPr/>
        </p:nvSpPr>
        <p:spPr>
          <a:xfrm>
            <a:off x="731520" y="1828800"/>
            <a:ext cx="10058400" cy="457200"/>
          </a:xfrm>
          <a:prstGeom prst="rect">
            <a:avLst/>
          </a:prstGeom>
          <a:noFill/>
        </p:spPr>
        <p:txBody>
          <a:bodyPr wrap="square">
            <a:spAutoFit/>
          </a:bodyPr>
          <a:lstStyle/>
          <a:p>
            <a:pPr algn="l">
              <a:defRPr sz="1400" b="0">
                <a:solidFill>
                  <a:srgbClr val="4EA8E6"/>
                </a:solidFill>
              </a:defRPr>
            </a:pPr>
            <a:r>
              <a:t>Tool: Cards</a:t>
            </a:r>
          </a:p>
        </p:txBody>
      </p:sp>
      <p:sp>
        <p:nvSpPr>
          <p:cNvPr id="5" name="TextBox 4"/>
          <p:cNvSpPr txBox="1"/>
          <p:nvPr/>
        </p:nvSpPr>
        <p:spPr>
          <a:xfrm>
            <a:off x="731520" y="2377440"/>
            <a:ext cx="10058400" cy="1371600"/>
          </a:xfrm>
          <a:prstGeom prst="rect">
            <a:avLst/>
          </a:prstGeom>
          <a:noFill/>
        </p:spPr>
        <p:txBody>
          <a:bodyPr wrap="square">
            <a:spAutoFit/>
          </a:bodyPr>
          <a:lstStyle/>
          <a:p>
            <a:pPr algn="l">
              <a:defRPr sz="1800" b="0">
                <a:solidFill>
                  <a:srgbClr val="FFFFFF"/>
                </a:solidFill>
              </a:defRPr>
            </a:pPr>
            <a:r>
              <a:t>8 cards with real mechanics from youth-facing platforms. Each table sorts them into 'Motivation' or 'Manipulation'. Compare across tables. Where do you disagree? That's where the line gets blurry.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731520" y="457200"/>
            <a:ext cx="7315200" cy="457200"/>
          </a:xfrm>
          <a:prstGeom prst="rect">
            <a:avLst/>
          </a:prstGeom>
          <a:noFill/>
        </p:spPr>
        <p:txBody>
          <a:bodyPr wrap="square">
            <a:spAutoFit/>
          </a:bodyPr>
          <a:lstStyle/>
          <a:p>
            <a:pPr algn="l">
              <a:defRPr sz="1200" b="1">
                <a:solidFill>
                  <a:srgbClr val="4EA8E6"/>
                </a:solidFill>
              </a:defRPr>
            </a:pPr>
            <a:r>
              <a:t>DISCUSSION  •  20 min</a:t>
            </a:r>
          </a:p>
        </p:txBody>
      </p:sp>
      <p:sp>
        <p:nvSpPr>
          <p:cNvPr id="3" name="TextBox 2"/>
          <p:cNvSpPr txBox="1"/>
          <p:nvPr/>
        </p:nvSpPr>
        <p:spPr>
          <a:xfrm>
            <a:off x="731520" y="1005840"/>
            <a:ext cx="10058400" cy="914400"/>
          </a:xfrm>
          <a:prstGeom prst="rect">
            <a:avLst/>
          </a:prstGeom>
          <a:noFill/>
        </p:spPr>
        <p:txBody>
          <a:bodyPr wrap="square">
            <a:spAutoFit/>
          </a:bodyPr>
          <a:lstStyle/>
          <a:p>
            <a:pPr algn="l">
              <a:defRPr sz="3000" b="1">
                <a:solidFill>
                  <a:srgbClr val="FFFFFF"/>
                </a:solidFill>
              </a:defRPr>
            </a:pPr>
            <a:r>
              <a:t>Design an Ethical Mechanic</a:t>
            </a:r>
          </a:p>
        </p:txBody>
      </p:sp>
      <p:sp>
        <p:nvSpPr>
          <p:cNvPr id="4" name="TextBox 3"/>
          <p:cNvSpPr txBox="1"/>
          <p:nvPr/>
        </p:nvSpPr>
        <p:spPr>
          <a:xfrm>
            <a:off x="731520" y="1828800"/>
            <a:ext cx="10058400" cy="457200"/>
          </a:xfrm>
          <a:prstGeom prst="rect">
            <a:avLst/>
          </a:prstGeom>
          <a:noFill/>
        </p:spPr>
        <p:txBody>
          <a:bodyPr wrap="square">
            <a:spAutoFit/>
          </a:bodyPr>
          <a:lstStyle/>
          <a:p>
            <a:pPr algn="l">
              <a:defRPr sz="1400" b="0">
                <a:solidFill>
                  <a:srgbClr val="4EA8E6"/>
                </a:solidFill>
              </a:defRPr>
            </a:pPr>
            <a:r>
              <a:t>Tool: Paper or Padlet</a:t>
            </a:r>
          </a:p>
        </p:txBody>
      </p:sp>
      <p:sp>
        <p:nvSpPr>
          <p:cNvPr id="5" name="TextBox 4"/>
          <p:cNvSpPr txBox="1"/>
          <p:nvPr/>
        </p:nvSpPr>
        <p:spPr>
          <a:xfrm>
            <a:off x="731520" y="2377440"/>
            <a:ext cx="10058400" cy="1371600"/>
          </a:xfrm>
          <a:prstGeom prst="rect">
            <a:avLst/>
          </a:prstGeom>
          <a:noFill/>
        </p:spPr>
        <p:txBody>
          <a:bodyPr wrap="square">
            <a:spAutoFit/>
          </a:bodyPr>
          <a:lstStyle/>
          <a:p>
            <a:pPr algn="l">
              <a:defRPr sz="1800" b="0">
                <a:solidFill>
                  <a:srgbClr val="FFFFFF"/>
                </a:solidFill>
              </a:defRPr>
            </a:pPr>
            <a:r>
              <a:t>In pairs, design ONE engagement mechanic that serves the young person (not the platform). What does it reward? What behaviour does it encourage? How do you know it's not manipulative? Write it on a card.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731520" y="457200"/>
            <a:ext cx="7315200" cy="457200"/>
          </a:xfrm>
          <a:prstGeom prst="rect">
            <a:avLst/>
          </a:prstGeom>
          <a:noFill/>
        </p:spPr>
        <p:txBody>
          <a:bodyPr wrap="square">
            <a:spAutoFit/>
          </a:bodyPr>
          <a:lstStyle/>
          <a:p>
            <a:pPr algn="l">
              <a:defRPr sz="1200" b="1">
                <a:solidFill>
                  <a:srgbClr val="4EA8E6"/>
                </a:solidFill>
              </a:defRPr>
            </a:pPr>
            <a:r>
              <a:t>DISCUSSION  •  15 min</a:t>
            </a:r>
          </a:p>
        </p:txBody>
      </p:sp>
      <p:sp>
        <p:nvSpPr>
          <p:cNvPr id="3" name="TextBox 2"/>
          <p:cNvSpPr txBox="1"/>
          <p:nvPr/>
        </p:nvSpPr>
        <p:spPr>
          <a:xfrm>
            <a:off x="731520" y="1005840"/>
            <a:ext cx="10058400" cy="914400"/>
          </a:xfrm>
          <a:prstGeom prst="rect">
            <a:avLst/>
          </a:prstGeom>
          <a:noFill/>
        </p:spPr>
        <p:txBody>
          <a:bodyPr wrap="square">
            <a:spAutoFit/>
          </a:bodyPr>
          <a:lstStyle/>
          <a:p>
            <a:pPr algn="l">
              <a:defRPr sz="3000" b="1">
                <a:solidFill>
                  <a:srgbClr val="FFFFFF"/>
                </a:solidFill>
              </a:defRPr>
            </a:pPr>
            <a:r>
              <a:t>Red Line Exercise</a:t>
            </a:r>
          </a:p>
        </p:txBody>
      </p:sp>
      <p:sp>
        <p:nvSpPr>
          <p:cNvPr id="4" name="TextBox 3"/>
          <p:cNvSpPr txBox="1"/>
          <p:nvPr/>
        </p:nvSpPr>
        <p:spPr>
          <a:xfrm>
            <a:off x="731520" y="1828800"/>
            <a:ext cx="10058400" cy="457200"/>
          </a:xfrm>
          <a:prstGeom prst="rect">
            <a:avLst/>
          </a:prstGeom>
          <a:noFill/>
        </p:spPr>
        <p:txBody>
          <a:bodyPr wrap="square">
            <a:spAutoFit/>
          </a:bodyPr>
          <a:lstStyle/>
          <a:p>
            <a:pPr algn="l">
              <a:defRPr sz="1400" b="0">
                <a:solidFill>
                  <a:srgbClr val="4EA8E6"/>
                </a:solidFill>
              </a:defRPr>
            </a:pPr>
            <a:r>
              <a:t>Tool: Mentimeter ranking</a:t>
            </a:r>
          </a:p>
        </p:txBody>
      </p:sp>
      <p:sp>
        <p:nvSpPr>
          <p:cNvPr id="5" name="TextBox 4"/>
          <p:cNvSpPr txBox="1"/>
          <p:nvPr/>
        </p:nvSpPr>
        <p:spPr>
          <a:xfrm>
            <a:off x="731520" y="2377440"/>
            <a:ext cx="10058400" cy="1371600"/>
          </a:xfrm>
          <a:prstGeom prst="rect">
            <a:avLst/>
          </a:prstGeom>
          <a:noFill/>
        </p:spPr>
        <p:txBody>
          <a:bodyPr wrap="square">
            <a:spAutoFit/>
          </a:bodyPr>
          <a:lstStyle/>
          <a:p>
            <a:pPr algn="l">
              <a:defRPr sz="1800" b="0">
                <a:solidFill>
                  <a:srgbClr val="FFFFFF"/>
                </a:solidFill>
              </a:defRPr>
            </a:pPr>
            <a:r>
              <a:t>List of 10 mechanics on screen. Everyone votes: 'Would use', 'Would never use', 'Depends on context'. Show results live. Discuss the 'depends' ones — that's where real thinking happens.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731520" y="457200"/>
            <a:ext cx="7315200" cy="457200"/>
          </a:xfrm>
          <a:prstGeom prst="rect">
            <a:avLst/>
          </a:prstGeom>
          <a:noFill/>
        </p:spPr>
        <p:txBody>
          <a:bodyPr wrap="square">
            <a:spAutoFit/>
          </a:bodyPr>
          <a:lstStyle/>
          <a:p>
            <a:pPr algn="l">
              <a:defRPr sz="1200" b="1">
                <a:solidFill>
                  <a:srgbClr val="4EA8E6"/>
                </a:solidFill>
              </a:defRPr>
            </a:pPr>
            <a:r>
              <a:t>DISCUSSION  •  20 min</a:t>
            </a:r>
          </a:p>
        </p:txBody>
      </p:sp>
      <p:sp>
        <p:nvSpPr>
          <p:cNvPr id="3" name="TextBox 2"/>
          <p:cNvSpPr txBox="1"/>
          <p:nvPr/>
        </p:nvSpPr>
        <p:spPr>
          <a:xfrm>
            <a:off x="731520" y="1005840"/>
            <a:ext cx="10058400" cy="914400"/>
          </a:xfrm>
          <a:prstGeom prst="rect">
            <a:avLst/>
          </a:prstGeom>
          <a:noFill/>
        </p:spPr>
        <p:txBody>
          <a:bodyPr wrap="square">
            <a:spAutoFit/>
          </a:bodyPr>
          <a:lstStyle/>
          <a:p>
            <a:pPr algn="l">
              <a:defRPr sz="3000" b="1">
                <a:solidFill>
                  <a:srgbClr val="FFFFFF"/>
                </a:solidFill>
              </a:defRPr>
            </a:pPr>
            <a:r>
              <a:t>Platform Comparison</a:t>
            </a:r>
          </a:p>
        </p:txBody>
      </p:sp>
      <p:sp>
        <p:nvSpPr>
          <p:cNvPr id="4" name="TextBox 3"/>
          <p:cNvSpPr txBox="1"/>
          <p:nvPr/>
        </p:nvSpPr>
        <p:spPr>
          <a:xfrm>
            <a:off x="731520" y="1828800"/>
            <a:ext cx="10058400" cy="457200"/>
          </a:xfrm>
          <a:prstGeom prst="rect">
            <a:avLst/>
          </a:prstGeom>
          <a:noFill/>
        </p:spPr>
        <p:txBody>
          <a:bodyPr wrap="square">
            <a:spAutoFit/>
          </a:bodyPr>
          <a:lstStyle/>
          <a:p>
            <a:pPr algn="l">
              <a:defRPr sz="1400" b="0">
                <a:solidFill>
                  <a:srgbClr val="4EA8E6"/>
                </a:solidFill>
              </a:defRPr>
            </a:pPr>
            <a:r>
              <a:t>Tool: Phones + whiteboard</a:t>
            </a:r>
          </a:p>
        </p:txBody>
      </p:sp>
      <p:sp>
        <p:nvSpPr>
          <p:cNvPr id="5" name="TextBox 4"/>
          <p:cNvSpPr txBox="1"/>
          <p:nvPr/>
        </p:nvSpPr>
        <p:spPr>
          <a:xfrm>
            <a:off x="731520" y="2377440"/>
            <a:ext cx="10058400" cy="1371600"/>
          </a:xfrm>
          <a:prstGeom prst="rect">
            <a:avLst/>
          </a:prstGeom>
          <a:noFill/>
        </p:spPr>
        <p:txBody>
          <a:bodyPr wrap="square">
            <a:spAutoFit/>
          </a:bodyPr>
          <a:lstStyle/>
          <a:p>
            <a:pPr algn="l">
              <a:defRPr sz="1800" b="0">
                <a:solidFill>
                  <a:srgbClr val="FFFFFF"/>
                </a:solidFill>
              </a:defRPr>
            </a:pPr>
            <a:r>
              <a:t>In groups, compare two platforms your young people use. For each: name 3 mechanics, decide if each is motivation or manipulation, and identify who benefits. Present to the room in 2 minutes.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731520" y="457200"/>
            <a:ext cx="3657600" cy="457200"/>
          </a:xfrm>
          <a:prstGeom prst="rect">
            <a:avLst/>
          </a:prstGeom>
          <a:noFill/>
        </p:spPr>
        <p:txBody>
          <a:bodyPr wrap="square">
            <a:spAutoFit/>
          </a:bodyPr>
          <a:lstStyle/>
          <a:p>
            <a:pPr algn="l">
              <a:defRPr sz="1400" b="1">
                <a:solidFill>
                  <a:srgbClr val="4EA8E6"/>
                </a:solidFill>
              </a:defRPr>
            </a:pPr>
            <a:r>
              <a:t>CLOSING</a:t>
            </a:r>
          </a:p>
        </p:txBody>
      </p:sp>
      <p:sp>
        <p:nvSpPr>
          <p:cNvPr id="3" name="TextBox 2"/>
          <p:cNvSpPr txBox="1"/>
          <p:nvPr/>
        </p:nvSpPr>
        <p:spPr>
          <a:xfrm>
            <a:off x="731520" y="731520"/>
            <a:ext cx="3657600" cy="365760"/>
          </a:xfrm>
          <a:prstGeom prst="rect">
            <a:avLst/>
          </a:prstGeom>
          <a:noFill/>
        </p:spPr>
        <p:txBody>
          <a:bodyPr wrap="square">
            <a:spAutoFit/>
          </a:bodyPr>
          <a:lstStyle/>
          <a:p>
            <a:pPr algn="l">
              <a:defRPr sz="1200" b="0">
                <a:solidFill>
                  <a:srgbClr val="AAAAAA"/>
                </a:solidFill>
              </a:defRPr>
            </a:pPr>
            <a:r>
              <a:t>150 – 180 min</a:t>
            </a:r>
          </a:p>
        </p:txBody>
      </p:sp>
      <p:sp>
        <p:nvSpPr>
          <p:cNvPr id="4" name="TextBox 3"/>
          <p:cNvSpPr txBox="1"/>
          <p:nvPr/>
        </p:nvSpPr>
        <p:spPr>
          <a:xfrm>
            <a:off x="731520" y="1645920"/>
            <a:ext cx="10058400" cy="1828800"/>
          </a:xfrm>
          <a:prstGeom prst="rect">
            <a:avLst/>
          </a:prstGeom>
          <a:noFill/>
        </p:spPr>
        <p:txBody>
          <a:bodyPr wrap="square">
            <a:spAutoFit/>
          </a:bodyPr>
          <a:lstStyle/>
          <a:p>
            <a:pPr algn="l">
              <a:defRPr sz="3400" b="1">
                <a:solidFill>
                  <a:srgbClr val="FFFFFF"/>
                </a:solidFill>
              </a:defRPr>
            </a:pPr>
            <a:r>
              <a:t>"Which mechanics would you never use with young people — and why?"</a:t>
            </a:r>
          </a:p>
        </p:txBody>
      </p:sp>
      <p:sp>
        <p:nvSpPr>
          <p:cNvPr id="5" name="TextBox 4"/>
          <p:cNvSpPr txBox="1"/>
          <p:nvPr/>
        </p:nvSpPr>
        <p:spPr>
          <a:xfrm>
            <a:off x="731520" y="3840480"/>
            <a:ext cx="9144000" cy="1828800"/>
          </a:xfrm>
          <a:prstGeom prst="rect">
            <a:avLst/>
          </a:prstGeom>
          <a:noFill/>
        </p:spPr>
        <p:txBody>
          <a:bodyPr wrap="square">
            <a:spAutoFit/>
          </a:bodyPr>
          <a:lstStyle/>
          <a:p>
            <a:pPr algn="l">
              <a:defRPr sz="1700" b="0">
                <a:solidFill>
                  <a:srgbClr val="AAAAAA"/>
                </a:solidFill>
              </a:defRPr>
            </a:pPr>
            <a:r>
              <a:t>This isn't about banning tools. It's about knowing what a mechanic is designed to do and deciding whether that serves the young person or the platform.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731520" y="457200"/>
            <a:ext cx="7315200" cy="457200"/>
          </a:xfrm>
          <a:prstGeom prst="rect">
            <a:avLst/>
          </a:prstGeom>
          <a:noFill/>
        </p:spPr>
        <p:txBody>
          <a:bodyPr wrap="square">
            <a:spAutoFit/>
          </a:bodyPr>
          <a:lstStyle/>
          <a:p>
            <a:pPr algn="l">
              <a:defRPr sz="1200" b="1">
                <a:solidFill>
                  <a:srgbClr val="4EA8E6"/>
                </a:solidFill>
              </a:defRPr>
            </a:pPr>
            <a:r>
              <a:t>CLOSING  •  10 min</a:t>
            </a:r>
          </a:p>
        </p:txBody>
      </p:sp>
      <p:sp>
        <p:nvSpPr>
          <p:cNvPr id="3" name="TextBox 2"/>
          <p:cNvSpPr txBox="1"/>
          <p:nvPr/>
        </p:nvSpPr>
        <p:spPr>
          <a:xfrm>
            <a:off x="731520" y="1005840"/>
            <a:ext cx="10058400" cy="914400"/>
          </a:xfrm>
          <a:prstGeom prst="rect">
            <a:avLst/>
          </a:prstGeom>
          <a:noFill/>
        </p:spPr>
        <p:txBody>
          <a:bodyPr wrap="square">
            <a:spAutoFit/>
          </a:bodyPr>
          <a:lstStyle/>
          <a:p>
            <a:pPr algn="l">
              <a:defRPr sz="3000" b="1">
                <a:solidFill>
                  <a:srgbClr val="FFFFFF"/>
                </a:solidFill>
              </a:defRPr>
            </a:pPr>
            <a:r>
              <a:t>My Red Line</a:t>
            </a:r>
          </a:p>
        </p:txBody>
      </p:sp>
      <p:sp>
        <p:nvSpPr>
          <p:cNvPr id="4" name="TextBox 3"/>
          <p:cNvSpPr txBox="1"/>
          <p:nvPr/>
        </p:nvSpPr>
        <p:spPr>
          <a:xfrm>
            <a:off x="731520" y="2011680"/>
            <a:ext cx="10058400" cy="1371600"/>
          </a:xfrm>
          <a:prstGeom prst="rect">
            <a:avLst/>
          </a:prstGeom>
          <a:noFill/>
        </p:spPr>
        <p:txBody>
          <a:bodyPr wrap="square">
            <a:spAutoFit/>
          </a:bodyPr>
          <a:lstStyle/>
          <a:p>
            <a:pPr algn="l">
              <a:defRPr sz="1800" b="0">
                <a:solidFill>
                  <a:srgbClr val="FFFFFF"/>
                </a:solidFill>
              </a:defRPr>
            </a:pPr>
            <a:r>
              <a:t>Write on a card: 'I would never use ___ with young people because ___.' Share with the group.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731520" y="457200"/>
            <a:ext cx="7315200" cy="457200"/>
          </a:xfrm>
          <a:prstGeom prst="rect">
            <a:avLst/>
          </a:prstGeom>
          <a:noFill/>
        </p:spPr>
        <p:txBody>
          <a:bodyPr wrap="square">
            <a:spAutoFit/>
          </a:bodyPr>
          <a:lstStyle/>
          <a:p>
            <a:pPr algn="l">
              <a:defRPr sz="1200" b="1">
                <a:solidFill>
                  <a:srgbClr val="4EA8E6"/>
                </a:solidFill>
              </a:defRPr>
            </a:pPr>
            <a:r>
              <a:t>CLOSING  •  5 min</a:t>
            </a:r>
          </a:p>
        </p:txBody>
      </p:sp>
      <p:sp>
        <p:nvSpPr>
          <p:cNvPr id="3" name="TextBox 2"/>
          <p:cNvSpPr txBox="1"/>
          <p:nvPr/>
        </p:nvSpPr>
        <p:spPr>
          <a:xfrm>
            <a:off x="731520" y="1005840"/>
            <a:ext cx="10058400" cy="914400"/>
          </a:xfrm>
          <a:prstGeom prst="rect">
            <a:avLst/>
          </a:prstGeom>
          <a:noFill/>
        </p:spPr>
        <p:txBody>
          <a:bodyPr wrap="square">
            <a:spAutoFit/>
          </a:bodyPr>
          <a:lstStyle/>
          <a:p>
            <a:pPr algn="l">
              <a:defRPr sz="3000" b="1">
                <a:solidFill>
                  <a:srgbClr val="FFFFFF"/>
                </a:solidFill>
              </a:defRPr>
            </a:pPr>
            <a:r>
              <a:t>Exit Ticket</a:t>
            </a:r>
          </a:p>
        </p:txBody>
      </p:sp>
      <p:sp>
        <p:nvSpPr>
          <p:cNvPr id="4" name="TextBox 3"/>
          <p:cNvSpPr txBox="1"/>
          <p:nvPr/>
        </p:nvSpPr>
        <p:spPr>
          <a:xfrm>
            <a:off x="731520" y="2011680"/>
            <a:ext cx="10058400" cy="1371600"/>
          </a:xfrm>
          <a:prstGeom prst="rect">
            <a:avLst/>
          </a:prstGeom>
          <a:noFill/>
        </p:spPr>
        <p:txBody>
          <a:bodyPr wrap="square">
            <a:spAutoFit/>
          </a:bodyPr>
          <a:lstStyle/>
          <a:p>
            <a:pPr algn="l">
              <a:defRPr sz="1800" b="0">
                <a:solidFill>
                  <a:srgbClr val="FFFFFF"/>
                </a:solidFill>
              </a:defRPr>
            </a:pPr>
            <a:r>
              <a:t>Sticky note: One mechanic you currently use that you'd now reconsider. Hand it in.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731520" y="457200"/>
            <a:ext cx="3657600" cy="457200"/>
          </a:xfrm>
          <a:prstGeom prst="rect">
            <a:avLst/>
          </a:prstGeom>
          <a:noFill/>
        </p:spPr>
        <p:txBody>
          <a:bodyPr wrap="square">
            <a:spAutoFit/>
          </a:bodyPr>
          <a:lstStyle/>
          <a:p>
            <a:pPr algn="l">
              <a:defRPr sz="1400" b="1">
                <a:solidFill>
                  <a:srgbClr val="4EA8E6"/>
                </a:solidFill>
              </a:defRPr>
            </a:pPr>
            <a:r>
              <a:t>YOUR TAKEAWAY</a:t>
            </a:r>
          </a:p>
        </p:txBody>
      </p:sp>
      <p:sp>
        <p:nvSpPr>
          <p:cNvPr id="3" name="TextBox 2"/>
          <p:cNvSpPr txBox="1"/>
          <p:nvPr/>
        </p:nvSpPr>
        <p:spPr>
          <a:xfrm>
            <a:off x="731520" y="1828800"/>
            <a:ext cx="10058400" cy="1828800"/>
          </a:xfrm>
          <a:prstGeom prst="rect">
            <a:avLst/>
          </a:prstGeom>
          <a:noFill/>
        </p:spPr>
        <p:txBody>
          <a:bodyPr wrap="square">
            <a:spAutoFit/>
          </a:bodyPr>
          <a:lstStyle/>
          <a:p>
            <a:pPr algn="l">
              <a:defRPr sz="2600" b="1">
                <a:solidFill>
                  <a:srgbClr val="FFFFFF"/>
                </a:solidFill>
              </a:defRPr>
            </a:pPr>
            <a:r>
              <a:t>Audit one digital tool you use with young people. Identify every engagement mechanic. Decide which ones serve the user and which serve the platform.</a:t>
            </a:r>
          </a:p>
        </p:txBody>
      </p:sp>
      <p:sp>
        <p:nvSpPr>
          <p:cNvPr id="4" name="TextBox 3"/>
          <p:cNvSpPr txBox="1"/>
          <p:nvPr/>
        </p:nvSpPr>
        <p:spPr>
          <a:xfrm>
            <a:off x="731520" y="5029200"/>
            <a:ext cx="10058400" cy="914400"/>
          </a:xfrm>
          <a:prstGeom prst="rect">
            <a:avLst/>
          </a:prstGeom>
          <a:noFill/>
        </p:spPr>
        <p:txBody>
          <a:bodyPr wrap="square">
            <a:spAutoFit/>
          </a:bodyPr>
          <a:lstStyle/>
          <a:p>
            <a:pPr algn="l">
              <a:defRPr sz="1600" b="0">
                <a:solidFill>
                  <a:srgbClr val="AAAAAA"/>
                </a:solidFill>
              </a:defRPr>
            </a:pPr>
            <a:r>
              <a:t>Next: Session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